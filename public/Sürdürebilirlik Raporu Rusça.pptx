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Gotham Bold" charset="1" panose="00000000000000000000"/>
      <p:regular r:id="rId25"/>
    </p:embeddedFont>
    <p:embeddedFont>
      <p:font typeface="Gotham" charset="1" panose="00000000000000000000"/>
      <p:regular r:id="rId26"/>
    </p:embeddedFont>
    <p:embeddedFont>
      <p:font typeface="Calibri (MS)" charset="1" panose="020F050202020403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3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3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34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12114" y="1265587"/>
            <a:ext cx="7755826" cy="7755826"/>
            <a:chOff x="0" y="0"/>
            <a:chExt cx="10341102" cy="10341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41102" cy="10341102"/>
            </a:xfrm>
            <a:custGeom>
              <a:avLst/>
              <a:gdLst/>
              <a:ahLst/>
              <a:cxnLst/>
              <a:rect r="r" b="b" t="t" l="l"/>
              <a:pathLst>
                <a:path h="10341102" w="10341102">
                  <a:moveTo>
                    <a:pt x="0" y="0"/>
                  </a:moveTo>
                  <a:lnTo>
                    <a:pt x="10341102" y="0"/>
                  </a:lnTo>
                  <a:lnTo>
                    <a:pt x="10341102" y="10341102"/>
                  </a:lnTo>
                  <a:lnTo>
                    <a:pt x="0" y="10341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259693" y="4862341"/>
            <a:ext cx="93107" cy="137465"/>
          </a:xfrm>
          <a:custGeom>
            <a:avLst/>
            <a:gdLst/>
            <a:ahLst/>
            <a:cxnLst/>
            <a:rect r="r" b="b" t="t" l="l"/>
            <a:pathLst>
              <a:path h="137465" w="93107">
                <a:moveTo>
                  <a:pt x="0" y="0"/>
                </a:moveTo>
                <a:lnTo>
                  <a:pt x="93107" y="0"/>
                </a:lnTo>
                <a:lnTo>
                  <a:pt x="93107" y="137465"/>
                </a:lnTo>
                <a:lnTo>
                  <a:pt x="0" y="1374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00590" y="4862351"/>
            <a:ext cx="93021" cy="137436"/>
          </a:xfrm>
          <a:custGeom>
            <a:avLst/>
            <a:gdLst/>
            <a:ahLst/>
            <a:cxnLst/>
            <a:rect r="r" b="b" t="t" l="l"/>
            <a:pathLst>
              <a:path h="137436" w="93021">
                <a:moveTo>
                  <a:pt x="0" y="0"/>
                </a:moveTo>
                <a:lnTo>
                  <a:pt x="93021" y="0"/>
                </a:lnTo>
                <a:lnTo>
                  <a:pt x="93021" y="137436"/>
                </a:lnTo>
                <a:lnTo>
                  <a:pt x="0" y="137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59693" y="3993709"/>
            <a:ext cx="470021" cy="607952"/>
          </a:xfrm>
          <a:custGeom>
            <a:avLst/>
            <a:gdLst/>
            <a:ahLst/>
            <a:cxnLst/>
            <a:rect r="r" b="b" t="t" l="l"/>
            <a:pathLst>
              <a:path h="607952" w="470021">
                <a:moveTo>
                  <a:pt x="0" y="0"/>
                </a:moveTo>
                <a:lnTo>
                  <a:pt x="470021" y="0"/>
                </a:lnTo>
                <a:lnTo>
                  <a:pt x="470021" y="607952"/>
                </a:lnTo>
                <a:lnTo>
                  <a:pt x="0" y="6079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41410" y="4862389"/>
            <a:ext cx="97184" cy="140703"/>
          </a:xfrm>
          <a:custGeom>
            <a:avLst/>
            <a:gdLst/>
            <a:ahLst/>
            <a:cxnLst/>
            <a:rect r="r" b="b" t="t" l="l"/>
            <a:pathLst>
              <a:path h="140703" w="97184">
                <a:moveTo>
                  <a:pt x="0" y="0"/>
                </a:moveTo>
                <a:lnTo>
                  <a:pt x="97184" y="0"/>
                </a:lnTo>
                <a:lnTo>
                  <a:pt x="97184" y="140703"/>
                </a:lnTo>
                <a:lnTo>
                  <a:pt x="0" y="1407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985422" y="4858883"/>
            <a:ext cx="144370" cy="144370"/>
            <a:chOff x="0" y="0"/>
            <a:chExt cx="192494" cy="1924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532" cy="192659"/>
            </a:xfrm>
            <a:custGeom>
              <a:avLst/>
              <a:gdLst/>
              <a:ahLst/>
              <a:cxnLst/>
              <a:rect r="r" b="b" t="t" l="l"/>
              <a:pathLst>
                <a:path h="192659" w="192532">
                  <a:moveTo>
                    <a:pt x="96266" y="174244"/>
                  </a:moveTo>
                  <a:cubicBezTo>
                    <a:pt x="139319" y="174244"/>
                    <a:pt x="174371" y="139319"/>
                    <a:pt x="174371" y="96139"/>
                  </a:cubicBezTo>
                  <a:cubicBezTo>
                    <a:pt x="174371" y="52959"/>
                    <a:pt x="139319" y="18161"/>
                    <a:pt x="96266" y="18161"/>
                  </a:cubicBezTo>
                  <a:cubicBezTo>
                    <a:pt x="53213" y="18161"/>
                    <a:pt x="18161" y="53086"/>
                    <a:pt x="18161" y="96266"/>
                  </a:cubicBezTo>
                  <a:cubicBezTo>
                    <a:pt x="18161" y="139446"/>
                    <a:pt x="53086" y="174371"/>
                    <a:pt x="96266" y="174371"/>
                  </a:cubicBezTo>
                  <a:moveTo>
                    <a:pt x="96266" y="192659"/>
                  </a:moveTo>
                  <a:cubicBezTo>
                    <a:pt x="43053" y="192532"/>
                    <a:pt x="0" y="149479"/>
                    <a:pt x="0" y="96266"/>
                  </a:cubicBezTo>
                  <a:cubicBezTo>
                    <a:pt x="0" y="43053"/>
                    <a:pt x="43053" y="0"/>
                    <a:pt x="96266" y="0"/>
                  </a:cubicBezTo>
                  <a:cubicBezTo>
                    <a:pt x="149479" y="0"/>
                    <a:pt x="192532" y="43053"/>
                    <a:pt x="192532" y="96266"/>
                  </a:cubicBezTo>
                  <a:cubicBezTo>
                    <a:pt x="192532" y="149479"/>
                    <a:pt x="149352" y="192532"/>
                    <a:pt x="96266" y="192532"/>
                  </a:cubicBezTo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276601" y="4862341"/>
            <a:ext cx="93116" cy="137465"/>
          </a:xfrm>
          <a:custGeom>
            <a:avLst/>
            <a:gdLst/>
            <a:ahLst/>
            <a:cxnLst/>
            <a:rect r="r" b="b" t="t" l="l"/>
            <a:pathLst>
              <a:path h="137465" w="93116">
                <a:moveTo>
                  <a:pt x="0" y="0"/>
                </a:moveTo>
                <a:lnTo>
                  <a:pt x="93117" y="0"/>
                </a:lnTo>
                <a:lnTo>
                  <a:pt x="93117" y="137465"/>
                </a:lnTo>
                <a:lnTo>
                  <a:pt x="0" y="1374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007368" y="3993709"/>
            <a:ext cx="614639" cy="607886"/>
          </a:xfrm>
          <a:custGeom>
            <a:avLst/>
            <a:gdLst/>
            <a:ahLst/>
            <a:cxnLst/>
            <a:rect r="r" b="b" t="t" l="l"/>
            <a:pathLst>
              <a:path h="607886" w="614639">
                <a:moveTo>
                  <a:pt x="0" y="0"/>
                </a:moveTo>
                <a:lnTo>
                  <a:pt x="614638" y="0"/>
                </a:lnTo>
                <a:lnTo>
                  <a:pt x="614638" y="607885"/>
                </a:lnTo>
                <a:lnTo>
                  <a:pt x="0" y="6078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517488" y="4862351"/>
            <a:ext cx="110004" cy="137436"/>
            <a:chOff x="0" y="0"/>
            <a:chExt cx="146672" cy="1832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685" cy="183261"/>
            </a:xfrm>
            <a:custGeom>
              <a:avLst/>
              <a:gdLst/>
              <a:ahLst/>
              <a:cxnLst/>
              <a:rect r="r" b="b" t="t" l="l"/>
              <a:pathLst>
                <a:path h="183261" w="146685">
                  <a:moveTo>
                    <a:pt x="137541" y="0"/>
                  </a:moveTo>
                  <a:cubicBezTo>
                    <a:pt x="142494" y="0"/>
                    <a:pt x="146685" y="4064"/>
                    <a:pt x="146685" y="9144"/>
                  </a:cubicBezTo>
                  <a:cubicBezTo>
                    <a:pt x="146685" y="14224"/>
                    <a:pt x="142621" y="18288"/>
                    <a:pt x="137541" y="18288"/>
                  </a:cubicBezTo>
                  <a:lnTo>
                    <a:pt x="82423" y="18288"/>
                  </a:lnTo>
                  <a:lnTo>
                    <a:pt x="82423" y="174117"/>
                  </a:lnTo>
                  <a:cubicBezTo>
                    <a:pt x="82423" y="179070"/>
                    <a:pt x="78359" y="183261"/>
                    <a:pt x="73279" y="183261"/>
                  </a:cubicBezTo>
                  <a:cubicBezTo>
                    <a:pt x="68199" y="183261"/>
                    <a:pt x="64135" y="179197"/>
                    <a:pt x="64135" y="174117"/>
                  </a:cubicBezTo>
                  <a:lnTo>
                    <a:pt x="64135" y="18288"/>
                  </a:lnTo>
                  <a:lnTo>
                    <a:pt x="9144" y="18288"/>
                  </a:lnTo>
                  <a:cubicBezTo>
                    <a:pt x="4064" y="18288"/>
                    <a:pt x="0" y="14097"/>
                    <a:pt x="0" y="9144"/>
                  </a:cubicBezTo>
                  <a:cubicBezTo>
                    <a:pt x="0" y="4191"/>
                    <a:pt x="4064" y="0"/>
                    <a:pt x="9144" y="0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43304" y="4890887"/>
            <a:ext cx="377066" cy="80277"/>
            <a:chOff x="0" y="0"/>
            <a:chExt cx="502755" cy="1070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2793" cy="107061"/>
            </a:xfrm>
            <a:custGeom>
              <a:avLst/>
              <a:gdLst/>
              <a:ahLst/>
              <a:cxnLst/>
              <a:rect r="r" b="b" t="t" l="l"/>
              <a:pathLst>
                <a:path h="107061" w="502793">
                  <a:moveTo>
                    <a:pt x="0" y="88519"/>
                  </a:moveTo>
                  <a:lnTo>
                    <a:pt x="0" y="18542"/>
                  </a:lnTo>
                  <a:cubicBezTo>
                    <a:pt x="0" y="8255"/>
                    <a:pt x="8382" y="0"/>
                    <a:pt x="18542" y="0"/>
                  </a:cubicBezTo>
                  <a:lnTo>
                    <a:pt x="484251" y="0"/>
                  </a:lnTo>
                  <a:cubicBezTo>
                    <a:pt x="494538" y="0"/>
                    <a:pt x="502793" y="8255"/>
                    <a:pt x="502793" y="18542"/>
                  </a:cubicBezTo>
                  <a:lnTo>
                    <a:pt x="502793" y="88519"/>
                  </a:lnTo>
                  <a:cubicBezTo>
                    <a:pt x="502793" y="98806"/>
                    <a:pt x="494411" y="107061"/>
                    <a:pt x="484251" y="107061"/>
                  </a:cubicBezTo>
                  <a:lnTo>
                    <a:pt x="18542" y="107061"/>
                  </a:lnTo>
                  <a:cubicBezTo>
                    <a:pt x="8382" y="107061"/>
                    <a:pt x="0" y="98806"/>
                    <a:pt x="0" y="88519"/>
                  </a:cubicBezTo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4888925" y="3984584"/>
            <a:ext cx="485765" cy="628507"/>
          </a:xfrm>
          <a:custGeom>
            <a:avLst/>
            <a:gdLst/>
            <a:ahLst/>
            <a:cxnLst/>
            <a:rect r="r" b="b" t="t" l="l"/>
            <a:pathLst>
              <a:path h="628507" w="485765">
                <a:moveTo>
                  <a:pt x="0" y="0"/>
                </a:moveTo>
                <a:lnTo>
                  <a:pt x="485766" y="0"/>
                </a:lnTo>
                <a:lnTo>
                  <a:pt x="485766" y="628507"/>
                </a:lnTo>
                <a:lnTo>
                  <a:pt x="0" y="62850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679699" y="2694156"/>
            <a:ext cx="904303" cy="1012755"/>
          </a:xfrm>
          <a:custGeom>
            <a:avLst/>
            <a:gdLst/>
            <a:ahLst/>
            <a:cxnLst/>
            <a:rect r="r" b="b" t="t" l="l"/>
            <a:pathLst>
              <a:path h="1012755" w="904303">
                <a:moveTo>
                  <a:pt x="0" y="0"/>
                </a:moveTo>
                <a:lnTo>
                  <a:pt x="904304" y="0"/>
                </a:lnTo>
                <a:lnTo>
                  <a:pt x="904304" y="1012755"/>
                </a:lnTo>
                <a:lnTo>
                  <a:pt x="0" y="101275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639210" y="4862351"/>
            <a:ext cx="92954" cy="137436"/>
          </a:xfrm>
          <a:custGeom>
            <a:avLst/>
            <a:gdLst/>
            <a:ahLst/>
            <a:cxnLst/>
            <a:rect r="r" b="b" t="t" l="l"/>
            <a:pathLst>
              <a:path h="137436" w="92954">
                <a:moveTo>
                  <a:pt x="0" y="0"/>
                </a:moveTo>
                <a:lnTo>
                  <a:pt x="92954" y="0"/>
                </a:lnTo>
                <a:lnTo>
                  <a:pt x="92954" y="137436"/>
                </a:lnTo>
                <a:lnTo>
                  <a:pt x="0" y="13743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5869772" y="4858883"/>
            <a:ext cx="144370" cy="144370"/>
            <a:chOff x="0" y="0"/>
            <a:chExt cx="192494" cy="1924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2532" cy="192659"/>
            </a:xfrm>
            <a:custGeom>
              <a:avLst/>
              <a:gdLst/>
              <a:ahLst/>
              <a:cxnLst/>
              <a:rect r="r" b="b" t="t" l="l"/>
              <a:pathLst>
                <a:path h="192659" w="192532">
                  <a:moveTo>
                    <a:pt x="96266" y="174244"/>
                  </a:moveTo>
                  <a:cubicBezTo>
                    <a:pt x="139319" y="174244"/>
                    <a:pt x="174371" y="139319"/>
                    <a:pt x="174371" y="96139"/>
                  </a:cubicBezTo>
                  <a:cubicBezTo>
                    <a:pt x="174371" y="52959"/>
                    <a:pt x="139319" y="18161"/>
                    <a:pt x="96266" y="18161"/>
                  </a:cubicBezTo>
                  <a:cubicBezTo>
                    <a:pt x="53213" y="18161"/>
                    <a:pt x="18161" y="53086"/>
                    <a:pt x="18161" y="96266"/>
                  </a:cubicBezTo>
                  <a:cubicBezTo>
                    <a:pt x="18161" y="139446"/>
                    <a:pt x="53086" y="174371"/>
                    <a:pt x="96266" y="174371"/>
                  </a:cubicBezTo>
                  <a:moveTo>
                    <a:pt x="96266" y="192659"/>
                  </a:moveTo>
                  <a:cubicBezTo>
                    <a:pt x="43053" y="192532"/>
                    <a:pt x="0" y="149479"/>
                    <a:pt x="0" y="96266"/>
                  </a:cubicBezTo>
                  <a:cubicBezTo>
                    <a:pt x="0" y="43053"/>
                    <a:pt x="43053" y="0"/>
                    <a:pt x="96266" y="0"/>
                  </a:cubicBezTo>
                  <a:cubicBezTo>
                    <a:pt x="149479" y="0"/>
                    <a:pt x="192532" y="43053"/>
                    <a:pt x="192532" y="96266"/>
                  </a:cubicBezTo>
                  <a:cubicBezTo>
                    <a:pt x="192532" y="149479"/>
                    <a:pt x="149352" y="192532"/>
                    <a:pt x="96266" y="192532"/>
                  </a:cubicBezTo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5689149" y="3993709"/>
            <a:ext cx="512426" cy="607886"/>
          </a:xfrm>
          <a:custGeom>
            <a:avLst/>
            <a:gdLst/>
            <a:ahLst/>
            <a:cxnLst/>
            <a:rect r="r" b="b" t="t" l="l"/>
            <a:pathLst>
              <a:path h="607886" w="512426">
                <a:moveTo>
                  <a:pt x="0" y="0"/>
                </a:moveTo>
                <a:lnTo>
                  <a:pt x="512426" y="0"/>
                </a:lnTo>
                <a:lnTo>
                  <a:pt x="512426" y="607885"/>
                </a:lnTo>
                <a:lnTo>
                  <a:pt x="0" y="60788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6151550" y="4862351"/>
            <a:ext cx="99822" cy="137436"/>
            <a:chOff x="0" y="0"/>
            <a:chExt cx="133096" cy="1832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3096" cy="183134"/>
            </a:xfrm>
            <a:custGeom>
              <a:avLst/>
              <a:gdLst/>
              <a:ahLst/>
              <a:cxnLst/>
              <a:rect r="r" b="b" t="t" l="l"/>
              <a:pathLst>
                <a:path h="183134" w="133096">
                  <a:moveTo>
                    <a:pt x="41529" y="164973"/>
                  </a:moveTo>
                  <a:cubicBezTo>
                    <a:pt x="81788" y="164973"/>
                    <a:pt x="114935" y="131953"/>
                    <a:pt x="114935" y="91567"/>
                  </a:cubicBezTo>
                  <a:cubicBezTo>
                    <a:pt x="114935" y="51181"/>
                    <a:pt x="81788" y="18288"/>
                    <a:pt x="41529" y="18288"/>
                  </a:cubicBezTo>
                  <a:lnTo>
                    <a:pt x="9017" y="18288"/>
                  </a:lnTo>
                  <a:cubicBezTo>
                    <a:pt x="4064" y="18288"/>
                    <a:pt x="0" y="14097"/>
                    <a:pt x="0" y="9017"/>
                  </a:cubicBezTo>
                  <a:cubicBezTo>
                    <a:pt x="0" y="3937"/>
                    <a:pt x="4064" y="0"/>
                    <a:pt x="9017" y="0"/>
                  </a:cubicBezTo>
                  <a:lnTo>
                    <a:pt x="41529" y="0"/>
                  </a:lnTo>
                  <a:cubicBezTo>
                    <a:pt x="91948" y="0"/>
                    <a:pt x="133096" y="41275"/>
                    <a:pt x="133096" y="91567"/>
                  </a:cubicBezTo>
                  <a:cubicBezTo>
                    <a:pt x="133096" y="141859"/>
                    <a:pt x="91821" y="183134"/>
                    <a:pt x="41529" y="183134"/>
                  </a:cubicBezTo>
                  <a:lnTo>
                    <a:pt x="9017" y="183134"/>
                  </a:lnTo>
                  <a:cubicBezTo>
                    <a:pt x="4064" y="183134"/>
                    <a:pt x="0" y="179070"/>
                    <a:pt x="0" y="174117"/>
                  </a:cubicBezTo>
                  <a:cubicBezTo>
                    <a:pt x="0" y="169164"/>
                    <a:pt x="4064" y="165100"/>
                    <a:pt x="9017" y="165100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6388913" y="4862341"/>
            <a:ext cx="93116" cy="137465"/>
          </a:xfrm>
          <a:custGeom>
            <a:avLst/>
            <a:gdLst/>
            <a:ahLst/>
            <a:cxnLst/>
            <a:rect r="r" b="b" t="t" l="l"/>
            <a:pathLst>
              <a:path h="137465" w="93116">
                <a:moveTo>
                  <a:pt x="0" y="0"/>
                </a:moveTo>
                <a:lnTo>
                  <a:pt x="93116" y="0"/>
                </a:lnTo>
                <a:lnTo>
                  <a:pt x="93116" y="137465"/>
                </a:lnTo>
                <a:lnTo>
                  <a:pt x="0" y="1374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620399" y="4862351"/>
            <a:ext cx="109947" cy="140865"/>
          </a:xfrm>
          <a:custGeom>
            <a:avLst/>
            <a:gdLst/>
            <a:ahLst/>
            <a:cxnLst/>
            <a:rect r="r" b="b" t="t" l="l"/>
            <a:pathLst>
              <a:path h="140865" w="109947">
                <a:moveTo>
                  <a:pt x="0" y="0"/>
                </a:moveTo>
                <a:lnTo>
                  <a:pt x="109947" y="0"/>
                </a:lnTo>
                <a:lnTo>
                  <a:pt x="109947" y="140865"/>
                </a:lnTo>
                <a:lnTo>
                  <a:pt x="0" y="14086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389370" y="3993709"/>
            <a:ext cx="614639" cy="607886"/>
          </a:xfrm>
          <a:custGeom>
            <a:avLst/>
            <a:gdLst/>
            <a:ahLst/>
            <a:cxnLst/>
            <a:rect r="r" b="b" t="t" l="l"/>
            <a:pathLst>
              <a:path h="607886" w="614639">
                <a:moveTo>
                  <a:pt x="0" y="0"/>
                </a:moveTo>
                <a:lnTo>
                  <a:pt x="614639" y="0"/>
                </a:lnTo>
                <a:lnTo>
                  <a:pt x="614639" y="607885"/>
                </a:lnTo>
                <a:lnTo>
                  <a:pt x="0" y="6078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867877" y="4862332"/>
            <a:ext cx="139179" cy="137427"/>
          </a:xfrm>
          <a:custGeom>
            <a:avLst/>
            <a:gdLst/>
            <a:ahLst/>
            <a:cxnLst/>
            <a:rect r="r" b="b" t="t" l="l"/>
            <a:pathLst>
              <a:path h="137427" w="139179">
                <a:moveTo>
                  <a:pt x="0" y="0"/>
                </a:moveTo>
                <a:lnTo>
                  <a:pt x="139180" y="0"/>
                </a:lnTo>
                <a:lnTo>
                  <a:pt x="139180" y="137426"/>
                </a:lnTo>
                <a:lnTo>
                  <a:pt x="0" y="13742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789700" y="5737936"/>
            <a:ext cx="6684264" cy="234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2"/>
              </a:lnSpc>
            </a:pPr>
            <a:r>
              <a:rPr lang="en-US" sz="4316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ОТЧЕТ ПО УСТОЙЧИВОМУ РАЗВИТИЮ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49518" y="9631832"/>
            <a:ext cx="15788973" cy="38100"/>
            <a:chOff x="0" y="0"/>
            <a:chExt cx="21051964" cy="5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0"/>
              <a:ext cx="21001101" cy="50800"/>
            </a:xfrm>
            <a:custGeom>
              <a:avLst/>
              <a:gdLst/>
              <a:ahLst/>
              <a:cxnLst/>
              <a:rect r="r" b="b" t="t" l="l"/>
              <a:pathLst>
                <a:path h="50800" w="21001101">
                  <a:moveTo>
                    <a:pt x="0" y="0"/>
                  </a:moveTo>
                  <a:lnTo>
                    <a:pt x="21001101" y="0"/>
                  </a:lnTo>
                  <a:lnTo>
                    <a:pt x="210011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49518" y="674256"/>
            <a:ext cx="15788973" cy="38100"/>
            <a:chOff x="0" y="0"/>
            <a:chExt cx="21051964" cy="50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5400" y="0"/>
              <a:ext cx="21001101" cy="50800"/>
            </a:xfrm>
            <a:custGeom>
              <a:avLst/>
              <a:gdLst/>
              <a:ahLst/>
              <a:cxnLst/>
              <a:rect r="r" b="b" t="t" l="l"/>
              <a:pathLst>
                <a:path h="50800" w="21001101">
                  <a:moveTo>
                    <a:pt x="0" y="0"/>
                  </a:moveTo>
                  <a:lnTo>
                    <a:pt x="21001101" y="0"/>
                  </a:lnTo>
                  <a:lnTo>
                    <a:pt x="210011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387" y="9631832"/>
            <a:ext cx="15788973" cy="38100"/>
            <a:chOff x="0" y="0"/>
            <a:chExt cx="21051964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0"/>
              <a:ext cx="21001101" cy="50800"/>
            </a:xfrm>
            <a:custGeom>
              <a:avLst/>
              <a:gdLst/>
              <a:ahLst/>
              <a:cxnLst/>
              <a:rect r="r" b="b" t="t" l="l"/>
              <a:pathLst>
                <a:path h="50800" w="21001101">
                  <a:moveTo>
                    <a:pt x="0" y="0"/>
                  </a:moveTo>
                  <a:lnTo>
                    <a:pt x="21001101" y="0"/>
                  </a:lnTo>
                  <a:lnTo>
                    <a:pt x="210011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06218" y="9107386"/>
            <a:ext cx="812521" cy="909961"/>
          </a:xfrm>
          <a:custGeom>
            <a:avLst/>
            <a:gdLst/>
            <a:ahLst/>
            <a:cxnLst/>
            <a:rect r="r" b="b" t="t" l="l"/>
            <a:pathLst>
              <a:path h="909961" w="812521">
                <a:moveTo>
                  <a:pt x="0" y="0"/>
                </a:moveTo>
                <a:lnTo>
                  <a:pt x="812520" y="0"/>
                </a:lnTo>
                <a:lnTo>
                  <a:pt x="812520" y="909961"/>
                </a:lnTo>
                <a:lnTo>
                  <a:pt x="0" y="90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4771092" cy="665350"/>
            <a:chOff x="0" y="0"/>
            <a:chExt cx="6361455" cy="887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61430" cy="887095"/>
            </a:xfrm>
            <a:custGeom>
              <a:avLst/>
              <a:gdLst/>
              <a:ahLst/>
              <a:cxnLst/>
              <a:rect r="r" b="b" t="t" l="l"/>
              <a:pathLst>
                <a:path h="887095" w="6361430">
                  <a:moveTo>
                    <a:pt x="0" y="0"/>
                  </a:moveTo>
                  <a:lnTo>
                    <a:pt x="6361430" y="0"/>
                  </a:lnTo>
                  <a:lnTo>
                    <a:pt x="6361430" y="887095"/>
                  </a:lnTo>
                  <a:lnTo>
                    <a:pt x="0" y="887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39615" y="0"/>
            <a:ext cx="565566" cy="665369"/>
            <a:chOff x="0" y="0"/>
            <a:chExt cx="754088" cy="8871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4126" cy="887222"/>
            </a:xfrm>
            <a:custGeom>
              <a:avLst/>
              <a:gdLst/>
              <a:ahLst/>
              <a:cxnLst/>
              <a:rect r="r" b="b" t="t" l="l"/>
              <a:pathLst>
                <a:path h="887222" w="754126">
                  <a:moveTo>
                    <a:pt x="0" y="0"/>
                  </a:moveTo>
                  <a:lnTo>
                    <a:pt x="754126" y="0"/>
                  </a:lnTo>
                  <a:lnTo>
                    <a:pt x="754126" y="887222"/>
                  </a:lnTo>
                  <a:lnTo>
                    <a:pt x="0" y="88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t="0" r="-3" b="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762763" y="1337339"/>
            <a:ext cx="6943106" cy="7304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408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НАШ ПОДХОД К УСТОЙЧИВОМУ РАЗВИТИЮ</a:t>
            </a:r>
          </a:p>
          <a:p>
            <a:pPr algn="l">
              <a:lnSpc>
                <a:spcPts val="3047"/>
              </a:lnSpc>
            </a:pPr>
          </a:p>
          <a:p>
            <a:pPr algn="l">
              <a:lnSpc>
                <a:spcPts val="3047"/>
              </a:lnSpc>
            </a:pPr>
            <a:r>
              <a:rPr lang="en-US" sz="2176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 Başka Resort Bodrum принципы устойчивого развития составляют неотъемлемую часть всей нашей деятельности.</a:t>
            </a:r>
          </a:p>
          <a:p>
            <a:pPr algn="l">
              <a:lnSpc>
                <a:spcPts val="3047"/>
              </a:lnSpc>
            </a:pPr>
          </a:p>
          <a:p>
            <a:pPr algn="l">
              <a:lnSpc>
                <a:spcPts val="3047"/>
              </a:lnSpc>
            </a:pPr>
            <a:r>
              <a:rPr lang="en-US" sz="2176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Наш основной подход основывается на сохранении природных ресурсов, уменьшении отходов, поддержке местных ценностей, обеспечении равных возможностей, содействии уважению к труду и вкладе в общество.</a:t>
            </a:r>
          </a:p>
          <a:p>
            <a:pPr algn="l">
              <a:lnSpc>
                <a:spcPts val="3047"/>
              </a:lnSpc>
            </a:pPr>
          </a:p>
          <a:p>
            <a:pPr algn="l">
              <a:lnSpc>
                <a:spcPts val="3047"/>
              </a:lnSpc>
            </a:pPr>
            <a:r>
              <a:rPr lang="en-US" sz="2176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Все процессы управляются в соответствии с принципами эффективности, ответственности и устойчивого развития.</a:t>
            </a:r>
          </a:p>
          <a:p>
            <a:pPr algn="l">
              <a:lnSpc>
                <a:spcPts val="3047"/>
              </a:lnSpc>
            </a:pPr>
            <a:r>
              <a:rPr lang="en-US" sz="2176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Существенные изменения начинаются с малых решений, которые мы принимаем ежедневно.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3259" y="-59646"/>
            <a:ext cx="3715188" cy="651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О докладе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71789" y="2476307"/>
            <a:ext cx="11094895" cy="5559354"/>
            <a:chOff x="0" y="0"/>
            <a:chExt cx="20110359" cy="100767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110284" cy="10076720"/>
            </a:xfrm>
            <a:custGeom>
              <a:avLst/>
              <a:gdLst/>
              <a:ahLst/>
              <a:cxnLst/>
              <a:rect r="r" b="b" t="t" l="l"/>
              <a:pathLst>
                <a:path h="10076720" w="20110284">
                  <a:moveTo>
                    <a:pt x="0" y="0"/>
                  </a:moveTo>
                  <a:lnTo>
                    <a:pt x="20110284" y="0"/>
                  </a:lnTo>
                  <a:lnTo>
                    <a:pt x="20110284" y="10076720"/>
                  </a:lnTo>
                  <a:lnTo>
                    <a:pt x="0" y="10076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-10297" r="0" b="-3745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387" y="9631832"/>
            <a:ext cx="15788973" cy="38100"/>
            <a:chOff x="0" y="0"/>
            <a:chExt cx="21051964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0"/>
              <a:ext cx="21001101" cy="50800"/>
            </a:xfrm>
            <a:custGeom>
              <a:avLst/>
              <a:gdLst/>
              <a:ahLst/>
              <a:cxnLst/>
              <a:rect r="r" b="b" t="t" l="l"/>
              <a:pathLst>
                <a:path h="50800" w="21001101">
                  <a:moveTo>
                    <a:pt x="0" y="0"/>
                  </a:moveTo>
                  <a:lnTo>
                    <a:pt x="21001101" y="0"/>
                  </a:lnTo>
                  <a:lnTo>
                    <a:pt x="210011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06218" y="9107386"/>
            <a:ext cx="812521" cy="909961"/>
          </a:xfrm>
          <a:custGeom>
            <a:avLst/>
            <a:gdLst/>
            <a:ahLst/>
            <a:cxnLst/>
            <a:rect r="r" b="b" t="t" l="l"/>
            <a:pathLst>
              <a:path h="909961" w="812521">
                <a:moveTo>
                  <a:pt x="0" y="0"/>
                </a:moveTo>
                <a:lnTo>
                  <a:pt x="812520" y="0"/>
                </a:lnTo>
                <a:lnTo>
                  <a:pt x="812520" y="909961"/>
                </a:lnTo>
                <a:lnTo>
                  <a:pt x="0" y="90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4771092" cy="665350"/>
            <a:chOff x="0" y="0"/>
            <a:chExt cx="6361455" cy="887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61430" cy="887095"/>
            </a:xfrm>
            <a:custGeom>
              <a:avLst/>
              <a:gdLst/>
              <a:ahLst/>
              <a:cxnLst/>
              <a:rect r="r" b="b" t="t" l="l"/>
              <a:pathLst>
                <a:path h="887095" w="6361430">
                  <a:moveTo>
                    <a:pt x="0" y="0"/>
                  </a:moveTo>
                  <a:lnTo>
                    <a:pt x="6361430" y="0"/>
                  </a:lnTo>
                  <a:lnTo>
                    <a:pt x="6361430" y="887095"/>
                  </a:lnTo>
                  <a:lnTo>
                    <a:pt x="0" y="887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39615" y="0"/>
            <a:ext cx="565566" cy="665369"/>
            <a:chOff x="0" y="0"/>
            <a:chExt cx="754088" cy="8871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4126" cy="887222"/>
            </a:xfrm>
            <a:custGeom>
              <a:avLst/>
              <a:gdLst/>
              <a:ahLst/>
              <a:cxnLst/>
              <a:rect r="r" b="b" t="t" l="l"/>
              <a:pathLst>
                <a:path h="887222" w="754126">
                  <a:moveTo>
                    <a:pt x="0" y="0"/>
                  </a:moveTo>
                  <a:lnTo>
                    <a:pt x="754126" y="0"/>
                  </a:lnTo>
                  <a:lnTo>
                    <a:pt x="754126" y="887222"/>
                  </a:lnTo>
                  <a:lnTo>
                    <a:pt x="0" y="88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t="0" r="-3" b="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-24270" y="1133"/>
            <a:ext cx="4795342" cy="112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4"/>
              </a:lnSpc>
            </a:pPr>
            <a:r>
              <a:rPr lang="en-US" sz="3045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Сообщение от верхнего руководства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6367" y="6444605"/>
            <a:ext cx="3322377" cy="196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3"/>
              </a:lnSpc>
            </a:pPr>
            <a:r>
              <a:rPr lang="en-US" sz="2871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Alper Argun</a:t>
            </a:r>
          </a:p>
          <a:p>
            <a:pPr algn="ctr">
              <a:lnSpc>
                <a:spcPts val="3727"/>
              </a:lnSpc>
            </a:pPr>
            <a:r>
              <a:rPr lang="en-US" sz="2315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Генеральный директор Башка Резорт в Бодруме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6822" y="2003279"/>
            <a:ext cx="14670491" cy="417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 Başka Resort Bodrum устойчивое развитие является основой нашей деятельности.</a:t>
            </a:r>
          </a:p>
          <a:p>
            <a:pPr algn="l">
              <a:lnSpc>
                <a:spcPts val="3727"/>
              </a:lnSpc>
            </a:pPr>
          </a:p>
          <a:p>
            <a:pPr algn="l">
              <a:lnSpc>
                <a:spcPts val="3727"/>
              </a:lnSpc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Наша цель заключается в создании бизнес-модели, которая уважает природу, осознанно и эффективно использует ее ресурсы, а также увеличивает ценность географического положения. Наш подход к устойчивому развитию основывается на понимании ответственного туризма, который защищает и улучшает не только настоящее, но и будущее.</a:t>
            </a:r>
          </a:p>
          <a:p>
            <a:pPr algn="l">
              <a:lnSpc>
                <a:spcPts val="3727"/>
              </a:lnSpc>
            </a:pPr>
          </a:p>
          <a:p>
            <a:pPr algn="l">
              <a:lnSpc>
                <a:spcPts val="3727"/>
              </a:lnSpc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 Başka Resort Bodrum устойчивое развитие является не просто целью, а основой нашей управленческой философии.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387" y="9631832"/>
            <a:ext cx="15788973" cy="38100"/>
            <a:chOff x="0" y="0"/>
            <a:chExt cx="21051964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0"/>
              <a:ext cx="21001101" cy="50800"/>
            </a:xfrm>
            <a:custGeom>
              <a:avLst/>
              <a:gdLst/>
              <a:ahLst/>
              <a:cxnLst/>
              <a:rect r="r" b="b" t="t" l="l"/>
              <a:pathLst>
                <a:path h="50800" w="21001101">
                  <a:moveTo>
                    <a:pt x="0" y="0"/>
                  </a:moveTo>
                  <a:lnTo>
                    <a:pt x="21001101" y="0"/>
                  </a:lnTo>
                  <a:lnTo>
                    <a:pt x="210011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06218" y="9107386"/>
            <a:ext cx="812521" cy="909961"/>
          </a:xfrm>
          <a:custGeom>
            <a:avLst/>
            <a:gdLst/>
            <a:ahLst/>
            <a:cxnLst/>
            <a:rect r="r" b="b" t="t" l="l"/>
            <a:pathLst>
              <a:path h="909961" w="812521">
                <a:moveTo>
                  <a:pt x="0" y="0"/>
                </a:moveTo>
                <a:lnTo>
                  <a:pt x="812520" y="0"/>
                </a:lnTo>
                <a:lnTo>
                  <a:pt x="812520" y="909961"/>
                </a:lnTo>
                <a:lnTo>
                  <a:pt x="0" y="90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031553" y="6313330"/>
            <a:ext cx="3584781" cy="2220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0"/>
              </a:lnSpc>
            </a:pPr>
            <a:r>
              <a:rPr lang="en-US" sz="2601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Mahmut Cakmakci</a:t>
            </a:r>
          </a:p>
          <a:p>
            <a:pPr algn="ctr">
              <a:lnSpc>
                <a:spcPts val="3378"/>
              </a:lnSpc>
            </a:pPr>
            <a:r>
              <a:rPr lang="en-US" sz="2098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Заместитель генерального директора курорта Başka в Бодруме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44145" y="2330995"/>
            <a:ext cx="14035383" cy="380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Внедряя принципы устойчивого развития во все сферы нашей деятельности, мы усиливаем межведомственную гармонию, эффективность и оперативный контроль.</a:t>
            </a:r>
          </a:p>
          <a:p>
            <a:pPr algn="l">
              <a:lnSpc>
                <a:spcPts val="3727"/>
              </a:lnSpc>
            </a:pPr>
          </a:p>
          <a:p>
            <a:pPr algn="l">
              <a:lnSpc>
                <a:spcPts val="3727"/>
              </a:lnSpc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Мы трансформируем концепцию устойчивого развития в измеримую, отслеживаемую и постоянно улучшаемую систему управления.</a:t>
            </a:r>
          </a:p>
          <a:p>
            <a:pPr algn="l">
              <a:lnSpc>
                <a:spcPts val="3727"/>
              </a:lnSpc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 то же время мы придаем первостепенное значение увеличению ценности нашего региона, поддерживая местную занятость и сохраняя уникальное природное наследие Бодрума.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0"/>
            <a:ext cx="4771092" cy="665350"/>
            <a:chOff x="0" y="0"/>
            <a:chExt cx="6361455" cy="8871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61430" cy="887095"/>
            </a:xfrm>
            <a:custGeom>
              <a:avLst/>
              <a:gdLst/>
              <a:ahLst/>
              <a:cxnLst/>
              <a:rect r="r" b="b" t="t" l="l"/>
              <a:pathLst>
                <a:path h="887095" w="6361430">
                  <a:moveTo>
                    <a:pt x="0" y="0"/>
                  </a:moveTo>
                  <a:lnTo>
                    <a:pt x="6361430" y="0"/>
                  </a:lnTo>
                  <a:lnTo>
                    <a:pt x="6361430" y="887095"/>
                  </a:lnTo>
                  <a:lnTo>
                    <a:pt x="0" y="887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539615" y="0"/>
            <a:ext cx="565566" cy="665369"/>
            <a:chOff x="0" y="0"/>
            <a:chExt cx="754088" cy="8871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4126" cy="887222"/>
            </a:xfrm>
            <a:custGeom>
              <a:avLst/>
              <a:gdLst/>
              <a:ahLst/>
              <a:cxnLst/>
              <a:rect r="r" b="b" t="t" l="l"/>
              <a:pathLst>
                <a:path h="887222" w="754126">
                  <a:moveTo>
                    <a:pt x="0" y="0"/>
                  </a:moveTo>
                  <a:lnTo>
                    <a:pt x="754126" y="0"/>
                  </a:lnTo>
                  <a:lnTo>
                    <a:pt x="754126" y="887222"/>
                  </a:lnTo>
                  <a:lnTo>
                    <a:pt x="0" y="88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t="0" r="-3" b="7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-24270" y="1133"/>
            <a:ext cx="4795342" cy="112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4"/>
              </a:lnSpc>
            </a:pPr>
            <a:r>
              <a:rPr lang="en-US" sz="3045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Сообщение от верхнего руководства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387" y="9631832"/>
            <a:ext cx="15788973" cy="38100"/>
            <a:chOff x="0" y="0"/>
            <a:chExt cx="21051964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0"/>
              <a:ext cx="21001101" cy="50800"/>
            </a:xfrm>
            <a:custGeom>
              <a:avLst/>
              <a:gdLst/>
              <a:ahLst/>
              <a:cxnLst/>
              <a:rect r="r" b="b" t="t" l="l"/>
              <a:pathLst>
                <a:path h="50800" w="21001101">
                  <a:moveTo>
                    <a:pt x="0" y="0"/>
                  </a:moveTo>
                  <a:lnTo>
                    <a:pt x="21001101" y="0"/>
                  </a:lnTo>
                  <a:lnTo>
                    <a:pt x="210011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06218" y="9107386"/>
            <a:ext cx="812521" cy="909961"/>
          </a:xfrm>
          <a:custGeom>
            <a:avLst/>
            <a:gdLst/>
            <a:ahLst/>
            <a:cxnLst/>
            <a:rect r="r" b="b" t="t" l="l"/>
            <a:pathLst>
              <a:path h="909961" w="812521">
                <a:moveTo>
                  <a:pt x="0" y="0"/>
                </a:moveTo>
                <a:lnTo>
                  <a:pt x="812520" y="0"/>
                </a:lnTo>
                <a:lnTo>
                  <a:pt x="812520" y="909961"/>
                </a:lnTo>
                <a:lnTo>
                  <a:pt x="0" y="90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4771092" cy="665350"/>
            <a:chOff x="0" y="0"/>
            <a:chExt cx="6361455" cy="887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61430" cy="887095"/>
            </a:xfrm>
            <a:custGeom>
              <a:avLst/>
              <a:gdLst/>
              <a:ahLst/>
              <a:cxnLst/>
              <a:rect r="r" b="b" t="t" l="l"/>
              <a:pathLst>
                <a:path h="887095" w="6361430">
                  <a:moveTo>
                    <a:pt x="0" y="0"/>
                  </a:moveTo>
                  <a:lnTo>
                    <a:pt x="6361430" y="0"/>
                  </a:lnTo>
                  <a:lnTo>
                    <a:pt x="6361430" y="887095"/>
                  </a:lnTo>
                  <a:lnTo>
                    <a:pt x="0" y="887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39615" y="0"/>
            <a:ext cx="565566" cy="665369"/>
            <a:chOff x="0" y="0"/>
            <a:chExt cx="754088" cy="8871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4126" cy="887222"/>
            </a:xfrm>
            <a:custGeom>
              <a:avLst/>
              <a:gdLst/>
              <a:ahLst/>
              <a:cxnLst/>
              <a:rect r="r" b="b" t="t" l="l"/>
              <a:pathLst>
                <a:path h="887222" w="754126">
                  <a:moveTo>
                    <a:pt x="0" y="0"/>
                  </a:moveTo>
                  <a:lnTo>
                    <a:pt x="754126" y="0"/>
                  </a:lnTo>
                  <a:lnTo>
                    <a:pt x="754126" y="887222"/>
                  </a:lnTo>
                  <a:lnTo>
                    <a:pt x="0" y="88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t="0" r="-3" b="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1093" y="59379"/>
            <a:ext cx="4089187" cy="35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3"/>
              </a:lnSpc>
            </a:pPr>
            <a:r>
              <a:rPr lang="en-US" sz="188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Отчет по устойчивому развитию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1535" y="1712395"/>
            <a:ext cx="14751177" cy="248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0"/>
              </a:lnSpc>
            </a:pPr>
            <a:r>
              <a:rPr lang="en-US" sz="2615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КАЧЕСТВО И ДОЛГОВЕЧНОСТЬ</a:t>
            </a:r>
          </a:p>
          <a:p>
            <a:pPr algn="l">
              <a:lnSpc>
                <a:spcPts val="3727"/>
              </a:lnSpc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Устойчивое развитие представляет собой совокупность ценностей, которые мы формируем и поддерживаем совместно.</a:t>
            </a:r>
          </a:p>
          <a:p>
            <a:pPr algn="l">
              <a:lnSpc>
                <a:spcPts val="3727"/>
              </a:lnSpc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Мы интегрируем устойчивое развитие в нашу корпоративную культуру на всех уровнях, основываясь на данных, обучении и строгой операционной дисциплине.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1535" y="4012883"/>
            <a:ext cx="14751177" cy="491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0"/>
              </a:lnSpc>
            </a:pPr>
            <a:r>
              <a:rPr lang="en-US" sz="2615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НАШЕ ВИДЕНИЕ</a:t>
            </a:r>
          </a:p>
          <a:p>
            <a:pPr algn="l">
              <a:lnSpc>
                <a:spcPts val="3727"/>
              </a:lnSpc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Стать образцовым курортом, интегрируя принципы устойчивого развития во все аспекты своей деятельности, делая это естественным образом ведения бизнеса.</a:t>
            </a:r>
          </a:p>
          <a:p>
            <a:pPr algn="l">
              <a:lnSpc>
                <a:spcPts val="4211"/>
              </a:lnSpc>
            </a:pPr>
          </a:p>
          <a:p>
            <a:pPr algn="l">
              <a:lnSpc>
                <a:spcPts val="3727"/>
              </a:lnSpc>
            </a:pPr>
            <a:r>
              <a:rPr lang="en-US" sz="2315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НАША МИССИЯ</a:t>
            </a:r>
          </a:p>
          <a:p>
            <a:pPr algn="l">
              <a:lnSpc>
                <a:spcPts val="3727"/>
              </a:lnSpc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Предложить бизнес-модель, которая охраняет природные ресурсы, сохраняет местные ценности и вовлекает в этот процесс сотрудников и гостей.</a:t>
            </a:r>
          </a:p>
          <a:p>
            <a:pPr algn="l">
              <a:lnSpc>
                <a:spcPts val="4211"/>
              </a:lnSpc>
            </a:pPr>
          </a:p>
          <a:p>
            <a:pPr algn="l">
              <a:lnSpc>
                <a:spcPts val="4211"/>
              </a:lnSpc>
            </a:pPr>
          </a:p>
          <a:p>
            <a:pPr algn="l">
              <a:lnSpc>
                <a:spcPts val="3727"/>
              </a:lnSpc>
            </a:pPr>
            <a:r>
              <a:rPr lang="en-US" sz="2315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Уважение к природе, ценность культуры и ответственность за будущее.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387" y="9631832"/>
            <a:ext cx="15788973" cy="38100"/>
            <a:chOff x="0" y="0"/>
            <a:chExt cx="21051964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0"/>
              <a:ext cx="21001101" cy="50800"/>
            </a:xfrm>
            <a:custGeom>
              <a:avLst/>
              <a:gdLst/>
              <a:ahLst/>
              <a:cxnLst/>
              <a:rect r="r" b="b" t="t" l="l"/>
              <a:pathLst>
                <a:path h="50800" w="21001101">
                  <a:moveTo>
                    <a:pt x="0" y="0"/>
                  </a:moveTo>
                  <a:lnTo>
                    <a:pt x="21001101" y="0"/>
                  </a:lnTo>
                  <a:lnTo>
                    <a:pt x="210011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06218" y="9107386"/>
            <a:ext cx="812521" cy="909961"/>
          </a:xfrm>
          <a:custGeom>
            <a:avLst/>
            <a:gdLst/>
            <a:ahLst/>
            <a:cxnLst/>
            <a:rect r="r" b="b" t="t" l="l"/>
            <a:pathLst>
              <a:path h="909961" w="812521">
                <a:moveTo>
                  <a:pt x="0" y="0"/>
                </a:moveTo>
                <a:lnTo>
                  <a:pt x="812520" y="0"/>
                </a:lnTo>
                <a:lnTo>
                  <a:pt x="812520" y="909961"/>
                </a:lnTo>
                <a:lnTo>
                  <a:pt x="0" y="90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4771092" cy="665350"/>
            <a:chOff x="0" y="0"/>
            <a:chExt cx="6361455" cy="887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61430" cy="887095"/>
            </a:xfrm>
            <a:custGeom>
              <a:avLst/>
              <a:gdLst/>
              <a:ahLst/>
              <a:cxnLst/>
              <a:rect r="r" b="b" t="t" l="l"/>
              <a:pathLst>
                <a:path h="887095" w="6361430">
                  <a:moveTo>
                    <a:pt x="0" y="0"/>
                  </a:moveTo>
                  <a:lnTo>
                    <a:pt x="6361430" y="0"/>
                  </a:lnTo>
                  <a:lnTo>
                    <a:pt x="6361430" y="887095"/>
                  </a:lnTo>
                  <a:lnTo>
                    <a:pt x="0" y="887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39615" y="0"/>
            <a:ext cx="565566" cy="665369"/>
            <a:chOff x="0" y="0"/>
            <a:chExt cx="754088" cy="8871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4126" cy="887222"/>
            </a:xfrm>
            <a:custGeom>
              <a:avLst/>
              <a:gdLst/>
              <a:ahLst/>
              <a:cxnLst/>
              <a:rect r="r" b="b" t="t" l="l"/>
              <a:pathLst>
                <a:path h="887222" w="754126">
                  <a:moveTo>
                    <a:pt x="0" y="0"/>
                  </a:moveTo>
                  <a:lnTo>
                    <a:pt x="754126" y="0"/>
                  </a:lnTo>
                  <a:lnTo>
                    <a:pt x="754126" y="887222"/>
                  </a:lnTo>
                  <a:lnTo>
                    <a:pt x="0" y="88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t="0" r="-3" b="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881449" y="3489408"/>
            <a:ext cx="3837289" cy="3876046"/>
            <a:chOff x="0" y="0"/>
            <a:chExt cx="5116386" cy="51680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16322" cy="5168011"/>
            </a:xfrm>
            <a:custGeom>
              <a:avLst/>
              <a:gdLst/>
              <a:ahLst/>
              <a:cxnLst/>
              <a:rect r="r" b="b" t="t" l="l"/>
              <a:pathLst>
                <a:path h="5168011" w="5116322">
                  <a:moveTo>
                    <a:pt x="0" y="0"/>
                  </a:moveTo>
                  <a:lnTo>
                    <a:pt x="5116322" y="0"/>
                  </a:lnTo>
                  <a:lnTo>
                    <a:pt x="5116322" y="5168011"/>
                  </a:lnTo>
                  <a:lnTo>
                    <a:pt x="0" y="5168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8" r="-1" b="-39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11093" y="40329"/>
            <a:ext cx="4089187" cy="48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Наши политики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341706"/>
            <a:ext cx="8216094" cy="334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039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УПРАВЛЕНИЕ ОТХОДАМИ И СНИЖЕНИЕ ОТХОДОВ</a:t>
            </a:r>
          </a:p>
          <a:p>
            <a:pPr algn="l">
              <a:lnSpc>
                <a:spcPts val="3282"/>
              </a:lnSpc>
            </a:pPr>
          </a:p>
          <a:p>
            <a:pPr algn="l">
              <a:lnSpc>
                <a:spcPts val="3282"/>
              </a:lnSpc>
            </a:pPr>
            <a:r>
              <a:rPr lang="en-US" sz="2039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Сокращается объем образования отходов, а сортировка осуществляется непосредственно на месте их образования.</a:t>
            </a:r>
          </a:p>
          <a:p>
            <a:pPr algn="l">
              <a:lnSpc>
                <a:spcPts val="3282"/>
              </a:lnSpc>
            </a:pPr>
            <a:r>
              <a:rPr lang="en-US" sz="2039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Пищевые отходы находятся под контролем и минимизируются.</a:t>
            </a:r>
          </a:p>
          <a:p>
            <a:pPr algn="l">
              <a:lnSpc>
                <a:spcPts val="3282"/>
              </a:lnSpc>
            </a:pPr>
            <a:r>
              <a:rPr lang="en-US" sz="2039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Предотвращение образования отходов является первым шагом к охране окружающей среды.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856584"/>
            <a:ext cx="12388472" cy="312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169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ОХРАНА ОКРУЖАЮЩЕЙ СРЕДЫ И ПРИРОДНЫХ РЕСУРСОВ</a:t>
            </a:r>
          </a:p>
          <a:p>
            <a:pPr algn="l">
              <a:lnSpc>
                <a:spcPts val="3494"/>
              </a:lnSpc>
            </a:pPr>
          </a:p>
          <a:p>
            <a:pPr algn="l">
              <a:lnSpc>
                <a:spcPts val="3494"/>
              </a:lnSpc>
            </a:pPr>
            <a:r>
              <a:rPr lang="en-US" sz="2169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Потребление энергии и воды контролируется, анализируется и оптимизируется в соответствии с принципами эффективности.</a:t>
            </a:r>
          </a:p>
          <a:p>
            <a:pPr algn="l">
              <a:lnSpc>
                <a:spcPts val="3494"/>
              </a:lnSpc>
            </a:pPr>
            <a:r>
              <a:rPr lang="en-US" sz="2169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 ландшафтном дизайне предпочтение отдается видам растений, адаптированным к данному региону и требующим минимального объема воды.</a:t>
            </a:r>
          </a:p>
          <a:p>
            <a:pPr algn="l">
              <a:lnSpc>
                <a:spcPts val="3494"/>
              </a:lnSpc>
            </a:pPr>
            <a:r>
              <a:rPr lang="en-US" sz="2169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Гармония с природой представляет собой ключевой принцип устойчивого развития.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387" y="9631832"/>
            <a:ext cx="15788973" cy="38100"/>
            <a:chOff x="0" y="0"/>
            <a:chExt cx="21051964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0"/>
              <a:ext cx="21001101" cy="50800"/>
            </a:xfrm>
            <a:custGeom>
              <a:avLst/>
              <a:gdLst/>
              <a:ahLst/>
              <a:cxnLst/>
              <a:rect r="r" b="b" t="t" l="l"/>
              <a:pathLst>
                <a:path h="50800" w="21001101">
                  <a:moveTo>
                    <a:pt x="0" y="0"/>
                  </a:moveTo>
                  <a:lnTo>
                    <a:pt x="21001101" y="0"/>
                  </a:lnTo>
                  <a:lnTo>
                    <a:pt x="210011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06218" y="9107386"/>
            <a:ext cx="812521" cy="909961"/>
          </a:xfrm>
          <a:custGeom>
            <a:avLst/>
            <a:gdLst/>
            <a:ahLst/>
            <a:cxnLst/>
            <a:rect r="r" b="b" t="t" l="l"/>
            <a:pathLst>
              <a:path h="909961" w="812521">
                <a:moveTo>
                  <a:pt x="0" y="0"/>
                </a:moveTo>
                <a:lnTo>
                  <a:pt x="812520" y="0"/>
                </a:lnTo>
                <a:lnTo>
                  <a:pt x="812520" y="909961"/>
                </a:lnTo>
                <a:lnTo>
                  <a:pt x="0" y="90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4771092" cy="665350"/>
            <a:chOff x="0" y="0"/>
            <a:chExt cx="6361455" cy="887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61430" cy="887095"/>
            </a:xfrm>
            <a:custGeom>
              <a:avLst/>
              <a:gdLst/>
              <a:ahLst/>
              <a:cxnLst/>
              <a:rect r="r" b="b" t="t" l="l"/>
              <a:pathLst>
                <a:path h="887095" w="6361430">
                  <a:moveTo>
                    <a:pt x="0" y="0"/>
                  </a:moveTo>
                  <a:lnTo>
                    <a:pt x="6361430" y="0"/>
                  </a:lnTo>
                  <a:lnTo>
                    <a:pt x="6361430" y="887095"/>
                  </a:lnTo>
                  <a:lnTo>
                    <a:pt x="0" y="887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39615" y="0"/>
            <a:ext cx="565566" cy="665369"/>
            <a:chOff x="0" y="0"/>
            <a:chExt cx="754088" cy="8871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4126" cy="887222"/>
            </a:xfrm>
            <a:custGeom>
              <a:avLst/>
              <a:gdLst/>
              <a:ahLst/>
              <a:cxnLst/>
              <a:rect r="r" b="b" t="t" l="l"/>
              <a:pathLst>
                <a:path h="887222" w="754126">
                  <a:moveTo>
                    <a:pt x="0" y="0"/>
                  </a:moveTo>
                  <a:lnTo>
                    <a:pt x="754126" y="0"/>
                  </a:lnTo>
                  <a:lnTo>
                    <a:pt x="754126" y="887222"/>
                  </a:lnTo>
                  <a:lnTo>
                    <a:pt x="0" y="88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t="0" r="-3" b="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175749" y="2404377"/>
            <a:ext cx="7112251" cy="4738535"/>
            <a:chOff x="0" y="0"/>
            <a:chExt cx="9483001" cy="63180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82963" cy="6317996"/>
            </a:xfrm>
            <a:custGeom>
              <a:avLst/>
              <a:gdLst/>
              <a:ahLst/>
              <a:cxnLst/>
              <a:rect r="r" b="b" t="t" l="l"/>
              <a:pathLst>
                <a:path h="6317996" w="9482963">
                  <a:moveTo>
                    <a:pt x="0" y="0"/>
                  </a:moveTo>
                  <a:lnTo>
                    <a:pt x="9482963" y="0"/>
                  </a:lnTo>
                  <a:lnTo>
                    <a:pt x="9482963" y="6317996"/>
                  </a:lnTo>
                  <a:lnTo>
                    <a:pt x="0" y="6317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1" r="0" b="-3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11093" y="40329"/>
            <a:ext cx="4089187" cy="48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Наши политики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4555" y="3518316"/>
            <a:ext cx="8973931" cy="301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8"/>
              </a:lnSpc>
            </a:pPr>
            <a:r>
              <a:rPr lang="en-US" sz="2054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СОЦИАЛЬНАЯ ОТВЕТСТВЕННОСТЬ И ЛОКАЛЬНЫЕ ЦЕННОСТИ</a:t>
            </a:r>
          </a:p>
          <a:p>
            <a:pPr algn="l">
              <a:lnSpc>
                <a:spcPts val="3308"/>
              </a:lnSpc>
            </a:pPr>
          </a:p>
          <a:p>
            <a:pPr algn="l">
              <a:lnSpc>
                <a:spcPts val="3308"/>
              </a:lnSpc>
            </a:pPr>
            <a:r>
              <a:rPr lang="en-US" sz="2054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Поддержка местных производителей оказывается, при этом приоритет отдается местной занятости и сохраняется региональная культура.</a:t>
            </a:r>
          </a:p>
          <a:p>
            <a:pPr algn="l">
              <a:lnSpc>
                <a:spcPts val="3308"/>
              </a:lnSpc>
            </a:pPr>
            <a:r>
              <a:rPr lang="en-US" sz="2054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Впечатления гостей формируются на основе местных ценностей.</a:t>
            </a:r>
          </a:p>
          <a:p>
            <a:pPr algn="l">
              <a:lnSpc>
                <a:spcPts val="3308"/>
              </a:lnSpc>
            </a:pPr>
            <a:r>
              <a:rPr lang="en-US" sz="2054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Мы не гости на этой земле, а её хранители.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4555" y="1107348"/>
            <a:ext cx="14540570" cy="230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2315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УСТОЙЧИВЫЕ ПОКУПКИ</a:t>
            </a:r>
          </a:p>
          <a:p>
            <a:pPr algn="l">
              <a:lnSpc>
                <a:spcPts val="3727"/>
              </a:lnSpc>
            </a:pPr>
          </a:p>
          <a:p>
            <a:pPr algn="l">
              <a:lnSpc>
                <a:spcPts val="3727"/>
              </a:lnSpc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Предпочтение отдается местным производителям и экологически чистым товарам.</a:t>
            </a:r>
          </a:p>
          <a:p>
            <a:pPr algn="l">
              <a:lnSpc>
                <a:spcPts val="3727"/>
              </a:lnSpc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Процессы закупок осуществляются с учетом влияния на окружающую среду и производственные процессы.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4555" y="6895300"/>
            <a:ext cx="11379679" cy="230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319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ЗАЩИТА ДЕТЕЙ И БЕЗОПАСНЫЙ ТУРИЗМ</a:t>
            </a:r>
          </a:p>
          <a:p>
            <a:pPr algn="l">
              <a:lnSpc>
                <a:spcPts val="3735"/>
              </a:lnSpc>
            </a:pPr>
          </a:p>
          <a:p>
            <a:pPr algn="l">
              <a:lnSpc>
                <a:spcPts val="3735"/>
              </a:lnSpc>
            </a:pPr>
            <a:r>
              <a:rPr lang="en-US" sz="2319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Для детей и всех гостей создается безопасная и контролируемая среда. Безопасность является ключевым аспектом нашего подхода к устойчивому развитию.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387" y="9631832"/>
            <a:ext cx="15788973" cy="38100"/>
            <a:chOff x="0" y="0"/>
            <a:chExt cx="21051964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0"/>
              <a:ext cx="21001101" cy="50800"/>
            </a:xfrm>
            <a:custGeom>
              <a:avLst/>
              <a:gdLst/>
              <a:ahLst/>
              <a:cxnLst/>
              <a:rect r="r" b="b" t="t" l="l"/>
              <a:pathLst>
                <a:path h="50800" w="21001101">
                  <a:moveTo>
                    <a:pt x="0" y="0"/>
                  </a:moveTo>
                  <a:lnTo>
                    <a:pt x="21001101" y="0"/>
                  </a:lnTo>
                  <a:lnTo>
                    <a:pt x="210011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06218" y="9107386"/>
            <a:ext cx="812521" cy="909961"/>
          </a:xfrm>
          <a:custGeom>
            <a:avLst/>
            <a:gdLst/>
            <a:ahLst/>
            <a:cxnLst/>
            <a:rect r="r" b="b" t="t" l="l"/>
            <a:pathLst>
              <a:path h="909961" w="812521">
                <a:moveTo>
                  <a:pt x="0" y="0"/>
                </a:moveTo>
                <a:lnTo>
                  <a:pt x="812520" y="0"/>
                </a:lnTo>
                <a:lnTo>
                  <a:pt x="812520" y="909961"/>
                </a:lnTo>
                <a:lnTo>
                  <a:pt x="0" y="90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4771092" cy="665350"/>
            <a:chOff x="0" y="0"/>
            <a:chExt cx="6361455" cy="887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61430" cy="887095"/>
            </a:xfrm>
            <a:custGeom>
              <a:avLst/>
              <a:gdLst/>
              <a:ahLst/>
              <a:cxnLst/>
              <a:rect r="r" b="b" t="t" l="l"/>
              <a:pathLst>
                <a:path h="887095" w="6361430">
                  <a:moveTo>
                    <a:pt x="0" y="0"/>
                  </a:moveTo>
                  <a:lnTo>
                    <a:pt x="6361430" y="0"/>
                  </a:lnTo>
                  <a:lnTo>
                    <a:pt x="6361430" y="887095"/>
                  </a:lnTo>
                  <a:lnTo>
                    <a:pt x="0" y="887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39615" y="0"/>
            <a:ext cx="565566" cy="665369"/>
            <a:chOff x="0" y="0"/>
            <a:chExt cx="754088" cy="8871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4126" cy="887222"/>
            </a:xfrm>
            <a:custGeom>
              <a:avLst/>
              <a:gdLst/>
              <a:ahLst/>
              <a:cxnLst/>
              <a:rect r="r" b="b" t="t" l="l"/>
              <a:pathLst>
                <a:path h="887222" w="754126">
                  <a:moveTo>
                    <a:pt x="0" y="0"/>
                  </a:moveTo>
                  <a:lnTo>
                    <a:pt x="754126" y="0"/>
                  </a:lnTo>
                  <a:lnTo>
                    <a:pt x="754126" y="887222"/>
                  </a:lnTo>
                  <a:lnTo>
                    <a:pt x="0" y="88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t="0" r="-3" b="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1559166"/>
            <a:ext cx="8708441" cy="742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186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БЛАГОПОЛУЧИЕ И ОБРАЗОВАНИЕ ПЕРСОНАЛА</a:t>
            </a:r>
          </a:p>
          <a:p>
            <a:pPr algn="l">
              <a:lnSpc>
                <a:spcPts val="3519"/>
              </a:lnSpc>
            </a:pPr>
          </a:p>
          <a:p>
            <a:pPr algn="l">
              <a:lnSpc>
                <a:spcPts val="3519"/>
              </a:lnSpc>
            </a:pPr>
            <a:r>
              <a:rPr lang="en-US" sz="2186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Поддерживаются образование, равенство и профессиональный рост сотрудников.</a:t>
            </a:r>
          </a:p>
          <a:p>
            <a:pPr algn="l">
              <a:lnSpc>
                <a:spcPts val="3519"/>
              </a:lnSpc>
            </a:pPr>
            <a:r>
              <a:rPr lang="en-US" sz="2186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Обучение принципам устойчивого развития осуществляется во всех подразделениях.</a:t>
            </a:r>
          </a:p>
          <a:p>
            <a:pPr algn="l">
              <a:lnSpc>
                <a:spcPts val="3519"/>
              </a:lnSpc>
            </a:pPr>
            <a:r>
              <a:rPr lang="en-US" sz="2186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Устойчивое развитие начинается с человека.</a:t>
            </a:r>
          </a:p>
          <a:p>
            <a:pPr algn="l">
              <a:lnSpc>
                <a:spcPts val="3519"/>
              </a:lnSpc>
            </a:pPr>
          </a:p>
          <a:p>
            <a:pPr algn="l">
              <a:lnSpc>
                <a:spcPts val="3519"/>
              </a:lnSpc>
            </a:pPr>
            <a:r>
              <a:rPr lang="en-US" sz="2186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УЧАСТИЕ ГОСТЕЙ И УВЕЛИЧЕНИЕ ОСВЕДОМЛЕННОСТИ</a:t>
            </a:r>
          </a:p>
          <a:p>
            <a:pPr algn="l">
              <a:lnSpc>
                <a:spcPts val="3519"/>
              </a:lnSpc>
            </a:pPr>
          </a:p>
          <a:p>
            <a:pPr algn="l">
              <a:lnSpc>
                <a:spcPts val="3519"/>
              </a:lnSpc>
            </a:pPr>
            <a:r>
              <a:rPr lang="en-US" sz="2186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Гости играют активную роль в нашем подходе к устойчивому развитию.</a:t>
            </a:r>
          </a:p>
          <a:p>
            <a:pPr algn="l">
              <a:lnSpc>
                <a:spcPts val="3519"/>
              </a:lnSpc>
            </a:pPr>
            <a:r>
              <a:rPr lang="en-US" sz="2186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 процессе пребывания предоставляется информация о ресурсах, местной культуре и экологических ценностях.</a:t>
            </a:r>
          </a:p>
          <a:p>
            <a:pPr algn="l">
              <a:lnSpc>
                <a:spcPts val="3519"/>
              </a:lnSpc>
            </a:pPr>
            <a:r>
              <a:rPr lang="en-US" sz="2186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Гости получают консультации, информацию и участвуют в процессе.</a:t>
            </a:r>
          </a:p>
          <a:p>
            <a:pPr algn="l">
              <a:lnSpc>
                <a:spcPts val="3519"/>
              </a:lnSpc>
            </a:pPr>
            <a:r>
              <a:rPr lang="en-US" sz="2186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Ваши решения оказывают влияние на природу.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32869" y="2455097"/>
            <a:ext cx="8055131" cy="5376796"/>
            <a:chOff x="0" y="0"/>
            <a:chExt cx="10740174" cy="71690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40136" cy="7169023"/>
            </a:xfrm>
            <a:custGeom>
              <a:avLst/>
              <a:gdLst/>
              <a:ahLst/>
              <a:cxnLst/>
              <a:rect r="r" b="b" t="t" l="l"/>
              <a:pathLst>
                <a:path h="7169023" w="10740136">
                  <a:moveTo>
                    <a:pt x="0" y="0"/>
                  </a:moveTo>
                  <a:lnTo>
                    <a:pt x="10740136" y="0"/>
                  </a:lnTo>
                  <a:lnTo>
                    <a:pt x="10740136" y="7169023"/>
                  </a:lnTo>
                  <a:lnTo>
                    <a:pt x="0" y="7169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1" t="0" r="-2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11093" y="40329"/>
            <a:ext cx="4089187" cy="48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Наши политики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387" y="9631832"/>
            <a:ext cx="15788973" cy="38100"/>
            <a:chOff x="0" y="0"/>
            <a:chExt cx="21051964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0"/>
              <a:ext cx="21001101" cy="50800"/>
            </a:xfrm>
            <a:custGeom>
              <a:avLst/>
              <a:gdLst/>
              <a:ahLst/>
              <a:cxnLst/>
              <a:rect r="r" b="b" t="t" l="l"/>
              <a:pathLst>
                <a:path h="50800" w="21001101">
                  <a:moveTo>
                    <a:pt x="0" y="0"/>
                  </a:moveTo>
                  <a:lnTo>
                    <a:pt x="21001101" y="0"/>
                  </a:lnTo>
                  <a:lnTo>
                    <a:pt x="210011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06218" y="9107386"/>
            <a:ext cx="812521" cy="909961"/>
          </a:xfrm>
          <a:custGeom>
            <a:avLst/>
            <a:gdLst/>
            <a:ahLst/>
            <a:cxnLst/>
            <a:rect r="r" b="b" t="t" l="l"/>
            <a:pathLst>
              <a:path h="909961" w="812521">
                <a:moveTo>
                  <a:pt x="0" y="0"/>
                </a:moveTo>
                <a:lnTo>
                  <a:pt x="812520" y="0"/>
                </a:lnTo>
                <a:lnTo>
                  <a:pt x="812520" y="909961"/>
                </a:lnTo>
                <a:lnTo>
                  <a:pt x="0" y="90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4771092" cy="665350"/>
            <a:chOff x="0" y="0"/>
            <a:chExt cx="6361455" cy="887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61430" cy="887095"/>
            </a:xfrm>
            <a:custGeom>
              <a:avLst/>
              <a:gdLst/>
              <a:ahLst/>
              <a:cxnLst/>
              <a:rect r="r" b="b" t="t" l="l"/>
              <a:pathLst>
                <a:path h="887095" w="6361430">
                  <a:moveTo>
                    <a:pt x="0" y="0"/>
                  </a:moveTo>
                  <a:lnTo>
                    <a:pt x="6361430" y="0"/>
                  </a:lnTo>
                  <a:lnTo>
                    <a:pt x="6361430" y="887095"/>
                  </a:lnTo>
                  <a:lnTo>
                    <a:pt x="0" y="887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39615" y="0"/>
            <a:ext cx="565566" cy="665369"/>
            <a:chOff x="0" y="0"/>
            <a:chExt cx="754088" cy="8871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4126" cy="887222"/>
            </a:xfrm>
            <a:custGeom>
              <a:avLst/>
              <a:gdLst/>
              <a:ahLst/>
              <a:cxnLst/>
              <a:rect r="r" b="b" t="t" l="l"/>
              <a:pathLst>
                <a:path h="887222" w="754126">
                  <a:moveTo>
                    <a:pt x="0" y="0"/>
                  </a:moveTo>
                  <a:lnTo>
                    <a:pt x="754126" y="0"/>
                  </a:lnTo>
                  <a:lnTo>
                    <a:pt x="754126" y="887222"/>
                  </a:lnTo>
                  <a:lnTo>
                    <a:pt x="0" y="88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t="0" r="-3" b="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013568" y="1787208"/>
            <a:ext cx="5705170" cy="6980425"/>
            <a:chOff x="0" y="0"/>
            <a:chExt cx="7606894" cy="93072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06919" cy="9307195"/>
            </a:xfrm>
            <a:custGeom>
              <a:avLst/>
              <a:gdLst/>
              <a:ahLst/>
              <a:cxnLst/>
              <a:rect r="r" b="b" t="t" l="l"/>
              <a:pathLst>
                <a:path h="9307195" w="7606919">
                  <a:moveTo>
                    <a:pt x="0" y="0"/>
                  </a:moveTo>
                  <a:lnTo>
                    <a:pt x="7606919" y="0"/>
                  </a:lnTo>
                  <a:lnTo>
                    <a:pt x="7606919" y="9307195"/>
                  </a:lnTo>
                  <a:lnTo>
                    <a:pt x="0" y="9307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326" r="0" b="-11327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11093" y="40329"/>
            <a:ext cx="4089187" cy="48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Наши приложения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3908" y="1031434"/>
            <a:ext cx="9768616" cy="2824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201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ТЕХНИЧЕСКОЕ ОБСЛУЖИВАНИЕ</a:t>
            </a:r>
          </a:p>
          <a:p>
            <a:pPr algn="l" marL="432016" indent="-216008" lvl="1">
              <a:lnSpc>
                <a:spcPts val="3222"/>
              </a:lnSpc>
              <a:buFont typeface="Arial"/>
              <a:buChar char="•"/>
            </a:pPr>
            <a:r>
              <a:rPr lang="en-US" sz="2000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 настоящее время реализуются проекты по переходу на светодиодное освещение. </a:t>
            </a:r>
          </a:p>
          <a:p>
            <a:pPr algn="l" marL="432016" indent="-216008" lvl="1">
              <a:lnSpc>
                <a:spcPts val="3222"/>
              </a:lnSpc>
              <a:buFont typeface="Arial"/>
              <a:buChar char="•"/>
            </a:pPr>
            <a:r>
              <a:rPr lang="en-US" sz="2000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Проводятся работы по аэрации.</a:t>
            </a:r>
          </a:p>
          <a:p>
            <a:pPr algn="l" marL="432016" indent="-216008" lvl="1">
              <a:lnSpc>
                <a:spcPts val="3222"/>
              </a:lnSpc>
              <a:buFont typeface="Arial"/>
              <a:buChar char="•"/>
            </a:pPr>
            <a:r>
              <a:rPr lang="en-US" sz="2000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Регулярное техническое обслуживание способствует предотвращению потерь энергии и воды. </a:t>
            </a:r>
          </a:p>
          <a:p>
            <a:pPr algn="l" marL="432016" indent="-216008" lvl="1">
              <a:lnSpc>
                <a:spcPts val="3222"/>
              </a:lnSpc>
              <a:buFont typeface="Arial"/>
              <a:buChar char="•"/>
            </a:pPr>
            <a:r>
              <a:rPr lang="en-US" sz="2000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Неисправности и протечки устраняются незамедлительно.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6270" y="4273448"/>
            <a:ext cx="10423817" cy="191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2413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Услуги по очистке помещений</a:t>
            </a:r>
          </a:p>
          <a:p>
            <a:pPr algn="l" marL="520967" indent="-260483" lvl="1">
              <a:lnSpc>
                <a:spcPts val="3885"/>
              </a:lnSpc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Процесс очистки выполняется с применением достаточного объема воды и моющего средства.</a:t>
            </a:r>
          </a:p>
          <a:p>
            <a:pPr algn="l" marL="520967" indent="-260483" lvl="1">
              <a:lnSpc>
                <a:spcPts val="3885"/>
              </a:lnSpc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Внедряются регламентированные процедуры уборки.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3908" y="6721878"/>
            <a:ext cx="9490577" cy="289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6"/>
              </a:lnSpc>
            </a:pPr>
            <a:r>
              <a:rPr lang="en-US" sz="2382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Пищевые продукты и напитки</a:t>
            </a:r>
          </a:p>
          <a:p>
            <a:pPr algn="l" marL="514274" indent="-257137" lvl="1">
              <a:lnSpc>
                <a:spcPts val="3836"/>
              </a:lnSpc>
              <a:buFont typeface="Arial"/>
              <a:buChar char="•"/>
            </a:pPr>
            <a:r>
              <a:rPr lang="en-US" sz="238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Использование одноразового пластика уменьшается, а применение пластиковых соломинок сведено к минимуму</a:t>
            </a:r>
            <a:r>
              <a:rPr lang="en-US" b="true" sz="2382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.</a:t>
            </a:r>
          </a:p>
          <a:p>
            <a:pPr algn="l" marL="514274" indent="-257137" lvl="1">
              <a:lnSpc>
                <a:spcPts val="3836"/>
              </a:lnSpc>
              <a:buFont typeface="Arial"/>
              <a:buChar char="•"/>
            </a:pPr>
            <a:r>
              <a:rPr lang="en-US" sz="238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Осуществляется мониторинг потребления продукции и расходных материалов.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387" y="9631832"/>
            <a:ext cx="15788973" cy="38100"/>
            <a:chOff x="0" y="0"/>
            <a:chExt cx="21051964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0"/>
              <a:ext cx="21001101" cy="50800"/>
            </a:xfrm>
            <a:custGeom>
              <a:avLst/>
              <a:gdLst/>
              <a:ahLst/>
              <a:cxnLst/>
              <a:rect r="r" b="b" t="t" l="l"/>
              <a:pathLst>
                <a:path h="50800" w="21001101">
                  <a:moveTo>
                    <a:pt x="0" y="0"/>
                  </a:moveTo>
                  <a:lnTo>
                    <a:pt x="21001101" y="0"/>
                  </a:lnTo>
                  <a:lnTo>
                    <a:pt x="210011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06218" y="9107386"/>
            <a:ext cx="812521" cy="909961"/>
          </a:xfrm>
          <a:custGeom>
            <a:avLst/>
            <a:gdLst/>
            <a:ahLst/>
            <a:cxnLst/>
            <a:rect r="r" b="b" t="t" l="l"/>
            <a:pathLst>
              <a:path h="909961" w="812521">
                <a:moveTo>
                  <a:pt x="0" y="0"/>
                </a:moveTo>
                <a:lnTo>
                  <a:pt x="812520" y="0"/>
                </a:lnTo>
                <a:lnTo>
                  <a:pt x="812520" y="909961"/>
                </a:lnTo>
                <a:lnTo>
                  <a:pt x="0" y="90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4771092" cy="665350"/>
            <a:chOff x="0" y="0"/>
            <a:chExt cx="6361455" cy="887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61430" cy="887095"/>
            </a:xfrm>
            <a:custGeom>
              <a:avLst/>
              <a:gdLst/>
              <a:ahLst/>
              <a:cxnLst/>
              <a:rect r="r" b="b" t="t" l="l"/>
              <a:pathLst>
                <a:path h="887095" w="6361430">
                  <a:moveTo>
                    <a:pt x="0" y="0"/>
                  </a:moveTo>
                  <a:lnTo>
                    <a:pt x="6361430" y="0"/>
                  </a:lnTo>
                  <a:lnTo>
                    <a:pt x="6361430" y="887095"/>
                  </a:lnTo>
                  <a:lnTo>
                    <a:pt x="0" y="887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39615" y="0"/>
            <a:ext cx="565566" cy="665369"/>
            <a:chOff x="0" y="0"/>
            <a:chExt cx="754088" cy="8871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4126" cy="887222"/>
            </a:xfrm>
            <a:custGeom>
              <a:avLst/>
              <a:gdLst/>
              <a:ahLst/>
              <a:cxnLst/>
              <a:rect r="r" b="b" t="t" l="l"/>
              <a:pathLst>
                <a:path h="887222" w="754126">
                  <a:moveTo>
                    <a:pt x="0" y="0"/>
                  </a:moveTo>
                  <a:lnTo>
                    <a:pt x="754126" y="0"/>
                  </a:lnTo>
                  <a:lnTo>
                    <a:pt x="754126" y="887222"/>
                  </a:lnTo>
                  <a:lnTo>
                    <a:pt x="0" y="88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t="0" r="-3" b="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1141311"/>
            <a:ext cx="15183393" cy="790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2313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КУХНЯ</a:t>
            </a:r>
          </a:p>
          <a:p>
            <a:pPr algn="l" marL="499377" indent="-249688" lvl="1">
              <a:lnSpc>
                <a:spcPts val="3723"/>
              </a:lnSpc>
              <a:buFont typeface="Arial"/>
              <a:buChar char="•"/>
            </a:pPr>
            <a:r>
              <a:rPr lang="en-US" sz="23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Применяются местные и сезонные продукты. </a:t>
            </a:r>
          </a:p>
          <a:p>
            <a:pPr algn="l" marL="499377" indent="-249688" lvl="1">
              <a:lnSpc>
                <a:spcPts val="3723"/>
              </a:lnSpc>
              <a:buFont typeface="Arial"/>
              <a:buChar char="•"/>
            </a:pPr>
            <a:r>
              <a:rPr lang="en-US" sz="23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Внедряются методы уменьшения пищевых отходов.</a:t>
            </a:r>
          </a:p>
          <a:p>
            <a:pPr algn="l" marL="499377" indent="-249688" lvl="1">
              <a:lnSpc>
                <a:spcPts val="3723"/>
              </a:lnSpc>
              <a:buFont typeface="Arial"/>
              <a:buChar char="•"/>
            </a:pPr>
            <a:r>
              <a:rPr lang="en-US" sz="23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Продукция оценивается наивысшим образом. </a:t>
            </a:r>
          </a:p>
          <a:p>
            <a:pPr algn="l" marL="528763" indent="-176254" lvl="2">
              <a:lnSpc>
                <a:spcPts val="3723"/>
              </a:lnSpc>
            </a:pPr>
          </a:p>
          <a:p>
            <a:pPr algn="l" marL="528763" indent="-176254" lvl="2">
              <a:lnSpc>
                <a:spcPts val="3723"/>
              </a:lnSpc>
            </a:pPr>
            <a:r>
              <a:rPr lang="en-US" sz="23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 этом контексте:</a:t>
            </a:r>
          </a:p>
          <a:p>
            <a:pPr algn="l" marL="528763" indent="-176254" lvl="2">
              <a:lnSpc>
                <a:spcPts val="3723"/>
              </a:lnSpc>
            </a:pPr>
          </a:p>
          <a:p>
            <a:pPr algn="l" marL="499377" indent="-249688" lvl="1">
              <a:lnSpc>
                <a:spcPts val="3723"/>
              </a:lnSpc>
              <a:buFont typeface="Arial"/>
              <a:buChar char="•"/>
            </a:pPr>
            <a:r>
              <a:rPr lang="en-US" sz="23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Фрукты и продукты их переработки находят применение в разнообразных рецептах. </a:t>
            </a:r>
          </a:p>
          <a:p>
            <a:pPr algn="l" marL="499377" indent="-249688" lvl="1">
              <a:lnSpc>
                <a:spcPts val="3723"/>
              </a:lnSpc>
              <a:buFont typeface="Arial"/>
              <a:buChar char="•"/>
            </a:pPr>
            <a:r>
              <a:rPr lang="en-US" sz="23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Пищевые отходы рассматриваются как ресурс, подходящий для повторного использования. </a:t>
            </a:r>
          </a:p>
          <a:p>
            <a:pPr algn="l" marL="499377" indent="-249688" lvl="1">
              <a:lnSpc>
                <a:spcPts val="3723"/>
              </a:lnSpc>
              <a:buFont typeface="Arial"/>
              <a:buChar char="•"/>
            </a:pPr>
            <a:r>
              <a:rPr lang="en-US" sz="23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 рамках мероприятий по борьбе с инвазивными видами предполагается добавить в меню блюда из рыбы-льва. </a:t>
            </a:r>
          </a:p>
          <a:p>
            <a:pPr algn="l" marL="528763" indent="-176254" lvl="2">
              <a:lnSpc>
                <a:spcPts val="3723"/>
              </a:lnSpc>
            </a:pPr>
          </a:p>
          <a:p>
            <a:pPr algn="l">
              <a:lnSpc>
                <a:spcPts val="3723"/>
              </a:lnSpc>
            </a:pPr>
            <a:r>
              <a:rPr lang="en-US" sz="2313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СЛУЖЕБНОЕ ОБСЛУЖИВАНИЕ</a:t>
            </a:r>
          </a:p>
          <a:p>
            <a:pPr algn="l" marL="499377" indent="-249688" lvl="1">
              <a:lnSpc>
                <a:spcPts val="3723"/>
              </a:lnSpc>
              <a:buFont typeface="Arial"/>
              <a:buChar char="•"/>
            </a:pPr>
            <a:r>
              <a:rPr lang="en-US" sz="23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Внедрена система утилизации отходов.</a:t>
            </a:r>
          </a:p>
          <a:p>
            <a:pPr algn="l">
              <a:lnSpc>
                <a:spcPts val="3723"/>
              </a:lnSpc>
            </a:pPr>
            <a:r>
              <a:rPr lang="en-US" sz="23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Правильный выбор химических веществ и применение соответствующих систем дозирования способствуют снижению негативного воздействия на окружающую среду и увеличению эффективности использования воды и химикатов.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1093" y="40329"/>
            <a:ext cx="4089187" cy="48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Наши приложения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387" y="9631832"/>
            <a:ext cx="15788973" cy="38100"/>
            <a:chOff x="0" y="0"/>
            <a:chExt cx="21051964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0"/>
              <a:ext cx="21001101" cy="50800"/>
            </a:xfrm>
            <a:custGeom>
              <a:avLst/>
              <a:gdLst/>
              <a:ahLst/>
              <a:cxnLst/>
              <a:rect r="r" b="b" t="t" l="l"/>
              <a:pathLst>
                <a:path h="50800" w="21001101">
                  <a:moveTo>
                    <a:pt x="0" y="0"/>
                  </a:moveTo>
                  <a:lnTo>
                    <a:pt x="21001101" y="0"/>
                  </a:lnTo>
                  <a:lnTo>
                    <a:pt x="210011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06218" y="9107386"/>
            <a:ext cx="812521" cy="909961"/>
          </a:xfrm>
          <a:custGeom>
            <a:avLst/>
            <a:gdLst/>
            <a:ahLst/>
            <a:cxnLst/>
            <a:rect r="r" b="b" t="t" l="l"/>
            <a:pathLst>
              <a:path h="909961" w="812521">
                <a:moveTo>
                  <a:pt x="0" y="0"/>
                </a:moveTo>
                <a:lnTo>
                  <a:pt x="812520" y="0"/>
                </a:lnTo>
                <a:lnTo>
                  <a:pt x="812520" y="909961"/>
                </a:lnTo>
                <a:lnTo>
                  <a:pt x="0" y="90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4771092" cy="665350"/>
            <a:chOff x="0" y="0"/>
            <a:chExt cx="6361455" cy="887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61430" cy="887095"/>
            </a:xfrm>
            <a:custGeom>
              <a:avLst/>
              <a:gdLst/>
              <a:ahLst/>
              <a:cxnLst/>
              <a:rect r="r" b="b" t="t" l="l"/>
              <a:pathLst>
                <a:path h="887095" w="6361430">
                  <a:moveTo>
                    <a:pt x="0" y="0"/>
                  </a:moveTo>
                  <a:lnTo>
                    <a:pt x="6361430" y="0"/>
                  </a:lnTo>
                  <a:lnTo>
                    <a:pt x="6361430" y="887095"/>
                  </a:lnTo>
                  <a:lnTo>
                    <a:pt x="0" y="887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39615" y="0"/>
            <a:ext cx="565566" cy="665369"/>
            <a:chOff x="0" y="0"/>
            <a:chExt cx="754088" cy="8871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4126" cy="887222"/>
            </a:xfrm>
            <a:custGeom>
              <a:avLst/>
              <a:gdLst/>
              <a:ahLst/>
              <a:cxnLst/>
              <a:rect r="r" b="b" t="t" l="l"/>
              <a:pathLst>
                <a:path h="887222" w="754126">
                  <a:moveTo>
                    <a:pt x="0" y="0"/>
                  </a:moveTo>
                  <a:lnTo>
                    <a:pt x="754126" y="0"/>
                  </a:lnTo>
                  <a:lnTo>
                    <a:pt x="754126" y="887222"/>
                  </a:lnTo>
                  <a:lnTo>
                    <a:pt x="0" y="88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t="0" r="-3" b="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1093" y="40329"/>
            <a:ext cx="4089187" cy="48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Наши приложения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6951" y="1421054"/>
            <a:ext cx="14784753" cy="729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2"/>
              </a:lnSpc>
            </a:pPr>
            <a:r>
              <a:rPr lang="en-US" sz="2262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Сатиновая Альма</a:t>
            </a:r>
          </a:p>
          <a:p>
            <a:pPr algn="l" marL="488366" indent="-244183" lvl="1">
              <a:lnSpc>
                <a:spcPts val="3642"/>
              </a:lnSpc>
              <a:buFont typeface="Arial"/>
              <a:buChar char="•"/>
            </a:pPr>
            <a:r>
              <a:rPr lang="en-US" sz="226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Предпочтение отдается местным поставщикам. </a:t>
            </a:r>
          </a:p>
          <a:p>
            <a:pPr algn="l" marL="488366" indent="-244183" lvl="1">
              <a:lnSpc>
                <a:spcPts val="3642"/>
              </a:lnSpc>
              <a:buFont typeface="Arial"/>
              <a:buChar char="•"/>
            </a:pPr>
            <a:r>
              <a:rPr lang="en-US" sz="226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Осуществляется экологически ответственный отбор продукции; предпочтение отдается товарам в крупной упаковке для уменьшения отходов; закупки у местных производителей и приобретение продукции у женщин-предпринимателей способствуют поддержке местных сообществ.</a:t>
            </a:r>
          </a:p>
          <a:p>
            <a:pPr algn="l" marL="517123" indent="-172374" lvl="2">
              <a:lnSpc>
                <a:spcPts val="3642"/>
              </a:lnSpc>
            </a:pPr>
          </a:p>
          <a:p>
            <a:pPr algn="l">
              <a:lnSpc>
                <a:spcPts val="3642"/>
              </a:lnSpc>
            </a:pPr>
            <a:r>
              <a:rPr lang="en-US" sz="2262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ДЕПО  - БАЗА ХРАНЕНИЯ</a:t>
            </a:r>
          </a:p>
          <a:p>
            <a:pPr algn="l" marL="488366" indent="-244183" lvl="1">
              <a:lnSpc>
                <a:spcPts val="3642"/>
              </a:lnSpc>
              <a:buFont typeface="Arial"/>
              <a:buChar char="•"/>
            </a:pPr>
            <a:r>
              <a:rPr lang="en-US" sz="226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Внедрена система FIFO (First In, First Out — первый пришёл, первый ушёл). Это обеспечивает контроль за сроками годности и предотвращает потери и отходы продукции.</a:t>
            </a:r>
          </a:p>
          <a:p>
            <a:pPr algn="l" marL="517123" indent="-172374" lvl="2">
              <a:lnSpc>
                <a:spcPts val="3642"/>
              </a:lnSpc>
            </a:pPr>
          </a:p>
          <a:p>
            <a:pPr algn="l" marL="517123" indent="-172374" lvl="2">
              <a:lnSpc>
                <a:spcPts val="3642"/>
              </a:lnSpc>
            </a:pPr>
          </a:p>
          <a:p>
            <a:pPr algn="l" marL="517123" indent="-172374" lvl="2">
              <a:lnSpc>
                <a:spcPts val="3642"/>
              </a:lnSpc>
            </a:pPr>
          </a:p>
          <a:p>
            <a:pPr algn="l">
              <a:lnSpc>
                <a:spcPts val="3642"/>
              </a:lnSpc>
            </a:pPr>
            <a:r>
              <a:rPr lang="en-US" sz="226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Вся продукция хранится в условиях, соответствующих установленным температурным стандартам, что минимизирует потери продукции из-за нагрева.</a:t>
            </a:r>
          </a:p>
          <a:p>
            <a:pPr algn="l">
              <a:lnSpc>
                <a:spcPts val="3642"/>
              </a:lnSpc>
            </a:pPr>
            <a:r>
              <a:rPr lang="en-US" sz="226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Оптимальный ассортимент, минимальные отходы.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387" y="9631832"/>
            <a:ext cx="15788973" cy="38100"/>
            <a:chOff x="0" y="0"/>
            <a:chExt cx="21051964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0"/>
              <a:ext cx="21001101" cy="50800"/>
            </a:xfrm>
            <a:custGeom>
              <a:avLst/>
              <a:gdLst/>
              <a:ahLst/>
              <a:cxnLst/>
              <a:rect r="r" b="b" t="t" l="l"/>
              <a:pathLst>
                <a:path h="50800" w="21001101">
                  <a:moveTo>
                    <a:pt x="0" y="0"/>
                  </a:moveTo>
                  <a:lnTo>
                    <a:pt x="21001101" y="0"/>
                  </a:lnTo>
                  <a:lnTo>
                    <a:pt x="210011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06218" y="9107386"/>
            <a:ext cx="812521" cy="909961"/>
          </a:xfrm>
          <a:custGeom>
            <a:avLst/>
            <a:gdLst/>
            <a:ahLst/>
            <a:cxnLst/>
            <a:rect r="r" b="b" t="t" l="l"/>
            <a:pathLst>
              <a:path h="909961" w="812521">
                <a:moveTo>
                  <a:pt x="0" y="0"/>
                </a:moveTo>
                <a:lnTo>
                  <a:pt x="812520" y="0"/>
                </a:lnTo>
                <a:lnTo>
                  <a:pt x="812520" y="909961"/>
                </a:lnTo>
                <a:lnTo>
                  <a:pt x="0" y="90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4771092" cy="665350"/>
            <a:chOff x="0" y="0"/>
            <a:chExt cx="6361455" cy="887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61430" cy="887095"/>
            </a:xfrm>
            <a:custGeom>
              <a:avLst/>
              <a:gdLst/>
              <a:ahLst/>
              <a:cxnLst/>
              <a:rect r="r" b="b" t="t" l="l"/>
              <a:pathLst>
                <a:path h="887095" w="6361430">
                  <a:moveTo>
                    <a:pt x="0" y="0"/>
                  </a:moveTo>
                  <a:lnTo>
                    <a:pt x="6361430" y="0"/>
                  </a:lnTo>
                  <a:lnTo>
                    <a:pt x="6361430" y="887095"/>
                  </a:lnTo>
                  <a:lnTo>
                    <a:pt x="0" y="887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39615" y="0"/>
            <a:ext cx="565566" cy="665369"/>
            <a:chOff x="0" y="0"/>
            <a:chExt cx="754088" cy="8871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4126" cy="887222"/>
            </a:xfrm>
            <a:custGeom>
              <a:avLst/>
              <a:gdLst/>
              <a:ahLst/>
              <a:cxnLst/>
              <a:rect r="r" b="b" t="t" l="l"/>
              <a:pathLst>
                <a:path h="887222" w="754126">
                  <a:moveTo>
                    <a:pt x="0" y="0"/>
                  </a:moveTo>
                  <a:lnTo>
                    <a:pt x="754126" y="0"/>
                  </a:lnTo>
                  <a:lnTo>
                    <a:pt x="754126" y="887222"/>
                  </a:lnTo>
                  <a:lnTo>
                    <a:pt x="0" y="88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t="0" r="-3" b="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1093" y="40329"/>
            <a:ext cx="4089187" cy="48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Наши приложения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1512" y="973379"/>
            <a:ext cx="14651469" cy="811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</a:pPr>
            <a:r>
              <a:rPr lang="en-US" sz="2106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Человеческие ресурсы</a:t>
            </a:r>
          </a:p>
          <a:p>
            <a:pPr algn="l">
              <a:lnSpc>
                <a:spcPts val="3391"/>
              </a:lnSpc>
            </a:pPr>
          </a:p>
          <a:p>
            <a:pPr algn="l" marL="454685" indent="-227343" lvl="1">
              <a:lnSpc>
                <a:spcPts val="3391"/>
              </a:lnSpc>
              <a:buFont typeface="Arial"/>
              <a:buChar char="•"/>
            </a:pPr>
            <a:r>
              <a:rPr lang="en-US" sz="2106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Поддерживается локальная занятость. </a:t>
            </a:r>
          </a:p>
          <a:p>
            <a:pPr algn="l" marL="454685" indent="-227343" lvl="1">
              <a:lnSpc>
                <a:spcPts val="3391"/>
              </a:lnSpc>
              <a:buFont typeface="Arial"/>
              <a:buChar char="•"/>
            </a:pPr>
            <a:r>
              <a:rPr lang="en-US" sz="2106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Проводятся учебные занятия. </a:t>
            </a:r>
          </a:p>
          <a:p>
            <a:pPr algn="l" marL="454685" indent="-227343" lvl="1">
              <a:lnSpc>
                <a:spcPts val="3391"/>
              </a:lnSpc>
              <a:buFont typeface="Arial"/>
              <a:buChar char="•"/>
            </a:pPr>
            <a:r>
              <a:rPr lang="en-US" sz="2106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Предпринимаются шаги для содействия трудоустройству женщин.</a:t>
            </a:r>
          </a:p>
          <a:p>
            <a:pPr algn="l" marL="454685" indent="-227343" lvl="1">
              <a:lnSpc>
                <a:spcPts val="3391"/>
              </a:lnSpc>
              <a:buFont typeface="Arial"/>
              <a:buChar char="•"/>
            </a:pPr>
            <a:r>
              <a:rPr lang="en-US" sz="2106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Для уязвимых групп населения (пожилых людей, инвалидов, женщин и беременных сотрудниц) создаются возможности для обучения и трудоустройства. </a:t>
            </a:r>
          </a:p>
          <a:p>
            <a:pPr algn="l" marL="481464" indent="-160488" lvl="2">
              <a:lnSpc>
                <a:spcPts val="3391"/>
              </a:lnSpc>
            </a:pPr>
          </a:p>
          <a:p>
            <a:pPr algn="l" marL="481464" indent="-160488" lvl="2">
              <a:lnSpc>
                <a:spcPts val="3391"/>
              </a:lnSpc>
            </a:pPr>
            <a:r>
              <a:rPr lang="en-US" b="true" sz="2106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ОТДЕЛ ПО РАБОТЕ С ГОСТЯМИ И УПРАВЛЕНИЮ ВЗАИМООТНОШЕНИЯМИ С КЛИЕНТАМИ</a:t>
            </a:r>
          </a:p>
          <a:p>
            <a:pPr algn="l" marL="481464" indent="-160488" lvl="2">
              <a:lnSpc>
                <a:spcPts val="3391"/>
              </a:lnSpc>
            </a:pPr>
          </a:p>
          <a:p>
            <a:pPr algn="l" marL="454685" indent="-227343" lvl="1">
              <a:lnSpc>
                <a:spcPts val="3391"/>
              </a:lnSpc>
              <a:buFont typeface="Arial"/>
              <a:buChar char="•"/>
            </a:pPr>
            <a:r>
              <a:rPr lang="en-US" sz="2106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Увеличение уровня вовлеченности гостей способствует активной поддержке принципов устойчивого развития.</a:t>
            </a:r>
          </a:p>
          <a:p>
            <a:pPr algn="l" marL="454685" indent="-227343" lvl="1">
              <a:lnSpc>
                <a:spcPts val="3391"/>
              </a:lnSpc>
              <a:buFont typeface="Arial"/>
              <a:buChar char="•"/>
            </a:pPr>
            <a:r>
              <a:rPr lang="en-US" sz="2106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Обратная связь оценивается с использованием измеримой системы.</a:t>
            </a:r>
          </a:p>
          <a:p>
            <a:pPr algn="l" marL="481464" indent="-160488" lvl="2">
              <a:lnSpc>
                <a:spcPts val="3391"/>
              </a:lnSpc>
            </a:pPr>
          </a:p>
          <a:p>
            <a:pPr algn="l">
              <a:lnSpc>
                <a:spcPts val="3391"/>
              </a:lnSpc>
            </a:pPr>
            <a:r>
              <a:rPr lang="en-US" sz="2106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      </a:t>
            </a:r>
            <a:r>
              <a:rPr lang="en-US" sz="2106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ФРОНТ-ОФИС</a:t>
            </a:r>
          </a:p>
          <a:p>
            <a:pPr algn="l" marL="481464" indent="-160488" lvl="2">
              <a:lnSpc>
                <a:spcPts val="3391"/>
              </a:lnSpc>
            </a:pPr>
          </a:p>
          <a:p>
            <a:pPr algn="l" marL="454685" indent="-227343" lvl="1">
              <a:lnSpc>
                <a:spcPts val="3391"/>
              </a:lnSpc>
              <a:buFont typeface="Arial"/>
              <a:buChar char="•"/>
            </a:pPr>
            <a:r>
              <a:rPr lang="en-US" sz="2106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Цифровые транзакции становятся все более популярными (QR-коды применяются вместо бумажных носителей).</a:t>
            </a:r>
          </a:p>
          <a:p>
            <a:pPr algn="l">
              <a:lnSpc>
                <a:spcPts val="3391"/>
              </a:lnSpc>
            </a:pPr>
            <a:r>
              <a:rPr lang="en-US" sz="2106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Вся информация о посетителях представлена в формате QR-кода.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387" y="9631832"/>
            <a:ext cx="15788973" cy="38100"/>
            <a:chOff x="0" y="0"/>
            <a:chExt cx="21051964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0"/>
              <a:ext cx="21001101" cy="50800"/>
            </a:xfrm>
            <a:custGeom>
              <a:avLst/>
              <a:gdLst/>
              <a:ahLst/>
              <a:cxnLst/>
              <a:rect r="r" b="b" t="t" l="l"/>
              <a:pathLst>
                <a:path h="50800" w="21001101">
                  <a:moveTo>
                    <a:pt x="0" y="0"/>
                  </a:moveTo>
                  <a:lnTo>
                    <a:pt x="21001101" y="0"/>
                  </a:lnTo>
                  <a:lnTo>
                    <a:pt x="210011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06218" y="9107386"/>
            <a:ext cx="812521" cy="909961"/>
          </a:xfrm>
          <a:custGeom>
            <a:avLst/>
            <a:gdLst/>
            <a:ahLst/>
            <a:cxnLst/>
            <a:rect r="r" b="b" t="t" l="l"/>
            <a:pathLst>
              <a:path h="909961" w="812521">
                <a:moveTo>
                  <a:pt x="0" y="0"/>
                </a:moveTo>
                <a:lnTo>
                  <a:pt x="812520" y="0"/>
                </a:lnTo>
                <a:lnTo>
                  <a:pt x="812520" y="909961"/>
                </a:lnTo>
                <a:lnTo>
                  <a:pt x="0" y="90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4771092" cy="665350"/>
            <a:chOff x="0" y="0"/>
            <a:chExt cx="6361455" cy="887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61430" cy="887095"/>
            </a:xfrm>
            <a:custGeom>
              <a:avLst/>
              <a:gdLst/>
              <a:ahLst/>
              <a:cxnLst/>
              <a:rect r="r" b="b" t="t" l="l"/>
              <a:pathLst>
                <a:path h="887095" w="6361430">
                  <a:moveTo>
                    <a:pt x="0" y="0"/>
                  </a:moveTo>
                  <a:lnTo>
                    <a:pt x="6361430" y="0"/>
                  </a:lnTo>
                  <a:lnTo>
                    <a:pt x="6361430" y="887095"/>
                  </a:lnTo>
                  <a:lnTo>
                    <a:pt x="0" y="887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39615" y="0"/>
            <a:ext cx="565566" cy="665369"/>
            <a:chOff x="0" y="0"/>
            <a:chExt cx="754088" cy="8871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4126" cy="887222"/>
            </a:xfrm>
            <a:custGeom>
              <a:avLst/>
              <a:gdLst/>
              <a:ahLst/>
              <a:cxnLst/>
              <a:rect r="r" b="b" t="t" l="l"/>
              <a:pathLst>
                <a:path h="887222" w="754126">
                  <a:moveTo>
                    <a:pt x="0" y="0"/>
                  </a:moveTo>
                  <a:lnTo>
                    <a:pt x="754126" y="0"/>
                  </a:lnTo>
                  <a:lnTo>
                    <a:pt x="754126" y="887222"/>
                  </a:lnTo>
                  <a:lnTo>
                    <a:pt x="0" y="88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t="0" r="-3" b="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1093" y="40329"/>
            <a:ext cx="4089187" cy="48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Наши приложения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0252" y="2385328"/>
            <a:ext cx="14847496" cy="500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2281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ПРОДАЖИ И МАРКЕТИНГ</a:t>
            </a:r>
          </a:p>
          <a:p>
            <a:pPr algn="l">
              <a:lnSpc>
                <a:spcPts val="3672"/>
              </a:lnSpc>
            </a:pPr>
          </a:p>
          <a:p>
            <a:pPr algn="l" marL="492468" indent="-246234" lvl="1">
              <a:lnSpc>
                <a:spcPts val="3672"/>
              </a:lnSpc>
              <a:buFont typeface="Arial"/>
              <a:buChar char="•"/>
            </a:pPr>
            <a:r>
              <a:rPr lang="en-US" sz="228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Оно придает значительное значение использованию цифровых коммуникаций. </a:t>
            </a:r>
          </a:p>
          <a:p>
            <a:pPr algn="l" marL="492468" indent="-246234" lvl="1">
              <a:lnSpc>
                <a:spcPts val="3672"/>
              </a:lnSpc>
              <a:buFont typeface="Arial"/>
              <a:buChar char="•"/>
            </a:pPr>
            <a:r>
              <a:rPr lang="en-US" sz="228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Усиливается деятельность по информированию о устойчивом развитии. </a:t>
            </a:r>
          </a:p>
          <a:p>
            <a:pPr algn="l" marL="492468" indent="-246234" lvl="1">
              <a:lnSpc>
                <a:spcPts val="3672"/>
              </a:lnSpc>
              <a:buFont typeface="Arial"/>
              <a:buChar char="•"/>
            </a:pPr>
            <a:r>
              <a:rPr lang="en-US" sz="228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 экспозицию включаются местные пейзажи и исторические достопримечательности.</a:t>
            </a:r>
          </a:p>
          <a:p>
            <a:pPr algn="l" marL="521464" indent="-173821" lvl="2">
              <a:lnSpc>
                <a:spcPts val="3672"/>
              </a:lnSpc>
            </a:pPr>
          </a:p>
          <a:p>
            <a:pPr algn="l" marL="521464" indent="-173821" lvl="2">
              <a:lnSpc>
                <a:spcPts val="3672"/>
              </a:lnSpc>
            </a:pPr>
            <a:r>
              <a:rPr lang="en-US" b="true" sz="2281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ПЕЙЗАЖ</a:t>
            </a:r>
          </a:p>
          <a:p>
            <a:pPr algn="l" marL="521464" indent="-173821" lvl="2">
              <a:lnSpc>
                <a:spcPts val="3672"/>
              </a:lnSpc>
            </a:pPr>
          </a:p>
          <a:p>
            <a:pPr algn="l" marL="492468" indent="-246234" lvl="1">
              <a:lnSpc>
                <a:spcPts val="3672"/>
              </a:lnSpc>
              <a:buFont typeface="Arial"/>
              <a:buChar char="•"/>
            </a:pPr>
            <a:r>
              <a:rPr lang="en-US" sz="228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Предпочтение отдается растениям, устойчивым к засухе.</a:t>
            </a:r>
          </a:p>
          <a:p>
            <a:pPr algn="l" marL="492468" indent="-246234" lvl="1">
              <a:lnSpc>
                <a:spcPts val="3672"/>
              </a:lnSpc>
              <a:buFont typeface="Arial"/>
              <a:buChar char="•"/>
            </a:pPr>
            <a:r>
              <a:rPr lang="en-US" sz="228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Эндемичные и редкие виды находятся под защитой и представляются (показываются) гостям..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387" y="9631832"/>
            <a:ext cx="15788973" cy="38100"/>
            <a:chOff x="0" y="0"/>
            <a:chExt cx="21051964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0"/>
              <a:ext cx="21001101" cy="50800"/>
            </a:xfrm>
            <a:custGeom>
              <a:avLst/>
              <a:gdLst/>
              <a:ahLst/>
              <a:cxnLst/>
              <a:rect r="r" b="b" t="t" l="l"/>
              <a:pathLst>
                <a:path h="50800" w="21001101">
                  <a:moveTo>
                    <a:pt x="0" y="0"/>
                  </a:moveTo>
                  <a:lnTo>
                    <a:pt x="21001101" y="0"/>
                  </a:lnTo>
                  <a:lnTo>
                    <a:pt x="210011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06218" y="9107386"/>
            <a:ext cx="812521" cy="909961"/>
          </a:xfrm>
          <a:custGeom>
            <a:avLst/>
            <a:gdLst/>
            <a:ahLst/>
            <a:cxnLst/>
            <a:rect r="r" b="b" t="t" l="l"/>
            <a:pathLst>
              <a:path h="909961" w="812521">
                <a:moveTo>
                  <a:pt x="0" y="0"/>
                </a:moveTo>
                <a:lnTo>
                  <a:pt x="812520" y="0"/>
                </a:lnTo>
                <a:lnTo>
                  <a:pt x="812520" y="909961"/>
                </a:lnTo>
                <a:lnTo>
                  <a:pt x="0" y="90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4771092" cy="665350"/>
            <a:chOff x="0" y="0"/>
            <a:chExt cx="6361455" cy="887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61430" cy="887095"/>
            </a:xfrm>
            <a:custGeom>
              <a:avLst/>
              <a:gdLst/>
              <a:ahLst/>
              <a:cxnLst/>
              <a:rect r="r" b="b" t="t" l="l"/>
              <a:pathLst>
                <a:path h="887095" w="6361430">
                  <a:moveTo>
                    <a:pt x="0" y="0"/>
                  </a:moveTo>
                  <a:lnTo>
                    <a:pt x="6361430" y="0"/>
                  </a:lnTo>
                  <a:lnTo>
                    <a:pt x="6361430" y="887095"/>
                  </a:lnTo>
                  <a:lnTo>
                    <a:pt x="0" y="887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39615" y="0"/>
            <a:ext cx="565566" cy="665369"/>
            <a:chOff x="0" y="0"/>
            <a:chExt cx="754088" cy="8871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4126" cy="887222"/>
            </a:xfrm>
            <a:custGeom>
              <a:avLst/>
              <a:gdLst/>
              <a:ahLst/>
              <a:cxnLst/>
              <a:rect r="r" b="b" t="t" l="l"/>
              <a:pathLst>
                <a:path h="887222" w="754126">
                  <a:moveTo>
                    <a:pt x="0" y="0"/>
                  </a:moveTo>
                  <a:lnTo>
                    <a:pt x="754126" y="0"/>
                  </a:lnTo>
                  <a:lnTo>
                    <a:pt x="754126" y="887222"/>
                  </a:lnTo>
                  <a:lnTo>
                    <a:pt x="0" y="88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t="0" r="-3" b="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01086" y="981494"/>
            <a:ext cx="14992302" cy="753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083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БЕЗОПАСНОСТЬ</a:t>
            </a:r>
          </a:p>
          <a:p>
            <a:pPr algn="l">
              <a:lnSpc>
                <a:spcPts val="3354"/>
              </a:lnSpc>
            </a:pPr>
          </a:p>
          <a:p>
            <a:pPr algn="l">
              <a:lnSpc>
                <a:spcPts val="3354"/>
              </a:lnSpc>
            </a:pP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Безопасность на всей территории объекта гарантируется в соответствии с действующими правовыми нормами и принципами защиты данных, а также поддерживается технологической инфраструктурой. </a:t>
            </a:r>
          </a:p>
          <a:p>
            <a:pPr algn="l">
              <a:lnSpc>
                <a:spcPts val="3354"/>
              </a:lnSpc>
            </a:pPr>
          </a:p>
          <a:p>
            <a:pPr algn="l">
              <a:lnSpc>
                <a:spcPts val="3354"/>
              </a:lnSpc>
            </a:pP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Для детей и гостей, нуждающихся в поддержке, внедрены специальные меры безопасности, и защита этих групп считается приоритетной задачей. Гости, нуждающиеся в поддержке;</a:t>
            </a:r>
          </a:p>
          <a:p>
            <a:pPr algn="l">
              <a:lnSpc>
                <a:spcPts val="3354"/>
              </a:lnSpc>
            </a:pP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Дети (особенно без сопровождения взрослых или без родительского контроля)</a:t>
            </a:r>
          </a:p>
          <a:p>
            <a:pPr algn="l" marL="476252" indent="-158751" lvl="2">
              <a:lnSpc>
                <a:spcPts val="3354"/>
              </a:lnSpc>
            </a:pPr>
          </a:p>
          <a:p>
            <a:pPr algn="l" marL="449720" indent="-224860" lvl="1">
              <a:lnSpc>
                <a:spcPts val="3354"/>
              </a:lnSpc>
              <a:buFont typeface="Arial"/>
              <a:buChar char="•"/>
            </a:pP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пожилых посетителей</a:t>
            </a:r>
          </a:p>
          <a:p>
            <a:pPr algn="l" marL="449720" indent="-224860" lvl="1">
              <a:lnSpc>
                <a:spcPts val="3354"/>
              </a:lnSpc>
              <a:buFont typeface="Arial"/>
              <a:buChar char="•"/>
            </a:pP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Лица с ограниченными возможностями (физическими, психическими или сенсорными).</a:t>
            </a:r>
          </a:p>
          <a:p>
            <a:pPr algn="l" marL="449720" indent="-224860" lvl="1">
              <a:lnSpc>
                <a:spcPts val="3354"/>
              </a:lnSpc>
              <a:buFont typeface="Arial"/>
              <a:buChar char="•"/>
            </a:pP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беременные посетители</a:t>
            </a:r>
          </a:p>
          <a:p>
            <a:pPr algn="l" marL="449720" indent="-224860" lvl="1">
              <a:lnSpc>
                <a:spcPts val="3354"/>
              </a:lnSpc>
              <a:buFont typeface="Arial"/>
              <a:buChar char="•"/>
            </a:pP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Лица, сталкивающиеся с временными проблемами со здоровьем (травма, заболевание и т. д.)</a:t>
            </a:r>
          </a:p>
          <a:p>
            <a:pPr algn="l" marL="449720" indent="-224860" lvl="1">
              <a:lnSpc>
                <a:spcPts val="3354"/>
              </a:lnSpc>
              <a:buFont typeface="Arial"/>
              <a:buChar char="•"/>
            </a:pP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К данной категории относятся иностранные гости, испытывающие трудности в общении из-за языкового барьера. Для таких групп предусмотрены меры защиты, наставничества и поддержки.</a:t>
            </a:r>
          </a:p>
          <a:p>
            <a:pPr algn="l" marL="476252" indent="-158751" lvl="2">
              <a:lnSpc>
                <a:spcPts val="3354"/>
              </a:lnSpc>
            </a:pPr>
          </a:p>
          <a:p>
            <a:pPr algn="l">
              <a:lnSpc>
                <a:spcPts val="3354"/>
              </a:lnSpc>
            </a:pP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Системы видеонаблюдения применяются для обеспечения безопасности гостей и сотрудников, при этом методы охраны постоянно улучшаются через регулярное обучение и оперативные проверки.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1093" y="40329"/>
            <a:ext cx="4089187" cy="48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Наши приложения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387" y="9631832"/>
            <a:ext cx="15788973" cy="38100"/>
            <a:chOff x="0" y="0"/>
            <a:chExt cx="21051964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0"/>
              <a:ext cx="21001101" cy="50800"/>
            </a:xfrm>
            <a:custGeom>
              <a:avLst/>
              <a:gdLst/>
              <a:ahLst/>
              <a:cxnLst/>
              <a:rect r="r" b="b" t="t" l="l"/>
              <a:pathLst>
                <a:path h="50800" w="21001101">
                  <a:moveTo>
                    <a:pt x="0" y="0"/>
                  </a:moveTo>
                  <a:lnTo>
                    <a:pt x="21001101" y="0"/>
                  </a:lnTo>
                  <a:lnTo>
                    <a:pt x="210011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06218" y="9107386"/>
            <a:ext cx="812521" cy="909961"/>
          </a:xfrm>
          <a:custGeom>
            <a:avLst/>
            <a:gdLst/>
            <a:ahLst/>
            <a:cxnLst/>
            <a:rect r="r" b="b" t="t" l="l"/>
            <a:pathLst>
              <a:path h="909961" w="812521">
                <a:moveTo>
                  <a:pt x="0" y="0"/>
                </a:moveTo>
                <a:lnTo>
                  <a:pt x="812520" y="0"/>
                </a:lnTo>
                <a:lnTo>
                  <a:pt x="812520" y="909961"/>
                </a:lnTo>
                <a:lnTo>
                  <a:pt x="0" y="90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4771092" cy="665350"/>
            <a:chOff x="0" y="0"/>
            <a:chExt cx="6361455" cy="887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61430" cy="887095"/>
            </a:xfrm>
            <a:custGeom>
              <a:avLst/>
              <a:gdLst/>
              <a:ahLst/>
              <a:cxnLst/>
              <a:rect r="r" b="b" t="t" l="l"/>
              <a:pathLst>
                <a:path h="887095" w="6361430">
                  <a:moveTo>
                    <a:pt x="0" y="0"/>
                  </a:moveTo>
                  <a:lnTo>
                    <a:pt x="6361430" y="0"/>
                  </a:lnTo>
                  <a:lnTo>
                    <a:pt x="6361430" y="887095"/>
                  </a:lnTo>
                  <a:lnTo>
                    <a:pt x="0" y="887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39615" y="0"/>
            <a:ext cx="565566" cy="665369"/>
            <a:chOff x="0" y="0"/>
            <a:chExt cx="754088" cy="8871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4126" cy="887222"/>
            </a:xfrm>
            <a:custGeom>
              <a:avLst/>
              <a:gdLst/>
              <a:ahLst/>
              <a:cxnLst/>
              <a:rect r="r" b="b" t="t" l="l"/>
              <a:pathLst>
                <a:path h="887222" w="754126">
                  <a:moveTo>
                    <a:pt x="0" y="0"/>
                  </a:moveTo>
                  <a:lnTo>
                    <a:pt x="754126" y="0"/>
                  </a:lnTo>
                  <a:lnTo>
                    <a:pt x="754126" y="887222"/>
                  </a:lnTo>
                  <a:lnTo>
                    <a:pt x="0" y="88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t="0" r="-3" b="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418149" y="2188731"/>
            <a:ext cx="8869851" cy="5909539"/>
            <a:chOff x="0" y="0"/>
            <a:chExt cx="11826469" cy="78793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826494" cy="7879334"/>
            </a:xfrm>
            <a:custGeom>
              <a:avLst/>
              <a:gdLst/>
              <a:ahLst/>
              <a:cxnLst/>
              <a:rect r="r" b="b" t="t" l="l"/>
              <a:pathLst>
                <a:path h="7879334" w="11826494">
                  <a:moveTo>
                    <a:pt x="0" y="0"/>
                  </a:moveTo>
                  <a:lnTo>
                    <a:pt x="11826494" y="0"/>
                  </a:lnTo>
                  <a:lnTo>
                    <a:pt x="11826494" y="7879334"/>
                  </a:lnTo>
                  <a:lnTo>
                    <a:pt x="0" y="7879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1" r="0" b="-3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11093" y="40329"/>
            <a:ext cx="4089187" cy="48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Наши приложения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1330" y="1486338"/>
            <a:ext cx="7527712" cy="775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4"/>
              </a:lnSpc>
            </a:pPr>
            <a:r>
              <a:rPr lang="en-US" sz="2387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СПА И ВЕЛНЕС</a:t>
            </a:r>
          </a:p>
          <a:p>
            <a:pPr algn="l" marL="515569" indent="-257785" lvl="1">
              <a:lnSpc>
                <a:spcPts val="3844"/>
              </a:lnSpc>
              <a:buFont typeface="Arial"/>
              <a:buChar char="•"/>
            </a:pPr>
            <a:r>
              <a:rPr lang="en-US" sz="238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Предпочтение отдается натуральным и экологически безопасным продуктам.</a:t>
            </a:r>
          </a:p>
          <a:p>
            <a:pPr algn="l" marL="515569" indent="-257785" lvl="1">
              <a:lnSpc>
                <a:spcPts val="3844"/>
              </a:lnSpc>
              <a:buFont typeface="Arial"/>
              <a:buChar char="•"/>
            </a:pPr>
            <a:r>
              <a:rPr lang="en-US" sz="238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Наша турецкая баня предоставляет возможность познакомить всех наших гостей с местной культурой.</a:t>
            </a:r>
          </a:p>
          <a:p>
            <a:pPr algn="l" marL="545964" indent="-181988" lvl="2">
              <a:lnSpc>
                <a:spcPts val="3844"/>
              </a:lnSpc>
            </a:pPr>
          </a:p>
          <a:p>
            <a:pPr algn="l" marL="545964" indent="-181988" lvl="2">
              <a:lnSpc>
                <a:spcPts val="3844"/>
              </a:lnSpc>
            </a:pPr>
            <a:r>
              <a:rPr lang="en-US" b="true" sz="2387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АНИМАЦИЯ</a:t>
            </a:r>
          </a:p>
          <a:p>
            <a:pPr algn="l" marL="515569" indent="-257785" lvl="1">
              <a:lnSpc>
                <a:spcPts val="3844"/>
              </a:lnSpc>
              <a:buFont typeface="Arial"/>
              <a:buChar char="•"/>
            </a:pPr>
            <a:r>
              <a:rPr lang="en-US" sz="238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Проводятся мероприятия, посвященные устойчивому развитию. </a:t>
            </a:r>
          </a:p>
          <a:p>
            <a:pPr algn="l" marL="545964" indent="-181988" lvl="2">
              <a:lnSpc>
                <a:spcPts val="3844"/>
              </a:lnSpc>
            </a:pPr>
          </a:p>
          <a:p>
            <a:pPr algn="l" marL="545964" indent="-181988" lvl="2">
              <a:lnSpc>
                <a:spcPts val="3844"/>
              </a:lnSpc>
            </a:pPr>
            <a:r>
              <a:rPr lang="en-US" b="true" sz="2387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КАЧЕСТВО И ДОЛГОВЕЧНОСТЬ</a:t>
            </a:r>
          </a:p>
          <a:p>
            <a:pPr algn="l" marL="515569" indent="-257785" lvl="1">
              <a:lnSpc>
                <a:spcPts val="3844"/>
              </a:lnSpc>
              <a:buFont typeface="Arial"/>
              <a:buChar char="•"/>
            </a:pPr>
            <a:r>
              <a:rPr lang="en-US" sz="238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Все процессы контролируются в рамках измеримой системы. </a:t>
            </a:r>
          </a:p>
          <a:p>
            <a:pPr algn="l" marL="515569" indent="-257785" lvl="1">
              <a:lnSpc>
                <a:spcPts val="3844"/>
              </a:lnSpc>
              <a:buFont typeface="Arial"/>
              <a:buChar char="•"/>
            </a:pPr>
            <a:r>
              <a:rPr lang="en-US" sz="238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Производительность анализируется и оптимизируется.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387" y="9631832"/>
            <a:ext cx="15788973" cy="38100"/>
            <a:chOff x="0" y="0"/>
            <a:chExt cx="21051964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0"/>
              <a:ext cx="21001101" cy="50800"/>
            </a:xfrm>
            <a:custGeom>
              <a:avLst/>
              <a:gdLst/>
              <a:ahLst/>
              <a:cxnLst/>
              <a:rect r="r" b="b" t="t" l="l"/>
              <a:pathLst>
                <a:path h="50800" w="21001101">
                  <a:moveTo>
                    <a:pt x="0" y="0"/>
                  </a:moveTo>
                  <a:lnTo>
                    <a:pt x="21001101" y="0"/>
                  </a:lnTo>
                  <a:lnTo>
                    <a:pt x="210011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06218" y="9107386"/>
            <a:ext cx="812521" cy="909961"/>
          </a:xfrm>
          <a:custGeom>
            <a:avLst/>
            <a:gdLst/>
            <a:ahLst/>
            <a:cxnLst/>
            <a:rect r="r" b="b" t="t" l="l"/>
            <a:pathLst>
              <a:path h="909961" w="812521">
                <a:moveTo>
                  <a:pt x="0" y="0"/>
                </a:moveTo>
                <a:lnTo>
                  <a:pt x="812520" y="0"/>
                </a:lnTo>
                <a:lnTo>
                  <a:pt x="812520" y="909961"/>
                </a:lnTo>
                <a:lnTo>
                  <a:pt x="0" y="90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4771092" cy="665350"/>
            <a:chOff x="0" y="0"/>
            <a:chExt cx="6361455" cy="887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61430" cy="887095"/>
            </a:xfrm>
            <a:custGeom>
              <a:avLst/>
              <a:gdLst/>
              <a:ahLst/>
              <a:cxnLst/>
              <a:rect r="r" b="b" t="t" l="l"/>
              <a:pathLst>
                <a:path h="887095" w="6361430">
                  <a:moveTo>
                    <a:pt x="0" y="0"/>
                  </a:moveTo>
                  <a:lnTo>
                    <a:pt x="6361430" y="0"/>
                  </a:lnTo>
                  <a:lnTo>
                    <a:pt x="6361430" y="887095"/>
                  </a:lnTo>
                  <a:lnTo>
                    <a:pt x="0" y="887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39615" y="0"/>
            <a:ext cx="565566" cy="665369"/>
            <a:chOff x="0" y="0"/>
            <a:chExt cx="754088" cy="8871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4126" cy="887222"/>
            </a:xfrm>
            <a:custGeom>
              <a:avLst/>
              <a:gdLst/>
              <a:ahLst/>
              <a:cxnLst/>
              <a:rect r="r" b="b" t="t" l="l"/>
              <a:pathLst>
                <a:path h="887222" w="754126">
                  <a:moveTo>
                    <a:pt x="0" y="0"/>
                  </a:moveTo>
                  <a:lnTo>
                    <a:pt x="754126" y="0"/>
                  </a:lnTo>
                  <a:lnTo>
                    <a:pt x="754126" y="887222"/>
                  </a:lnTo>
                  <a:lnTo>
                    <a:pt x="0" y="88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t="0" r="-3" b="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0209" y="1161833"/>
            <a:ext cx="15336152" cy="8275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1"/>
              </a:lnSpc>
            </a:pPr>
            <a:r>
              <a:rPr lang="en-US" sz="2547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Наши цели в области</a:t>
            </a:r>
            <a:r>
              <a:rPr lang="en-US" sz="2547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 устойчивого развития на 2026 год</a:t>
            </a:r>
          </a:p>
          <a:p>
            <a:pPr algn="l">
              <a:lnSpc>
                <a:spcPts val="4102"/>
              </a:lnSpc>
            </a:pPr>
          </a:p>
          <a:p>
            <a:pPr algn="l">
              <a:lnSpc>
                <a:spcPts val="3414"/>
              </a:lnSpc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Устойчивое</a:t>
            </a: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развитие является неотъемлемой частью нашей повседневной деятельности в Başka Resort Bodrum.</a:t>
            </a:r>
          </a:p>
          <a:p>
            <a:pPr algn="l">
              <a:lnSpc>
                <a:spcPts val="3415"/>
              </a:lnSpc>
            </a:pPr>
          </a:p>
          <a:p>
            <a:pPr algn="l">
              <a:lnSpc>
                <a:spcPts val="3414"/>
              </a:lnSpc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Наша цель на 2026 год — укрепить существующие практики и обеспечить их эффективное внедрение во всех подразделениях.</a:t>
            </a:r>
          </a:p>
          <a:p>
            <a:pPr algn="l">
              <a:lnSpc>
                <a:spcPts val="3414"/>
              </a:lnSpc>
            </a:pPr>
          </a:p>
          <a:p>
            <a:pPr algn="l">
              <a:lnSpc>
                <a:spcPts val="3415"/>
              </a:lnSpc>
            </a:pPr>
          </a:p>
          <a:p>
            <a:pPr algn="l" marL="457936" indent="-228968" lvl="1">
              <a:lnSpc>
                <a:spcPts val="3414"/>
              </a:lnSpc>
              <a:buFont typeface="Arial"/>
              <a:buChar char="•"/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Регулярно и сопоставимо отслеживать потребление воды, энергии и образование отходов</a:t>
            </a:r>
          </a:p>
          <a:p>
            <a:pPr algn="l" marL="457936" indent="-228968" lvl="1">
              <a:lnSpc>
                <a:spcPts val="3415"/>
              </a:lnSpc>
              <a:buFont typeface="Arial"/>
              <a:buChar char="•"/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Контролировать</a:t>
            </a: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и оценивать показатели устойчивого развития во всех</a:t>
            </a: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подразделениях</a:t>
            </a:r>
          </a:p>
          <a:p>
            <a:pPr algn="l" marL="457936" indent="-228968" lvl="1">
              <a:lnSpc>
                <a:spcPts val="3415"/>
              </a:lnSpc>
              <a:buFont typeface="Arial"/>
              <a:buChar char="•"/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Расширять практики,</a:t>
            </a: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направленные на сокращение</a:t>
            </a: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пищевых отходов и избыточного потебления</a:t>
            </a:r>
          </a:p>
          <a:p>
            <a:pPr algn="l" marL="457936" indent="-228968" lvl="1">
              <a:lnSpc>
                <a:spcPts val="3414"/>
              </a:lnSpc>
              <a:buFont typeface="Arial"/>
              <a:buChar char="•"/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Увеличивать использование местных и устойчивых продуктов</a:t>
            </a:r>
          </a:p>
          <a:p>
            <a:pPr algn="l" marL="457936" indent="-228968" lvl="1">
              <a:lnSpc>
                <a:spcPts val="3414"/>
              </a:lnSpc>
              <a:buFont typeface="Arial"/>
              <a:buChar char="•"/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Сокращать использование одноразовых изделий</a:t>
            </a:r>
          </a:p>
          <a:p>
            <a:pPr algn="l" marL="457936" indent="-228968" lvl="1">
              <a:lnSpc>
                <a:spcPts val="3415"/>
              </a:lnSpc>
              <a:buFont typeface="Arial"/>
              <a:buChar char="•"/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Обеспечивать</a:t>
            </a: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правильную сортировку отходов</a:t>
            </a:r>
          </a:p>
          <a:p>
            <a:pPr algn="l" marL="457936" indent="-228968" lvl="1">
              <a:lnSpc>
                <a:spcPts val="3415"/>
              </a:lnSpc>
              <a:buFont typeface="Arial"/>
              <a:buChar char="•"/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Проводить обучение сотрудников по вопросам устойчивого развития и повышать их вовлеченность</a:t>
            </a:r>
          </a:p>
          <a:p>
            <a:pPr algn="l" marL="457936" indent="-228968" lvl="1">
              <a:lnSpc>
                <a:spcPts val="3414"/>
              </a:lnSpc>
              <a:buFont typeface="Arial"/>
              <a:buChar char="•"/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Информировать гостей об устойчивом развитии и вовлекать их в этот процесс</a:t>
            </a:r>
          </a:p>
          <a:p>
            <a:pPr algn="l" marL="457936" indent="-228968" lvl="1">
              <a:lnSpc>
                <a:spcPts val="3414"/>
              </a:lnSpc>
              <a:buFont typeface="Arial"/>
              <a:buChar char="•"/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Регулярно</a:t>
            </a: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пересматривать и совершенствовать все практики</a:t>
            </a:r>
          </a:p>
          <a:p>
            <a:pPr algn="l">
              <a:lnSpc>
                <a:spcPts val="341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11093" y="40329"/>
            <a:ext cx="4089187" cy="48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Наши приложения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387" y="9631832"/>
            <a:ext cx="15788973" cy="38100"/>
            <a:chOff x="0" y="0"/>
            <a:chExt cx="21051964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0"/>
              <a:ext cx="21001101" cy="50800"/>
            </a:xfrm>
            <a:custGeom>
              <a:avLst/>
              <a:gdLst/>
              <a:ahLst/>
              <a:cxnLst/>
              <a:rect r="r" b="b" t="t" l="l"/>
              <a:pathLst>
                <a:path h="50800" w="21001101">
                  <a:moveTo>
                    <a:pt x="0" y="0"/>
                  </a:moveTo>
                  <a:lnTo>
                    <a:pt x="21001101" y="0"/>
                  </a:lnTo>
                  <a:lnTo>
                    <a:pt x="210011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06218" y="9107386"/>
            <a:ext cx="812521" cy="909961"/>
          </a:xfrm>
          <a:custGeom>
            <a:avLst/>
            <a:gdLst/>
            <a:ahLst/>
            <a:cxnLst/>
            <a:rect r="r" b="b" t="t" l="l"/>
            <a:pathLst>
              <a:path h="909961" w="812521">
                <a:moveTo>
                  <a:pt x="0" y="0"/>
                </a:moveTo>
                <a:lnTo>
                  <a:pt x="812520" y="0"/>
                </a:lnTo>
                <a:lnTo>
                  <a:pt x="812520" y="909961"/>
                </a:lnTo>
                <a:lnTo>
                  <a:pt x="0" y="90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4771092" cy="665350"/>
            <a:chOff x="0" y="0"/>
            <a:chExt cx="6361455" cy="887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61430" cy="887095"/>
            </a:xfrm>
            <a:custGeom>
              <a:avLst/>
              <a:gdLst/>
              <a:ahLst/>
              <a:cxnLst/>
              <a:rect r="r" b="b" t="t" l="l"/>
              <a:pathLst>
                <a:path h="887095" w="6361430">
                  <a:moveTo>
                    <a:pt x="0" y="0"/>
                  </a:moveTo>
                  <a:lnTo>
                    <a:pt x="6361430" y="0"/>
                  </a:lnTo>
                  <a:lnTo>
                    <a:pt x="6361430" y="887095"/>
                  </a:lnTo>
                  <a:lnTo>
                    <a:pt x="0" y="887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39615" y="0"/>
            <a:ext cx="565566" cy="665369"/>
            <a:chOff x="0" y="0"/>
            <a:chExt cx="754088" cy="8871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4126" cy="887222"/>
            </a:xfrm>
            <a:custGeom>
              <a:avLst/>
              <a:gdLst/>
              <a:ahLst/>
              <a:cxnLst/>
              <a:rect r="r" b="b" t="t" l="l"/>
              <a:pathLst>
                <a:path h="887222" w="754126">
                  <a:moveTo>
                    <a:pt x="0" y="0"/>
                  </a:moveTo>
                  <a:lnTo>
                    <a:pt x="754126" y="0"/>
                  </a:lnTo>
                  <a:lnTo>
                    <a:pt x="754126" y="887222"/>
                  </a:lnTo>
                  <a:lnTo>
                    <a:pt x="0" y="88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t="0" r="-3" b="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0209" y="1494236"/>
            <a:ext cx="15336152" cy="742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1"/>
              </a:lnSpc>
            </a:pPr>
            <a:r>
              <a:rPr lang="en-US" sz="2547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Наши цели в области</a:t>
            </a:r>
            <a:r>
              <a:rPr lang="en-US" sz="2547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 устойчивого развития на 2030 год</a:t>
            </a:r>
          </a:p>
          <a:p>
            <a:pPr algn="l">
              <a:lnSpc>
                <a:spcPts val="4102"/>
              </a:lnSpc>
            </a:pPr>
          </a:p>
          <a:p>
            <a:pPr algn="l">
              <a:lnSpc>
                <a:spcPts val="3414"/>
              </a:lnSpc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Başka Resort Bodrum стремится повысить показатели устойчивого развития, принимая за основу 2026 год.</a:t>
            </a:r>
          </a:p>
          <a:p>
            <a:pPr algn="l">
              <a:lnSpc>
                <a:spcPts val="3414"/>
              </a:lnSpc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 этом направлении:</a:t>
            </a:r>
          </a:p>
          <a:p>
            <a:pPr algn="l">
              <a:lnSpc>
                <a:spcPts val="3415"/>
              </a:lnSpc>
            </a:pPr>
          </a:p>
          <a:p>
            <a:pPr algn="l" marL="457936" indent="-228968" lvl="1">
              <a:lnSpc>
                <a:spcPts val="3414"/>
              </a:lnSpc>
              <a:buFont typeface="Arial"/>
              <a:buChar char="•"/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Сок</a:t>
            </a: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ратить потребление воды на 10%</a:t>
            </a:r>
          </a:p>
          <a:p>
            <a:pPr algn="l" marL="457936" indent="-228968" lvl="1">
              <a:lnSpc>
                <a:spcPts val="3414"/>
              </a:lnSpc>
              <a:buFont typeface="Arial"/>
              <a:buChar char="•"/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Повысить э</a:t>
            </a: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нергоэффективность</a:t>
            </a: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на 10%</a:t>
            </a:r>
          </a:p>
          <a:p>
            <a:pPr algn="l" marL="457936" indent="-228968" lvl="1">
              <a:lnSpc>
                <a:spcPts val="3414"/>
              </a:lnSpc>
              <a:buFont typeface="Arial"/>
              <a:buChar char="•"/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Сократить пищевые отходы на 10%</a:t>
            </a:r>
          </a:p>
          <a:p>
            <a:pPr algn="l" marL="457936" indent="-228968" lvl="1">
              <a:lnSpc>
                <a:spcPts val="3415"/>
              </a:lnSpc>
              <a:buFont typeface="Arial"/>
              <a:buChar char="•"/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Ув</a:t>
            </a: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елич</a:t>
            </a: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ить у</a:t>
            </a: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ровень переработки</a:t>
            </a: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отходов на 10%</a:t>
            </a:r>
          </a:p>
          <a:p>
            <a:pPr algn="l" marL="457936" indent="-228968" lvl="1">
              <a:lnSpc>
                <a:spcPts val="3414"/>
              </a:lnSpc>
              <a:buFont typeface="Arial"/>
              <a:buChar char="•"/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Увеличить использование местных и устойчивых продуктов на 10%</a:t>
            </a:r>
          </a:p>
          <a:p>
            <a:pPr algn="l" marL="457936" indent="-228968" lvl="1">
              <a:lnSpc>
                <a:spcPts val="3414"/>
              </a:lnSpc>
              <a:buFont typeface="Arial"/>
              <a:buChar char="•"/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Сократить использование одноразовых изделий на 10%</a:t>
            </a:r>
          </a:p>
          <a:p>
            <a:pPr algn="l" marL="457936" indent="-228968" lvl="1">
              <a:lnSpc>
                <a:spcPts val="3414"/>
              </a:lnSpc>
              <a:buFont typeface="Arial"/>
              <a:buChar char="•"/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Увеличить</a:t>
            </a: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ежегодное количество часов обучения сотрудников по устойчивому развитию (например, с 8 до 12 часов)</a:t>
            </a:r>
          </a:p>
          <a:p>
            <a:pPr algn="l" marL="457936" indent="-228968" lvl="1">
              <a:lnSpc>
                <a:spcPts val="3414"/>
              </a:lnSpc>
              <a:buFont typeface="Arial"/>
              <a:buChar char="•"/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Развивать занятость женщин и обеспечивать равные возможности</a:t>
            </a:r>
          </a:p>
          <a:p>
            <a:pPr algn="l" marL="457936" indent="-228968" lvl="1">
              <a:lnSpc>
                <a:spcPts val="3414"/>
              </a:lnSpc>
              <a:buFont typeface="Arial"/>
              <a:buChar char="•"/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Повышать участие сотрудников в процессах </a:t>
            </a: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устойчивого</a:t>
            </a: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развития</a:t>
            </a:r>
          </a:p>
          <a:p>
            <a:pPr algn="l" marL="457936" indent="-228968" lvl="1">
              <a:lnSpc>
                <a:spcPts val="3414"/>
              </a:lnSpc>
              <a:buFont typeface="Arial"/>
              <a:buChar char="•"/>
            </a:pPr>
            <a:r>
              <a:rPr lang="en-US" sz="212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Повышать осведомленность гостей</a:t>
            </a:r>
          </a:p>
          <a:p>
            <a:pPr algn="l">
              <a:lnSpc>
                <a:spcPts val="341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11093" y="40329"/>
            <a:ext cx="4089187" cy="48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Наши приложения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387" y="9631832"/>
            <a:ext cx="15788973" cy="38100"/>
            <a:chOff x="0" y="0"/>
            <a:chExt cx="21051964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0"/>
              <a:ext cx="21001101" cy="50800"/>
            </a:xfrm>
            <a:custGeom>
              <a:avLst/>
              <a:gdLst/>
              <a:ahLst/>
              <a:cxnLst/>
              <a:rect r="r" b="b" t="t" l="l"/>
              <a:pathLst>
                <a:path h="50800" w="21001101">
                  <a:moveTo>
                    <a:pt x="0" y="0"/>
                  </a:moveTo>
                  <a:lnTo>
                    <a:pt x="21001101" y="0"/>
                  </a:lnTo>
                  <a:lnTo>
                    <a:pt x="210011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06218" y="9107386"/>
            <a:ext cx="812521" cy="909961"/>
          </a:xfrm>
          <a:custGeom>
            <a:avLst/>
            <a:gdLst/>
            <a:ahLst/>
            <a:cxnLst/>
            <a:rect r="r" b="b" t="t" l="l"/>
            <a:pathLst>
              <a:path h="909961" w="812521">
                <a:moveTo>
                  <a:pt x="0" y="0"/>
                </a:moveTo>
                <a:lnTo>
                  <a:pt x="812520" y="0"/>
                </a:lnTo>
                <a:lnTo>
                  <a:pt x="812520" y="909961"/>
                </a:lnTo>
                <a:lnTo>
                  <a:pt x="0" y="90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4771092" cy="665350"/>
            <a:chOff x="0" y="0"/>
            <a:chExt cx="6361455" cy="887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61430" cy="887095"/>
            </a:xfrm>
            <a:custGeom>
              <a:avLst/>
              <a:gdLst/>
              <a:ahLst/>
              <a:cxnLst/>
              <a:rect r="r" b="b" t="t" l="l"/>
              <a:pathLst>
                <a:path h="887095" w="6361430">
                  <a:moveTo>
                    <a:pt x="0" y="0"/>
                  </a:moveTo>
                  <a:lnTo>
                    <a:pt x="6361430" y="0"/>
                  </a:lnTo>
                  <a:lnTo>
                    <a:pt x="6361430" y="887095"/>
                  </a:lnTo>
                  <a:lnTo>
                    <a:pt x="0" y="887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39615" y="0"/>
            <a:ext cx="565566" cy="665369"/>
            <a:chOff x="0" y="0"/>
            <a:chExt cx="754088" cy="8871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4126" cy="887222"/>
            </a:xfrm>
            <a:custGeom>
              <a:avLst/>
              <a:gdLst/>
              <a:ahLst/>
              <a:cxnLst/>
              <a:rect r="r" b="b" t="t" l="l"/>
              <a:pathLst>
                <a:path h="887222" w="754126">
                  <a:moveTo>
                    <a:pt x="0" y="0"/>
                  </a:moveTo>
                  <a:lnTo>
                    <a:pt x="754126" y="0"/>
                  </a:lnTo>
                  <a:lnTo>
                    <a:pt x="754126" y="887222"/>
                  </a:lnTo>
                  <a:lnTo>
                    <a:pt x="0" y="887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t="0" r="-3" b="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1093" y="40329"/>
            <a:ext cx="4089187" cy="48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Наши приложения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37205" y="2854621"/>
            <a:ext cx="15013591" cy="4347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4"/>
              </a:lnSpc>
            </a:pPr>
            <a:r>
              <a:rPr lang="en-US" sz="2387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ЗАКЛЮЧЕНИЕ</a:t>
            </a:r>
          </a:p>
          <a:p>
            <a:pPr algn="l">
              <a:lnSpc>
                <a:spcPts val="3844"/>
              </a:lnSpc>
            </a:pPr>
          </a:p>
          <a:p>
            <a:pPr algn="l">
              <a:lnSpc>
                <a:spcPts val="3844"/>
              </a:lnSpc>
            </a:pPr>
            <a:r>
              <a:rPr lang="en-US" sz="238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В курортном комплексе Başka Resort Bodrum концепция «</a:t>
            </a:r>
            <a:r>
              <a:rPr lang="en-US" sz="2387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устойчивого развития</a:t>
            </a:r>
            <a:r>
              <a:rPr lang="en-US" sz="238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» занимает центральное место.</a:t>
            </a:r>
          </a:p>
          <a:p>
            <a:pPr algn="l">
              <a:lnSpc>
                <a:spcPts val="3844"/>
              </a:lnSpc>
            </a:pPr>
          </a:p>
          <a:p>
            <a:pPr algn="l">
              <a:lnSpc>
                <a:spcPts val="3844"/>
              </a:lnSpc>
            </a:pPr>
            <a:r>
              <a:rPr lang="en-US" sz="238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Это метод управления, который мы разделяем с нашими сотрудниками, гостями и деловыми партнерами.</a:t>
            </a:r>
          </a:p>
          <a:p>
            <a:pPr algn="l" marL="545964" indent="-181988" lvl="2">
              <a:lnSpc>
                <a:spcPts val="3844"/>
              </a:lnSpc>
            </a:pPr>
          </a:p>
          <a:p>
            <a:pPr algn="l">
              <a:lnSpc>
                <a:spcPts val="3364"/>
              </a:lnSpc>
            </a:pPr>
            <a:r>
              <a:rPr lang="en-US" sz="2800">
                <a:solidFill>
                  <a:srgbClr val="0031D1"/>
                </a:solidFill>
                <a:latin typeface="Calibri (MS)"/>
                <a:ea typeface="Calibri (MS)"/>
                <a:cs typeface="Calibri (MS)"/>
                <a:sym typeface="Calibri (MS)"/>
              </a:rPr>
              <a:t>Другая модель туризма возможна. И возможна вместе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11480"/>
            <a:ext cx="18288000" cy="10698480"/>
          </a:xfrm>
          <a:custGeom>
            <a:avLst/>
            <a:gdLst/>
            <a:ahLst/>
            <a:cxnLst/>
            <a:rect r="r" b="b" t="t" l="l"/>
            <a:pathLst>
              <a:path h="10698480" w="18288000">
                <a:moveTo>
                  <a:pt x="0" y="0"/>
                </a:moveTo>
                <a:lnTo>
                  <a:pt x="18288000" y="0"/>
                </a:lnTo>
                <a:lnTo>
                  <a:pt x="18288000" y="10698480"/>
                </a:lnTo>
                <a:lnTo>
                  <a:pt x="0" y="10698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1718" y="320289"/>
            <a:ext cx="9411119" cy="1983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4"/>
              </a:lnSpc>
            </a:pPr>
            <a:r>
              <a:rPr lang="en-US" sz="2511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Подготовлено: </a:t>
            </a:r>
            <a:r>
              <a:rPr lang="en-US" sz="251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Ozen Kaya, менеджер по качеству и устойчивому развитию.</a:t>
            </a:r>
          </a:p>
          <a:p>
            <a:pPr algn="l">
              <a:lnSpc>
                <a:spcPts val="4044"/>
              </a:lnSpc>
            </a:pPr>
          </a:p>
          <a:p>
            <a:pPr algn="l">
              <a:lnSpc>
                <a:spcPts val="4044"/>
              </a:lnSpc>
            </a:pPr>
            <a:r>
              <a:rPr lang="en-US" sz="2511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Вкладчик: </a:t>
            </a:r>
            <a:r>
              <a:rPr lang="en-US" sz="2511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Управление курорта Başka Resort Bodrum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DAHHZqZBSak</dc:identifier>
  <dcterms:modified xsi:type="dcterms:W3CDTF">2011-08-01T06:04:30Z</dcterms:modified>
  <cp:revision>1</cp:revision>
  <dc:title>Sürdürebilirlik Raporu Rusça</dc:title>
</cp:coreProperties>
</file>
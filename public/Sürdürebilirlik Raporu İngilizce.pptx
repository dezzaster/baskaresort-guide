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Gotham Bold" charset="1" panose="00000000000000000000"/>
      <p:regular r:id="rId25"/>
    </p:embeddedFont>
    <p:embeddedFont>
      <p:font typeface="Gotham"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8.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2117" y="1265587"/>
            <a:ext cx="7755826" cy="7755826"/>
          </a:xfrm>
          <a:custGeom>
            <a:avLst/>
            <a:gdLst/>
            <a:ahLst/>
            <a:cxnLst/>
            <a:rect r="r" b="b" t="t" l="l"/>
            <a:pathLst>
              <a:path h="7755826" w="7755826">
                <a:moveTo>
                  <a:pt x="0" y="0"/>
                </a:moveTo>
                <a:lnTo>
                  <a:pt x="7755826" y="0"/>
                </a:lnTo>
                <a:lnTo>
                  <a:pt x="7755826" y="7755826"/>
                </a:lnTo>
                <a:lnTo>
                  <a:pt x="0" y="7755826"/>
                </a:lnTo>
                <a:lnTo>
                  <a:pt x="0" y="0"/>
                </a:lnTo>
                <a:close/>
              </a:path>
            </a:pathLst>
          </a:custGeom>
          <a:blipFill>
            <a:blip r:embed="rId2"/>
            <a:stretch>
              <a:fillRect l="0" t="0" r="0" b="0"/>
            </a:stretch>
          </a:blipFill>
        </p:spPr>
      </p:sp>
      <p:grpSp>
        <p:nvGrpSpPr>
          <p:cNvPr name="Group 3" id="3"/>
          <p:cNvGrpSpPr/>
          <p:nvPr/>
        </p:nvGrpSpPr>
        <p:grpSpPr>
          <a:xfrm rot="0">
            <a:off x="3259697" y="4862343"/>
            <a:ext cx="93048" cy="137426"/>
            <a:chOff x="0" y="0"/>
            <a:chExt cx="189166" cy="279387"/>
          </a:xfrm>
        </p:grpSpPr>
        <p:sp>
          <p:nvSpPr>
            <p:cNvPr name="Freeform 4" id="4"/>
            <p:cNvSpPr/>
            <p:nvPr/>
          </p:nvSpPr>
          <p:spPr>
            <a:xfrm flipH="false" flipV="false" rot="0">
              <a:off x="0" y="0"/>
              <a:ext cx="189290" cy="279460"/>
            </a:xfrm>
            <a:custGeom>
              <a:avLst/>
              <a:gdLst/>
              <a:ahLst/>
              <a:cxnLst/>
              <a:rect r="r" b="b" t="t" l="l"/>
              <a:pathLst>
                <a:path h="279460" w="189290">
                  <a:moveTo>
                    <a:pt x="161158" y="86104"/>
                  </a:moveTo>
                  <a:cubicBezTo>
                    <a:pt x="161158" y="54101"/>
                    <a:pt x="134870" y="27939"/>
                    <a:pt x="102994" y="27939"/>
                  </a:cubicBezTo>
                  <a:lnTo>
                    <a:pt x="12573" y="27939"/>
                  </a:lnTo>
                  <a:cubicBezTo>
                    <a:pt x="5461" y="27177"/>
                    <a:pt x="0" y="21209"/>
                    <a:pt x="0" y="13970"/>
                  </a:cubicBezTo>
                  <a:cubicBezTo>
                    <a:pt x="0" y="6223"/>
                    <a:pt x="6223" y="0"/>
                    <a:pt x="13970" y="0"/>
                  </a:cubicBezTo>
                  <a:lnTo>
                    <a:pt x="102994" y="0"/>
                  </a:lnTo>
                  <a:cubicBezTo>
                    <a:pt x="150363" y="0"/>
                    <a:pt x="189097" y="38734"/>
                    <a:pt x="189097" y="86104"/>
                  </a:cubicBezTo>
                  <a:cubicBezTo>
                    <a:pt x="189097" y="125981"/>
                    <a:pt x="161539" y="159763"/>
                    <a:pt x="124710" y="169414"/>
                  </a:cubicBezTo>
                  <a:cubicBezTo>
                    <a:pt x="136775" y="179701"/>
                    <a:pt x="146300" y="192655"/>
                    <a:pt x="154808" y="205990"/>
                  </a:cubicBezTo>
                  <a:cubicBezTo>
                    <a:pt x="154808" y="206116"/>
                    <a:pt x="154808" y="206116"/>
                    <a:pt x="154935" y="206116"/>
                  </a:cubicBezTo>
                  <a:lnTo>
                    <a:pt x="187192" y="258185"/>
                  </a:lnTo>
                  <a:cubicBezTo>
                    <a:pt x="191256" y="264662"/>
                    <a:pt x="189224" y="273298"/>
                    <a:pt x="182747" y="277362"/>
                  </a:cubicBezTo>
                  <a:cubicBezTo>
                    <a:pt x="176271" y="281426"/>
                    <a:pt x="167635" y="279394"/>
                    <a:pt x="163571" y="272917"/>
                  </a:cubicBezTo>
                  <a:lnTo>
                    <a:pt x="131314" y="220975"/>
                  </a:lnTo>
                  <a:cubicBezTo>
                    <a:pt x="123567" y="208783"/>
                    <a:pt x="114678" y="196338"/>
                    <a:pt x="102867" y="187575"/>
                  </a:cubicBezTo>
                  <a:cubicBezTo>
                    <a:pt x="89786" y="177923"/>
                    <a:pt x="72769" y="172081"/>
                    <a:pt x="56513" y="172081"/>
                  </a:cubicBezTo>
                  <a:lnTo>
                    <a:pt x="13843" y="172081"/>
                  </a:lnTo>
                  <a:cubicBezTo>
                    <a:pt x="6223" y="172081"/>
                    <a:pt x="0" y="165858"/>
                    <a:pt x="0" y="158239"/>
                  </a:cubicBezTo>
                  <a:cubicBezTo>
                    <a:pt x="0" y="150619"/>
                    <a:pt x="6223" y="144396"/>
                    <a:pt x="13843" y="144396"/>
                  </a:cubicBezTo>
                  <a:lnTo>
                    <a:pt x="56513" y="144396"/>
                  </a:lnTo>
                  <a:cubicBezTo>
                    <a:pt x="57656" y="144396"/>
                    <a:pt x="58799" y="144396"/>
                    <a:pt x="60069" y="144523"/>
                  </a:cubicBezTo>
                  <a:lnTo>
                    <a:pt x="102994" y="144523"/>
                  </a:lnTo>
                  <a:cubicBezTo>
                    <a:pt x="134997" y="144523"/>
                    <a:pt x="161158" y="118234"/>
                    <a:pt x="161158" y="86358"/>
                  </a:cubicBezTo>
                </a:path>
              </a:pathLst>
            </a:custGeom>
            <a:solidFill>
              <a:srgbClr val="0031D1"/>
            </a:solidFill>
          </p:spPr>
        </p:sp>
      </p:grpSp>
      <p:grpSp>
        <p:nvGrpSpPr>
          <p:cNvPr name="Group 5" id="5"/>
          <p:cNvGrpSpPr/>
          <p:nvPr/>
        </p:nvGrpSpPr>
        <p:grpSpPr>
          <a:xfrm rot="0">
            <a:off x="3500586" y="4862350"/>
            <a:ext cx="92992" cy="137439"/>
            <a:chOff x="0" y="0"/>
            <a:chExt cx="189052" cy="279413"/>
          </a:xfrm>
        </p:grpSpPr>
        <p:sp>
          <p:nvSpPr>
            <p:cNvPr name="Freeform 6" id="6"/>
            <p:cNvSpPr/>
            <p:nvPr/>
          </p:nvSpPr>
          <p:spPr>
            <a:xfrm flipH="false" flipV="false" rot="0">
              <a:off x="0" y="0"/>
              <a:ext cx="189103" cy="279400"/>
            </a:xfrm>
            <a:custGeom>
              <a:avLst/>
              <a:gdLst/>
              <a:ahLst/>
              <a:cxnLst/>
              <a:rect r="r" b="b" t="t" l="l"/>
              <a:pathLst>
                <a:path h="279400" w="189103">
                  <a:moveTo>
                    <a:pt x="86106" y="279400"/>
                  </a:moveTo>
                  <a:lnTo>
                    <a:pt x="119761" y="279400"/>
                  </a:lnTo>
                  <a:lnTo>
                    <a:pt x="166243" y="279400"/>
                  </a:lnTo>
                  <a:lnTo>
                    <a:pt x="176530" y="279400"/>
                  </a:lnTo>
                  <a:cubicBezTo>
                    <a:pt x="183515" y="278638"/>
                    <a:pt x="189103" y="272669"/>
                    <a:pt x="189103" y="265557"/>
                  </a:cubicBezTo>
                  <a:cubicBezTo>
                    <a:pt x="189103" y="257810"/>
                    <a:pt x="182880" y="251587"/>
                    <a:pt x="175133" y="251587"/>
                  </a:cubicBezTo>
                  <a:lnTo>
                    <a:pt x="164846" y="251587"/>
                  </a:lnTo>
                  <a:lnTo>
                    <a:pt x="119761" y="251587"/>
                  </a:lnTo>
                  <a:lnTo>
                    <a:pt x="86106" y="251587"/>
                  </a:lnTo>
                  <a:cubicBezTo>
                    <a:pt x="54102" y="251587"/>
                    <a:pt x="27940" y="225298"/>
                    <a:pt x="27940" y="193421"/>
                  </a:cubicBezTo>
                  <a:cubicBezTo>
                    <a:pt x="27940" y="161544"/>
                    <a:pt x="54229" y="135255"/>
                    <a:pt x="86106" y="135255"/>
                  </a:cubicBezTo>
                  <a:lnTo>
                    <a:pt x="119761" y="135255"/>
                  </a:lnTo>
                  <a:lnTo>
                    <a:pt x="166243" y="135255"/>
                  </a:lnTo>
                  <a:lnTo>
                    <a:pt x="176530" y="135255"/>
                  </a:lnTo>
                  <a:cubicBezTo>
                    <a:pt x="183515" y="134493"/>
                    <a:pt x="189103" y="128524"/>
                    <a:pt x="189103" y="121412"/>
                  </a:cubicBezTo>
                  <a:cubicBezTo>
                    <a:pt x="189103" y="113665"/>
                    <a:pt x="182880" y="107442"/>
                    <a:pt x="175133" y="107442"/>
                  </a:cubicBezTo>
                  <a:lnTo>
                    <a:pt x="164846" y="107442"/>
                  </a:lnTo>
                  <a:lnTo>
                    <a:pt x="119761" y="107442"/>
                  </a:lnTo>
                  <a:lnTo>
                    <a:pt x="86106" y="107442"/>
                  </a:lnTo>
                  <a:cubicBezTo>
                    <a:pt x="38735" y="107315"/>
                    <a:pt x="0" y="146050"/>
                    <a:pt x="0" y="193294"/>
                  </a:cubicBezTo>
                  <a:cubicBezTo>
                    <a:pt x="0" y="240538"/>
                    <a:pt x="38735" y="279400"/>
                    <a:pt x="86106" y="279400"/>
                  </a:cubicBezTo>
                  <a:moveTo>
                    <a:pt x="13970" y="27940"/>
                  </a:moveTo>
                  <a:cubicBezTo>
                    <a:pt x="6223" y="27940"/>
                    <a:pt x="0" y="21590"/>
                    <a:pt x="0" y="13970"/>
                  </a:cubicBezTo>
                  <a:cubicBezTo>
                    <a:pt x="0" y="6350"/>
                    <a:pt x="6223" y="0"/>
                    <a:pt x="13970" y="0"/>
                  </a:cubicBezTo>
                  <a:lnTo>
                    <a:pt x="175133" y="0"/>
                  </a:lnTo>
                  <a:cubicBezTo>
                    <a:pt x="182753" y="0"/>
                    <a:pt x="189103" y="6223"/>
                    <a:pt x="189103" y="13970"/>
                  </a:cubicBezTo>
                  <a:cubicBezTo>
                    <a:pt x="189103" y="21717"/>
                    <a:pt x="182880" y="27940"/>
                    <a:pt x="175133" y="27940"/>
                  </a:cubicBezTo>
                  <a:close/>
                </a:path>
              </a:pathLst>
            </a:custGeom>
            <a:solidFill>
              <a:srgbClr val="0031D1"/>
            </a:solidFill>
          </p:spPr>
        </p:sp>
      </p:grpSp>
      <p:grpSp>
        <p:nvGrpSpPr>
          <p:cNvPr name="Group 7" id="7"/>
          <p:cNvGrpSpPr/>
          <p:nvPr/>
        </p:nvGrpSpPr>
        <p:grpSpPr>
          <a:xfrm rot="0">
            <a:off x="3259691" y="3993706"/>
            <a:ext cx="470032" cy="607896"/>
            <a:chOff x="0" y="0"/>
            <a:chExt cx="955573" cy="1235850"/>
          </a:xfrm>
        </p:grpSpPr>
        <p:sp>
          <p:nvSpPr>
            <p:cNvPr name="Freeform 8" id="8"/>
            <p:cNvSpPr/>
            <p:nvPr/>
          </p:nvSpPr>
          <p:spPr>
            <a:xfrm flipH="false" flipV="false" rot="0">
              <a:off x="0" y="0"/>
              <a:ext cx="955548" cy="1235964"/>
            </a:xfrm>
            <a:custGeom>
              <a:avLst/>
              <a:gdLst/>
              <a:ahLst/>
              <a:cxnLst/>
              <a:rect r="r" b="b" t="t" l="l"/>
              <a:pathLst>
                <a:path h="1235964" w="955548">
                  <a:moveTo>
                    <a:pt x="628015" y="1011301"/>
                  </a:moveTo>
                  <a:cubicBezTo>
                    <a:pt x="644906" y="1003427"/>
                    <a:pt x="660654" y="990473"/>
                    <a:pt x="675259" y="972439"/>
                  </a:cubicBezTo>
                  <a:cubicBezTo>
                    <a:pt x="689864" y="955548"/>
                    <a:pt x="700532" y="937514"/>
                    <a:pt x="707263" y="918337"/>
                  </a:cubicBezTo>
                  <a:cubicBezTo>
                    <a:pt x="715137" y="901446"/>
                    <a:pt x="719074" y="881761"/>
                    <a:pt x="719074" y="859282"/>
                  </a:cubicBezTo>
                  <a:cubicBezTo>
                    <a:pt x="719074" y="818769"/>
                    <a:pt x="703834" y="783844"/>
                    <a:pt x="673481" y="754634"/>
                  </a:cubicBezTo>
                  <a:cubicBezTo>
                    <a:pt x="644271" y="726567"/>
                    <a:pt x="601472" y="712470"/>
                    <a:pt x="545211" y="712470"/>
                  </a:cubicBezTo>
                  <a:lnTo>
                    <a:pt x="288671" y="712470"/>
                  </a:lnTo>
                  <a:cubicBezTo>
                    <a:pt x="274066" y="712470"/>
                    <a:pt x="261620" y="717550"/>
                    <a:pt x="251587" y="727710"/>
                  </a:cubicBezTo>
                  <a:cubicBezTo>
                    <a:pt x="241554" y="737870"/>
                    <a:pt x="236347" y="750189"/>
                    <a:pt x="236347" y="764794"/>
                  </a:cubicBezTo>
                  <a:lnTo>
                    <a:pt x="236347" y="974090"/>
                  </a:lnTo>
                  <a:cubicBezTo>
                    <a:pt x="236347" y="988695"/>
                    <a:pt x="241427" y="1001141"/>
                    <a:pt x="251587" y="1011174"/>
                  </a:cubicBezTo>
                  <a:cubicBezTo>
                    <a:pt x="261747" y="1021207"/>
                    <a:pt x="274066" y="1026414"/>
                    <a:pt x="288671" y="1026414"/>
                  </a:cubicBezTo>
                  <a:lnTo>
                    <a:pt x="570611" y="1026414"/>
                  </a:lnTo>
                  <a:cubicBezTo>
                    <a:pt x="591947" y="1026414"/>
                    <a:pt x="611124" y="1021334"/>
                    <a:pt x="628015" y="1011174"/>
                  </a:cubicBezTo>
                  <a:moveTo>
                    <a:pt x="288671" y="503174"/>
                  </a:moveTo>
                  <a:lnTo>
                    <a:pt x="526796" y="503174"/>
                  </a:lnTo>
                  <a:cubicBezTo>
                    <a:pt x="550418" y="503174"/>
                    <a:pt x="571246" y="498729"/>
                    <a:pt x="589280" y="489712"/>
                  </a:cubicBezTo>
                  <a:cubicBezTo>
                    <a:pt x="605028" y="481838"/>
                    <a:pt x="619633" y="470027"/>
                    <a:pt x="633222" y="454279"/>
                  </a:cubicBezTo>
                  <a:cubicBezTo>
                    <a:pt x="644525" y="440817"/>
                    <a:pt x="653542" y="423926"/>
                    <a:pt x="660273" y="403606"/>
                  </a:cubicBezTo>
                  <a:cubicBezTo>
                    <a:pt x="665861" y="387858"/>
                    <a:pt x="668655" y="369316"/>
                    <a:pt x="668655" y="347853"/>
                  </a:cubicBezTo>
                  <a:cubicBezTo>
                    <a:pt x="668655" y="329819"/>
                    <a:pt x="665226" y="312420"/>
                    <a:pt x="658495" y="295529"/>
                  </a:cubicBezTo>
                  <a:cubicBezTo>
                    <a:pt x="650621" y="276352"/>
                    <a:pt x="641604" y="261747"/>
                    <a:pt x="631444" y="251587"/>
                  </a:cubicBezTo>
                  <a:cubicBezTo>
                    <a:pt x="621284" y="240284"/>
                    <a:pt x="608330" y="230251"/>
                    <a:pt x="592582" y="221234"/>
                  </a:cubicBezTo>
                  <a:cubicBezTo>
                    <a:pt x="577977" y="213360"/>
                    <a:pt x="561594" y="209423"/>
                    <a:pt x="543687" y="209423"/>
                  </a:cubicBezTo>
                  <a:lnTo>
                    <a:pt x="288671" y="209423"/>
                  </a:lnTo>
                  <a:cubicBezTo>
                    <a:pt x="274066" y="209423"/>
                    <a:pt x="261620" y="214503"/>
                    <a:pt x="251587" y="224663"/>
                  </a:cubicBezTo>
                  <a:cubicBezTo>
                    <a:pt x="241554" y="234823"/>
                    <a:pt x="236347" y="247142"/>
                    <a:pt x="236347" y="261874"/>
                  </a:cubicBezTo>
                  <a:lnTo>
                    <a:pt x="236347" y="450723"/>
                  </a:lnTo>
                  <a:cubicBezTo>
                    <a:pt x="236347" y="465328"/>
                    <a:pt x="241427" y="477774"/>
                    <a:pt x="251587" y="487807"/>
                  </a:cubicBezTo>
                  <a:cubicBezTo>
                    <a:pt x="261747" y="497840"/>
                    <a:pt x="274066" y="503047"/>
                    <a:pt x="288671" y="503047"/>
                  </a:cubicBezTo>
                  <a:moveTo>
                    <a:pt x="889762" y="423672"/>
                  </a:moveTo>
                  <a:cubicBezTo>
                    <a:pt x="878459" y="452882"/>
                    <a:pt x="864997" y="478790"/>
                    <a:pt x="849249" y="501269"/>
                  </a:cubicBezTo>
                  <a:cubicBezTo>
                    <a:pt x="832358" y="524891"/>
                    <a:pt x="811022" y="544576"/>
                    <a:pt x="785114" y="560324"/>
                  </a:cubicBezTo>
                  <a:cubicBezTo>
                    <a:pt x="773811" y="568198"/>
                    <a:pt x="760857" y="574929"/>
                    <a:pt x="746252" y="580644"/>
                  </a:cubicBezTo>
                  <a:cubicBezTo>
                    <a:pt x="734949" y="584073"/>
                    <a:pt x="729996" y="586486"/>
                    <a:pt x="731012" y="588264"/>
                  </a:cubicBezTo>
                  <a:cubicBezTo>
                    <a:pt x="732028" y="590042"/>
                    <a:pt x="738886" y="592455"/>
                    <a:pt x="751205" y="595884"/>
                  </a:cubicBezTo>
                  <a:cubicBezTo>
                    <a:pt x="766953" y="601599"/>
                    <a:pt x="781558" y="607187"/>
                    <a:pt x="795147" y="612775"/>
                  </a:cubicBezTo>
                  <a:cubicBezTo>
                    <a:pt x="824357" y="627380"/>
                    <a:pt x="850900" y="648208"/>
                    <a:pt x="874522" y="675259"/>
                  </a:cubicBezTo>
                  <a:cubicBezTo>
                    <a:pt x="899287" y="701167"/>
                    <a:pt x="918972" y="731012"/>
                    <a:pt x="933577" y="764794"/>
                  </a:cubicBezTo>
                  <a:cubicBezTo>
                    <a:pt x="948182" y="797433"/>
                    <a:pt x="955548" y="832866"/>
                    <a:pt x="955548" y="871220"/>
                  </a:cubicBezTo>
                  <a:cubicBezTo>
                    <a:pt x="955548" y="938784"/>
                    <a:pt x="945388" y="996188"/>
                    <a:pt x="925195" y="1043432"/>
                  </a:cubicBezTo>
                  <a:cubicBezTo>
                    <a:pt x="903859" y="1091819"/>
                    <a:pt x="876300" y="1129538"/>
                    <a:pt x="842518" y="1156589"/>
                  </a:cubicBezTo>
                  <a:cubicBezTo>
                    <a:pt x="808736" y="1185799"/>
                    <a:pt x="768223" y="1206119"/>
                    <a:pt x="720979" y="1217422"/>
                  </a:cubicBezTo>
                  <a:cubicBezTo>
                    <a:pt x="697357" y="1223010"/>
                    <a:pt x="673100" y="1227582"/>
                    <a:pt x="648335" y="1230884"/>
                  </a:cubicBezTo>
                  <a:cubicBezTo>
                    <a:pt x="623570" y="1234186"/>
                    <a:pt x="597662" y="1235964"/>
                    <a:pt x="570738" y="1235964"/>
                  </a:cubicBezTo>
                  <a:lnTo>
                    <a:pt x="52324" y="1235964"/>
                  </a:lnTo>
                  <a:cubicBezTo>
                    <a:pt x="37719" y="1235964"/>
                    <a:pt x="25273" y="1230884"/>
                    <a:pt x="15240" y="1220724"/>
                  </a:cubicBezTo>
                  <a:cubicBezTo>
                    <a:pt x="5207" y="1210564"/>
                    <a:pt x="0" y="1198118"/>
                    <a:pt x="0" y="1183513"/>
                  </a:cubicBezTo>
                  <a:lnTo>
                    <a:pt x="0" y="52324"/>
                  </a:lnTo>
                  <a:cubicBezTo>
                    <a:pt x="0" y="37719"/>
                    <a:pt x="5080" y="25273"/>
                    <a:pt x="15240" y="15240"/>
                  </a:cubicBezTo>
                  <a:cubicBezTo>
                    <a:pt x="25400" y="5207"/>
                    <a:pt x="37719" y="0"/>
                    <a:pt x="52324" y="0"/>
                  </a:cubicBezTo>
                  <a:lnTo>
                    <a:pt x="543687" y="0"/>
                  </a:lnTo>
                  <a:cubicBezTo>
                    <a:pt x="569595" y="0"/>
                    <a:pt x="593725" y="1143"/>
                    <a:pt x="616331" y="3429"/>
                  </a:cubicBezTo>
                  <a:cubicBezTo>
                    <a:pt x="638937" y="5715"/>
                    <a:pt x="661289" y="9144"/>
                    <a:pt x="683895" y="13589"/>
                  </a:cubicBezTo>
                  <a:cubicBezTo>
                    <a:pt x="729996" y="24892"/>
                    <a:pt x="768350" y="42799"/>
                    <a:pt x="798703" y="67564"/>
                  </a:cubicBezTo>
                  <a:cubicBezTo>
                    <a:pt x="832485" y="92329"/>
                    <a:pt x="858393" y="127254"/>
                    <a:pt x="876300" y="172212"/>
                  </a:cubicBezTo>
                  <a:cubicBezTo>
                    <a:pt x="895477" y="213868"/>
                    <a:pt x="905002" y="270764"/>
                    <a:pt x="905002" y="342773"/>
                  </a:cubicBezTo>
                  <a:cubicBezTo>
                    <a:pt x="905002" y="368681"/>
                    <a:pt x="899922" y="395732"/>
                    <a:pt x="889762" y="423799"/>
                  </a:cubicBezTo>
                </a:path>
              </a:pathLst>
            </a:custGeom>
            <a:solidFill>
              <a:srgbClr val="0031D1"/>
            </a:solidFill>
          </p:spPr>
        </p:sp>
      </p:grpSp>
      <p:grpSp>
        <p:nvGrpSpPr>
          <p:cNvPr name="Group 9" id="9"/>
          <p:cNvGrpSpPr/>
          <p:nvPr/>
        </p:nvGrpSpPr>
        <p:grpSpPr>
          <a:xfrm rot="0">
            <a:off x="3741387" y="4862343"/>
            <a:ext cx="97146" cy="140681"/>
            <a:chOff x="0" y="0"/>
            <a:chExt cx="197498" cy="286004"/>
          </a:xfrm>
        </p:grpSpPr>
        <p:sp>
          <p:nvSpPr>
            <p:cNvPr name="Freeform 10" id="10"/>
            <p:cNvSpPr/>
            <p:nvPr/>
          </p:nvSpPr>
          <p:spPr>
            <a:xfrm flipH="false" flipV="false" rot="0">
              <a:off x="40" y="90"/>
              <a:ext cx="197573" cy="286047"/>
            </a:xfrm>
            <a:custGeom>
              <a:avLst/>
              <a:gdLst/>
              <a:ahLst/>
              <a:cxnLst/>
              <a:rect r="r" b="b" t="t" l="l"/>
              <a:pathLst>
                <a:path h="286047" w="197573">
                  <a:moveTo>
                    <a:pt x="197446" y="184445"/>
                  </a:moveTo>
                  <a:cubicBezTo>
                    <a:pt x="197446" y="207178"/>
                    <a:pt x="189826" y="229150"/>
                    <a:pt x="175729" y="246930"/>
                  </a:cubicBezTo>
                  <a:cubicBezTo>
                    <a:pt x="164426" y="261535"/>
                    <a:pt x="149313" y="272839"/>
                    <a:pt x="131913" y="279443"/>
                  </a:cubicBezTo>
                  <a:cubicBezTo>
                    <a:pt x="120483" y="283761"/>
                    <a:pt x="108291" y="286047"/>
                    <a:pt x="96099" y="286047"/>
                  </a:cubicBezTo>
                  <a:cubicBezTo>
                    <a:pt x="83907" y="286047"/>
                    <a:pt x="71715" y="283634"/>
                    <a:pt x="60285" y="279316"/>
                  </a:cubicBezTo>
                  <a:cubicBezTo>
                    <a:pt x="40346" y="271696"/>
                    <a:pt x="23328" y="257979"/>
                    <a:pt x="11771" y="240199"/>
                  </a:cubicBezTo>
                  <a:cubicBezTo>
                    <a:pt x="7199" y="233214"/>
                    <a:pt x="3516" y="225594"/>
                    <a:pt x="722" y="217592"/>
                  </a:cubicBezTo>
                  <a:cubicBezTo>
                    <a:pt x="-1691" y="210353"/>
                    <a:pt x="2119" y="202352"/>
                    <a:pt x="9485" y="199812"/>
                  </a:cubicBezTo>
                  <a:cubicBezTo>
                    <a:pt x="16851" y="197272"/>
                    <a:pt x="24725" y="201336"/>
                    <a:pt x="27265" y="208575"/>
                  </a:cubicBezTo>
                  <a:cubicBezTo>
                    <a:pt x="29170" y="214290"/>
                    <a:pt x="31837" y="219751"/>
                    <a:pt x="35139" y="224832"/>
                  </a:cubicBezTo>
                  <a:cubicBezTo>
                    <a:pt x="43521" y="237786"/>
                    <a:pt x="55840" y="247692"/>
                    <a:pt x="70318" y="253153"/>
                  </a:cubicBezTo>
                  <a:cubicBezTo>
                    <a:pt x="78573" y="256328"/>
                    <a:pt x="87336" y="257979"/>
                    <a:pt x="96226" y="257979"/>
                  </a:cubicBezTo>
                  <a:cubicBezTo>
                    <a:pt x="105116" y="257979"/>
                    <a:pt x="113879" y="256328"/>
                    <a:pt x="122134" y="253153"/>
                  </a:cubicBezTo>
                  <a:cubicBezTo>
                    <a:pt x="136612" y="247692"/>
                    <a:pt x="148805" y="237786"/>
                    <a:pt x="157314" y="224832"/>
                  </a:cubicBezTo>
                  <a:cubicBezTo>
                    <a:pt x="165061" y="212893"/>
                    <a:pt x="169633" y="198542"/>
                    <a:pt x="169633" y="184318"/>
                  </a:cubicBezTo>
                  <a:cubicBezTo>
                    <a:pt x="169633" y="168315"/>
                    <a:pt x="163664" y="150789"/>
                    <a:pt x="154139" y="138089"/>
                  </a:cubicBezTo>
                  <a:cubicBezTo>
                    <a:pt x="136104" y="114212"/>
                    <a:pt x="101814" y="100369"/>
                    <a:pt x="78065" y="82081"/>
                  </a:cubicBezTo>
                  <a:cubicBezTo>
                    <a:pt x="55840" y="64935"/>
                    <a:pt x="43267" y="43726"/>
                    <a:pt x="38822" y="16166"/>
                  </a:cubicBezTo>
                  <a:cubicBezTo>
                    <a:pt x="37552" y="8546"/>
                    <a:pt x="42759" y="1307"/>
                    <a:pt x="50379" y="164"/>
                  </a:cubicBezTo>
                  <a:cubicBezTo>
                    <a:pt x="57999" y="-979"/>
                    <a:pt x="65111" y="3974"/>
                    <a:pt x="66381" y="11594"/>
                  </a:cubicBezTo>
                  <a:cubicBezTo>
                    <a:pt x="69683" y="32169"/>
                    <a:pt x="78446" y="47155"/>
                    <a:pt x="95083" y="59982"/>
                  </a:cubicBezTo>
                  <a:cubicBezTo>
                    <a:pt x="122642" y="81192"/>
                    <a:pt x="154647" y="92241"/>
                    <a:pt x="176491" y="121451"/>
                  </a:cubicBezTo>
                  <a:cubicBezTo>
                    <a:pt x="189699" y="139232"/>
                    <a:pt x="197573" y="162219"/>
                    <a:pt x="197573" y="184445"/>
                  </a:cubicBezTo>
                </a:path>
              </a:pathLst>
            </a:custGeom>
            <a:solidFill>
              <a:srgbClr val="0031D1"/>
            </a:solidFill>
          </p:spPr>
        </p:sp>
      </p:grpSp>
      <p:grpSp>
        <p:nvGrpSpPr>
          <p:cNvPr name="Group 11" id="11"/>
          <p:cNvGrpSpPr/>
          <p:nvPr/>
        </p:nvGrpSpPr>
        <p:grpSpPr>
          <a:xfrm rot="0">
            <a:off x="3985423" y="4858883"/>
            <a:ext cx="144354" cy="144361"/>
            <a:chOff x="0" y="0"/>
            <a:chExt cx="293472" cy="293484"/>
          </a:xfrm>
        </p:grpSpPr>
        <p:sp>
          <p:nvSpPr>
            <p:cNvPr name="Freeform 12" id="12"/>
            <p:cNvSpPr/>
            <p:nvPr/>
          </p:nvSpPr>
          <p:spPr>
            <a:xfrm flipH="false" flipV="false" rot="0">
              <a:off x="0" y="0"/>
              <a:ext cx="293498" cy="293497"/>
            </a:xfrm>
            <a:custGeom>
              <a:avLst/>
              <a:gdLst/>
              <a:ahLst/>
              <a:cxnLst/>
              <a:rect r="r" b="b" t="t" l="l"/>
              <a:pathLst>
                <a:path h="293497" w="293498">
                  <a:moveTo>
                    <a:pt x="146686" y="265684"/>
                  </a:moveTo>
                  <a:cubicBezTo>
                    <a:pt x="212345" y="265684"/>
                    <a:pt x="265685" y="212471"/>
                    <a:pt x="265685" y="146685"/>
                  </a:cubicBezTo>
                  <a:cubicBezTo>
                    <a:pt x="265685" y="80899"/>
                    <a:pt x="212472" y="27686"/>
                    <a:pt x="146686" y="27686"/>
                  </a:cubicBezTo>
                  <a:cubicBezTo>
                    <a:pt x="80899" y="27686"/>
                    <a:pt x="27686" y="80899"/>
                    <a:pt x="27686" y="146685"/>
                  </a:cubicBezTo>
                  <a:cubicBezTo>
                    <a:pt x="27686" y="212471"/>
                    <a:pt x="80899" y="265684"/>
                    <a:pt x="146686" y="265684"/>
                  </a:cubicBezTo>
                  <a:moveTo>
                    <a:pt x="146686" y="293497"/>
                  </a:moveTo>
                  <a:cubicBezTo>
                    <a:pt x="65659" y="293497"/>
                    <a:pt x="0" y="227838"/>
                    <a:pt x="0" y="146685"/>
                  </a:cubicBezTo>
                  <a:cubicBezTo>
                    <a:pt x="0" y="65532"/>
                    <a:pt x="65659" y="0"/>
                    <a:pt x="146686" y="0"/>
                  </a:cubicBezTo>
                  <a:cubicBezTo>
                    <a:pt x="227712" y="0"/>
                    <a:pt x="293498" y="65659"/>
                    <a:pt x="293498" y="146685"/>
                  </a:cubicBezTo>
                  <a:cubicBezTo>
                    <a:pt x="293498" y="227711"/>
                    <a:pt x="227712" y="293497"/>
                    <a:pt x="146686" y="293497"/>
                  </a:cubicBezTo>
                </a:path>
              </a:pathLst>
            </a:custGeom>
            <a:solidFill>
              <a:srgbClr val="0031D1"/>
            </a:solidFill>
          </p:spPr>
        </p:sp>
      </p:grpSp>
      <p:grpSp>
        <p:nvGrpSpPr>
          <p:cNvPr name="Group 13" id="13"/>
          <p:cNvGrpSpPr/>
          <p:nvPr/>
        </p:nvGrpSpPr>
        <p:grpSpPr>
          <a:xfrm rot="0">
            <a:off x="4276600" y="4862343"/>
            <a:ext cx="93054" cy="137426"/>
            <a:chOff x="0" y="0"/>
            <a:chExt cx="189179" cy="279387"/>
          </a:xfrm>
        </p:grpSpPr>
        <p:sp>
          <p:nvSpPr>
            <p:cNvPr name="Freeform 14" id="14"/>
            <p:cNvSpPr/>
            <p:nvPr/>
          </p:nvSpPr>
          <p:spPr>
            <a:xfrm flipH="false" flipV="false" rot="0">
              <a:off x="0" y="0"/>
              <a:ext cx="189302" cy="279460"/>
            </a:xfrm>
            <a:custGeom>
              <a:avLst/>
              <a:gdLst/>
              <a:ahLst/>
              <a:cxnLst/>
              <a:rect r="r" b="b" t="t" l="l"/>
              <a:pathLst>
                <a:path h="279460" w="189302">
                  <a:moveTo>
                    <a:pt x="161168" y="86104"/>
                  </a:moveTo>
                  <a:cubicBezTo>
                    <a:pt x="161168" y="54101"/>
                    <a:pt x="134878" y="27939"/>
                    <a:pt x="103000" y="27939"/>
                  </a:cubicBezTo>
                  <a:lnTo>
                    <a:pt x="12573" y="27939"/>
                  </a:lnTo>
                  <a:cubicBezTo>
                    <a:pt x="5588" y="27177"/>
                    <a:pt x="0" y="21209"/>
                    <a:pt x="0" y="13970"/>
                  </a:cubicBezTo>
                  <a:cubicBezTo>
                    <a:pt x="0" y="6223"/>
                    <a:pt x="6223" y="0"/>
                    <a:pt x="13970" y="0"/>
                  </a:cubicBezTo>
                  <a:lnTo>
                    <a:pt x="103000" y="0"/>
                  </a:lnTo>
                  <a:cubicBezTo>
                    <a:pt x="150373" y="0"/>
                    <a:pt x="189109" y="38734"/>
                    <a:pt x="189109" y="86104"/>
                  </a:cubicBezTo>
                  <a:cubicBezTo>
                    <a:pt x="189109" y="125981"/>
                    <a:pt x="161549" y="159763"/>
                    <a:pt x="124718" y="169414"/>
                  </a:cubicBezTo>
                  <a:cubicBezTo>
                    <a:pt x="136783" y="179701"/>
                    <a:pt x="146309" y="192655"/>
                    <a:pt x="154818" y="205990"/>
                  </a:cubicBezTo>
                  <a:cubicBezTo>
                    <a:pt x="154818" y="206116"/>
                    <a:pt x="154945" y="206116"/>
                    <a:pt x="154945" y="206116"/>
                  </a:cubicBezTo>
                  <a:lnTo>
                    <a:pt x="187204" y="258185"/>
                  </a:lnTo>
                  <a:cubicBezTo>
                    <a:pt x="191268" y="264662"/>
                    <a:pt x="189236" y="273298"/>
                    <a:pt x="182759" y="277362"/>
                  </a:cubicBezTo>
                  <a:cubicBezTo>
                    <a:pt x="176282" y="281426"/>
                    <a:pt x="167645" y="279394"/>
                    <a:pt x="163581" y="272917"/>
                  </a:cubicBezTo>
                  <a:lnTo>
                    <a:pt x="131322" y="220975"/>
                  </a:lnTo>
                  <a:cubicBezTo>
                    <a:pt x="123575" y="208783"/>
                    <a:pt x="114685" y="196338"/>
                    <a:pt x="102873" y="187575"/>
                  </a:cubicBezTo>
                  <a:cubicBezTo>
                    <a:pt x="89919" y="177923"/>
                    <a:pt x="72773" y="172081"/>
                    <a:pt x="56517" y="172081"/>
                  </a:cubicBezTo>
                  <a:lnTo>
                    <a:pt x="13843" y="172081"/>
                  </a:lnTo>
                  <a:cubicBezTo>
                    <a:pt x="6223" y="172081"/>
                    <a:pt x="0" y="165858"/>
                    <a:pt x="0" y="158239"/>
                  </a:cubicBezTo>
                  <a:cubicBezTo>
                    <a:pt x="0" y="150619"/>
                    <a:pt x="6223" y="144396"/>
                    <a:pt x="13843" y="144396"/>
                  </a:cubicBezTo>
                  <a:lnTo>
                    <a:pt x="56517" y="144396"/>
                  </a:lnTo>
                  <a:cubicBezTo>
                    <a:pt x="57660" y="144396"/>
                    <a:pt x="58803" y="144396"/>
                    <a:pt x="60073" y="144523"/>
                  </a:cubicBezTo>
                  <a:lnTo>
                    <a:pt x="103000" y="144523"/>
                  </a:lnTo>
                  <a:cubicBezTo>
                    <a:pt x="135005" y="144523"/>
                    <a:pt x="161168" y="118234"/>
                    <a:pt x="161168" y="86358"/>
                  </a:cubicBezTo>
                </a:path>
              </a:pathLst>
            </a:custGeom>
            <a:solidFill>
              <a:srgbClr val="0031D1"/>
            </a:solidFill>
          </p:spPr>
        </p:sp>
      </p:grpSp>
      <p:grpSp>
        <p:nvGrpSpPr>
          <p:cNvPr name="Group 15" id="15"/>
          <p:cNvGrpSpPr/>
          <p:nvPr/>
        </p:nvGrpSpPr>
        <p:grpSpPr>
          <a:xfrm rot="0">
            <a:off x="4007394" y="3993712"/>
            <a:ext cx="614587" cy="607890"/>
            <a:chOff x="0" y="0"/>
            <a:chExt cx="1249451" cy="1235837"/>
          </a:xfrm>
        </p:grpSpPr>
        <p:sp>
          <p:nvSpPr>
            <p:cNvPr name="Freeform 16" id="16"/>
            <p:cNvSpPr/>
            <p:nvPr/>
          </p:nvSpPr>
          <p:spPr>
            <a:xfrm flipH="false" flipV="false" rot="0">
              <a:off x="-59" y="0"/>
              <a:ext cx="1249560" cy="1235837"/>
            </a:xfrm>
            <a:custGeom>
              <a:avLst/>
              <a:gdLst/>
              <a:ahLst/>
              <a:cxnLst/>
              <a:rect r="r" b="b" t="t" l="l"/>
              <a:pathLst>
                <a:path h="1235837" w="1249560">
                  <a:moveTo>
                    <a:pt x="499168" y="835660"/>
                  </a:moveTo>
                  <a:lnTo>
                    <a:pt x="749103" y="835660"/>
                  </a:lnTo>
                  <a:cubicBezTo>
                    <a:pt x="763708" y="835660"/>
                    <a:pt x="773614" y="830834"/>
                    <a:pt x="778694" y="821309"/>
                  </a:cubicBezTo>
                  <a:cubicBezTo>
                    <a:pt x="783774" y="811784"/>
                    <a:pt x="783520" y="800735"/>
                    <a:pt x="777805" y="788416"/>
                  </a:cubicBezTo>
                  <a:lnTo>
                    <a:pt x="646107" y="509905"/>
                  </a:lnTo>
                  <a:cubicBezTo>
                    <a:pt x="640519" y="496443"/>
                    <a:pt x="633153" y="489585"/>
                    <a:pt x="624136" y="489585"/>
                  </a:cubicBezTo>
                  <a:cubicBezTo>
                    <a:pt x="615119" y="489585"/>
                    <a:pt x="607753" y="496316"/>
                    <a:pt x="602165" y="509905"/>
                  </a:cubicBezTo>
                  <a:lnTo>
                    <a:pt x="468815" y="788416"/>
                  </a:lnTo>
                  <a:cubicBezTo>
                    <a:pt x="463100" y="801878"/>
                    <a:pt x="463100" y="813181"/>
                    <a:pt x="468815" y="822198"/>
                  </a:cubicBezTo>
                  <a:cubicBezTo>
                    <a:pt x="474530" y="831215"/>
                    <a:pt x="484563" y="835660"/>
                    <a:pt x="499168" y="835660"/>
                  </a:cubicBezTo>
                  <a:moveTo>
                    <a:pt x="4504" y="1190244"/>
                  </a:moveTo>
                  <a:lnTo>
                    <a:pt x="590354" y="20193"/>
                  </a:lnTo>
                  <a:cubicBezTo>
                    <a:pt x="597085" y="6731"/>
                    <a:pt x="608388" y="0"/>
                    <a:pt x="624136" y="0"/>
                  </a:cubicBezTo>
                  <a:cubicBezTo>
                    <a:pt x="639884" y="0"/>
                    <a:pt x="651187" y="6731"/>
                    <a:pt x="657918" y="20193"/>
                  </a:cubicBezTo>
                  <a:lnTo>
                    <a:pt x="1243767" y="1190244"/>
                  </a:lnTo>
                  <a:cubicBezTo>
                    <a:pt x="1250498" y="1202690"/>
                    <a:pt x="1251387" y="1213358"/>
                    <a:pt x="1246307" y="1222375"/>
                  </a:cubicBezTo>
                  <a:cubicBezTo>
                    <a:pt x="1241227" y="1231392"/>
                    <a:pt x="1231321" y="1235837"/>
                    <a:pt x="1216717" y="1235837"/>
                  </a:cubicBezTo>
                  <a:lnTo>
                    <a:pt x="1063047" y="1235837"/>
                  </a:lnTo>
                  <a:cubicBezTo>
                    <a:pt x="1048442" y="1235837"/>
                    <a:pt x="1033710" y="1231392"/>
                    <a:pt x="1019105" y="1222375"/>
                  </a:cubicBezTo>
                  <a:cubicBezTo>
                    <a:pt x="1004500" y="1213358"/>
                    <a:pt x="994340" y="1202055"/>
                    <a:pt x="988752" y="1188593"/>
                  </a:cubicBezTo>
                  <a:lnTo>
                    <a:pt x="938079" y="1087247"/>
                  </a:lnTo>
                  <a:cubicBezTo>
                    <a:pt x="931348" y="1074928"/>
                    <a:pt x="920934" y="1064133"/>
                    <a:pt x="906837" y="1055116"/>
                  </a:cubicBezTo>
                  <a:cubicBezTo>
                    <a:pt x="892740" y="1046099"/>
                    <a:pt x="878389" y="1041654"/>
                    <a:pt x="863784" y="1041654"/>
                  </a:cubicBezTo>
                  <a:lnTo>
                    <a:pt x="384360" y="1041654"/>
                  </a:lnTo>
                  <a:cubicBezTo>
                    <a:pt x="369755" y="1041654"/>
                    <a:pt x="355023" y="1046226"/>
                    <a:pt x="340418" y="1055116"/>
                  </a:cubicBezTo>
                  <a:cubicBezTo>
                    <a:pt x="325813" y="1064006"/>
                    <a:pt x="315653" y="1075436"/>
                    <a:pt x="310065" y="1088898"/>
                  </a:cubicBezTo>
                  <a:lnTo>
                    <a:pt x="261043" y="1188466"/>
                  </a:lnTo>
                  <a:cubicBezTo>
                    <a:pt x="254312" y="1201928"/>
                    <a:pt x="243899" y="1213231"/>
                    <a:pt x="229802" y="1222248"/>
                  </a:cubicBezTo>
                  <a:cubicBezTo>
                    <a:pt x="215705" y="1231265"/>
                    <a:pt x="201354" y="1235710"/>
                    <a:pt x="186749" y="1235710"/>
                  </a:cubicBezTo>
                  <a:lnTo>
                    <a:pt x="33206" y="1235710"/>
                  </a:lnTo>
                  <a:cubicBezTo>
                    <a:pt x="18601" y="1235710"/>
                    <a:pt x="8695" y="1231265"/>
                    <a:pt x="3615" y="1222248"/>
                  </a:cubicBezTo>
                  <a:cubicBezTo>
                    <a:pt x="-1465" y="1213231"/>
                    <a:pt x="-1211" y="1202563"/>
                    <a:pt x="4504" y="1190117"/>
                  </a:cubicBezTo>
                </a:path>
              </a:pathLst>
            </a:custGeom>
            <a:solidFill>
              <a:srgbClr val="0031D1"/>
            </a:solidFill>
          </p:spPr>
        </p:sp>
      </p:grpSp>
      <p:grpSp>
        <p:nvGrpSpPr>
          <p:cNvPr name="Group 17" id="17"/>
          <p:cNvGrpSpPr/>
          <p:nvPr/>
        </p:nvGrpSpPr>
        <p:grpSpPr>
          <a:xfrm rot="0">
            <a:off x="4517488" y="4862350"/>
            <a:ext cx="109996" cy="137439"/>
            <a:chOff x="0" y="0"/>
            <a:chExt cx="223622" cy="279413"/>
          </a:xfrm>
        </p:grpSpPr>
        <p:sp>
          <p:nvSpPr>
            <p:cNvPr name="Freeform 18" id="18"/>
            <p:cNvSpPr/>
            <p:nvPr/>
          </p:nvSpPr>
          <p:spPr>
            <a:xfrm flipH="false" flipV="false" rot="0">
              <a:off x="0" y="0"/>
              <a:ext cx="223647" cy="279400"/>
            </a:xfrm>
            <a:custGeom>
              <a:avLst/>
              <a:gdLst/>
              <a:ahLst/>
              <a:cxnLst/>
              <a:rect r="r" b="b" t="t" l="l"/>
              <a:pathLst>
                <a:path h="279400" w="223647">
                  <a:moveTo>
                    <a:pt x="209677" y="0"/>
                  </a:moveTo>
                  <a:cubicBezTo>
                    <a:pt x="217297" y="0"/>
                    <a:pt x="223647" y="6223"/>
                    <a:pt x="223647" y="13970"/>
                  </a:cubicBezTo>
                  <a:cubicBezTo>
                    <a:pt x="223647" y="21717"/>
                    <a:pt x="217424" y="27940"/>
                    <a:pt x="209677" y="27940"/>
                  </a:cubicBezTo>
                  <a:lnTo>
                    <a:pt x="125730" y="27940"/>
                  </a:lnTo>
                  <a:lnTo>
                    <a:pt x="125730" y="265430"/>
                  </a:lnTo>
                  <a:cubicBezTo>
                    <a:pt x="125730" y="273050"/>
                    <a:pt x="119507" y="279400"/>
                    <a:pt x="111760" y="279400"/>
                  </a:cubicBezTo>
                  <a:cubicBezTo>
                    <a:pt x="104013" y="279400"/>
                    <a:pt x="97790" y="273177"/>
                    <a:pt x="97790" y="265430"/>
                  </a:cubicBezTo>
                  <a:lnTo>
                    <a:pt x="97790" y="27940"/>
                  </a:lnTo>
                  <a:lnTo>
                    <a:pt x="13970" y="27940"/>
                  </a:lnTo>
                  <a:cubicBezTo>
                    <a:pt x="6223" y="27940"/>
                    <a:pt x="0" y="21590"/>
                    <a:pt x="0" y="13970"/>
                  </a:cubicBezTo>
                  <a:cubicBezTo>
                    <a:pt x="0" y="6350"/>
                    <a:pt x="6223" y="0"/>
                    <a:pt x="13970" y="0"/>
                  </a:cubicBezTo>
                  <a:close/>
                </a:path>
              </a:pathLst>
            </a:custGeom>
            <a:solidFill>
              <a:srgbClr val="0031D1"/>
            </a:solidFill>
          </p:spPr>
        </p:sp>
      </p:grpSp>
      <p:grpSp>
        <p:nvGrpSpPr>
          <p:cNvPr name="Group 19" id="19"/>
          <p:cNvGrpSpPr/>
          <p:nvPr/>
        </p:nvGrpSpPr>
        <p:grpSpPr>
          <a:xfrm rot="0">
            <a:off x="4943305" y="4890892"/>
            <a:ext cx="377065" cy="80323"/>
            <a:chOff x="0" y="0"/>
            <a:chExt cx="766572" cy="163297"/>
          </a:xfrm>
        </p:grpSpPr>
        <p:sp>
          <p:nvSpPr>
            <p:cNvPr name="Freeform 20" id="20"/>
            <p:cNvSpPr/>
            <p:nvPr/>
          </p:nvSpPr>
          <p:spPr>
            <a:xfrm flipH="false" flipV="false" rot="0">
              <a:off x="0" y="0"/>
              <a:ext cx="766572" cy="163196"/>
            </a:xfrm>
            <a:custGeom>
              <a:avLst/>
              <a:gdLst/>
              <a:ahLst/>
              <a:cxnLst/>
              <a:rect r="r" b="b" t="t" l="l"/>
              <a:pathLst>
                <a:path h="163196" w="766572">
                  <a:moveTo>
                    <a:pt x="0" y="135001"/>
                  </a:moveTo>
                  <a:lnTo>
                    <a:pt x="0" y="28194"/>
                  </a:lnTo>
                  <a:cubicBezTo>
                    <a:pt x="0" y="12573"/>
                    <a:pt x="12700" y="0"/>
                    <a:pt x="28194" y="0"/>
                  </a:cubicBezTo>
                  <a:lnTo>
                    <a:pt x="738378" y="0"/>
                  </a:lnTo>
                  <a:cubicBezTo>
                    <a:pt x="753999" y="0"/>
                    <a:pt x="766572" y="12573"/>
                    <a:pt x="766572" y="28194"/>
                  </a:cubicBezTo>
                  <a:lnTo>
                    <a:pt x="766572" y="135001"/>
                  </a:lnTo>
                  <a:cubicBezTo>
                    <a:pt x="766572" y="150622"/>
                    <a:pt x="753872" y="163195"/>
                    <a:pt x="738378" y="163195"/>
                  </a:cubicBezTo>
                  <a:lnTo>
                    <a:pt x="28194" y="163195"/>
                  </a:lnTo>
                  <a:cubicBezTo>
                    <a:pt x="12700" y="163322"/>
                    <a:pt x="0" y="150622"/>
                    <a:pt x="0" y="135001"/>
                  </a:cubicBezTo>
                </a:path>
              </a:pathLst>
            </a:custGeom>
            <a:solidFill>
              <a:srgbClr val="0031D1"/>
            </a:solidFill>
          </p:spPr>
        </p:sp>
      </p:grpSp>
      <p:grpSp>
        <p:nvGrpSpPr>
          <p:cNvPr name="Group 21" id="21"/>
          <p:cNvGrpSpPr/>
          <p:nvPr/>
        </p:nvGrpSpPr>
        <p:grpSpPr>
          <a:xfrm rot="0">
            <a:off x="4888925" y="3984579"/>
            <a:ext cx="485818" cy="628655"/>
            <a:chOff x="0" y="0"/>
            <a:chExt cx="987666" cy="1278052"/>
          </a:xfrm>
        </p:grpSpPr>
        <p:sp>
          <p:nvSpPr>
            <p:cNvPr name="Freeform 22" id="22"/>
            <p:cNvSpPr/>
            <p:nvPr/>
          </p:nvSpPr>
          <p:spPr>
            <a:xfrm flipH="false" flipV="false" rot="0">
              <a:off x="0" y="0"/>
              <a:ext cx="987553" cy="1277747"/>
            </a:xfrm>
            <a:custGeom>
              <a:avLst/>
              <a:gdLst/>
              <a:ahLst/>
              <a:cxnLst/>
              <a:rect r="r" b="b" t="t" l="l"/>
              <a:pathLst>
                <a:path h="1277747" w="987553">
                  <a:moveTo>
                    <a:pt x="16891" y="1050163"/>
                  </a:moveTo>
                  <a:lnTo>
                    <a:pt x="87757" y="945515"/>
                  </a:lnTo>
                  <a:cubicBezTo>
                    <a:pt x="95631" y="933196"/>
                    <a:pt x="106299" y="925830"/>
                    <a:pt x="119888" y="923544"/>
                  </a:cubicBezTo>
                  <a:cubicBezTo>
                    <a:pt x="133477" y="921258"/>
                    <a:pt x="146304" y="924179"/>
                    <a:pt x="158750" y="931926"/>
                  </a:cubicBezTo>
                  <a:cubicBezTo>
                    <a:pt x="209423" y="963422"/>
                    <a:pt x="258953" y="990473"/>
                    <a:pt x="307340" y="1012952"/>
                  </a:cubicBezTo>
                  <a:cubicBezTo>
                    <a:pt x="371475" y="1044448"/>
                    <a:pt x="440690" y="1060196"/>
                    <a:pt x="514986" y="1060196"/>
                  </a:cubicBezTo>
                  <a:cubicBezTo>
                    <a:pt x="553213" y="1060196"/>
                    <a:pt x="586995" y="1055116"/>
                    <a:pt x="616332" y="1044956"/>
                  </a:cubicBezTo>
                  <a:cubicBezTo>
                    <a:pt x="643383" y="1037082"/>
                    <a:pt x="668148" y="1024636"/>
                    <a:pt x="690627" y="1007872"/>
                  </a:cubicBezTo>
                  <a:cubicBezTo>
                    <a:pt x="710820" y="992124"/>
                    <a:pt x="726060" y="974725"/>
                    <a:pt x="736220" y="955548"/>
                  </a:cubicBezTo>
                  <a:cubicBezTo>
                    <a:pt x="746380" y="937514"/>
                    <a:pt x="751460" y="918464"/>
                    <a:pt x="751460" y="898144"/>
                  </a:cubicBezTo>
                  <a:cubicBezTo>
                    <a:pt x="751460" y="874522"/>
                    <a:pt x="743586" y="853186"/>
                    <a:pt x="727838" y="834009"/>
                  </a:cubicBezTo>
                  <a:cubicBezTo>
                    <a:pt x="713233" y="818261"/>
                    <a:pt x="692913" y="804164"/>
                    <a:pt x="667005" y="791845"/>
                  </a:cubicBezTo>
                  <a:cubicBezTo>
                    <a:pt x="654559" y="786257"/>
                    <a:pt x="641097" y="781177"/>
                    <a:pt x="626492" y="776605"/>
                  </a:cubicBezTo>
                  <a:cubicBezTo>
                    <a:pt x="611887" y="772033"/>
                    <a:pt x="595504" y="767588"/>
                    <a:pt x="577597" y="763143"/>
                  </a:cubicBezTo>
                  <a:cubicBezTo>
                    <a:pt x="560706" y="758698"/>
                    <a:pt x="543561" y="754634"/>
                    <a:pt x="526162" y="751332"/>
                  </a:cubicBezTo>
                  <a:cubicBezTo>
                    <a:pt x="508763" y="748030"/>
                    <a:pt x="490347" y="744601"/>
                    <a:pt x="471297" y="741172"/>
                  </a:cubicBezTo>
                  <a:cubicBezTo>
                    <a:pt x="458851" y="738886"/>
                    <a:pt x="445389" y="736346"/>
                    <a:pt x="430784" y="733552"/>
                  </a:cubicBezTo>
                  <a:cubicBezTo>
                    <a:pt x="416179" y="730758"/>
                    <a:pt x="400939" y="727710"/>
                    <a:pt x="385191" y="724281"/>
                  </a:cubicBezTo>
                  <a:cubicBezTo>
                    <a:pt x="352552" y="719836"/>
                    <a:pt x="318770" y="711327"/>
                    <a:pt x="283845" y="699008"/>
                  </a:cubicBezTo>
                  <a:cubicBezTo>
                    <a:pt x="247777" y="688848"/>
                    <a:pt x="213487" y="674878"/>
                    <a:pt x="180848" y="656844"/>
                  </a:cubicBezTo>
                  <a:cubicBezTo>
                    <a:pt x="147066" y="639953"/>
                    <a:pt x="116713" y="617982"/>
                    <a:pt x="89662" y="591058"/>
                  </a:cubicBezTo>
                  <a:cubicBezTo>
                    <a:pt x="62611" y="566293"/>
                    <a:pt x="40767" y="534797"/>
                    <a:pt x="23876" y="496570"/>
                  </a:cubicBezTo>
                  <a:cubicBezTo>
                    <a:pt x="7874" y="459232"/>
                    <a:pt x="0" y="416433"/>
                    <a:pt x="0" y="368046"/>
                  </a:cubicBezTo>
                  <a:cubicBezTo>
                    <a:pt x="0" y="297180"/>
                    <a:pt x="14605" y="236982"/>
                    <a:pt x="43942" y="187452"/>
                  </a:cubicBezTo>
                  <a:cubicBezTo>
                    <a:pt x="72009" y="141351"/>
                    <a:pt x="109220" y="103632"/>
                    <a:pt x="155321" y="74295"/>
                  </a:cubicBezTo>
                  <a:cubicBezTo>
                    <a:pt x="199263" y="48387"/>
                    <a:pt x="249809" y="29337"/>
                    <a:pt x="307213" y="16891"/>
                  </a:cubicBezTo>
                  <a:cubicBezTo>
                    <a:pt x="360172" y="5588"/>
                    <a:pt x="414147" y="0"/>
                    <a:pt x="469392" y="0"/>
                  </a:cubicBezTo>
                  <a:cubicBezTo>
                    <a:pt x="521209" y="0"/>
                    <a:pt x="567310" y="3429"/>
                    <a:pt x="607823" y="10160"/>
                  </a:cubicBezTo>
                  <a:cubicBezTo>
                    <a:pt x="628143" y="13589"/>
                    <a:pt x="647447" y="17780"/>
                    <a:pt x="666116" y="22860"/>
                  </a:cubicBezTo>
                  <a:cubicBezTo>
                    <a:pt x="684785" y="27940"/>
                    <a:pt x="702946" y="33274"/>
                    <a:pt x="720980" y="38862"/>
                  </a:cubicBezTo>
                  <a:cubicBezTo>
                    <a:pt x="739014" y="45593"/>
                    <a:pt x="756413" y="53213"/>
                    <a:pt x="773304" y="61595"/>
                  </a:cubicBezTo>
                  <a:cubicBezTo>
                    <a:pt x="790195" y="69977"/>
                    <a:pt x="806451" y="78740"/>
                    <a:pt x="822199" y="87757"/>
                  </a:cubicBezTo>
                  <a:cubicBezTo>
                    <a:pt x="833502" y="94488"/>
                    <a:pt x="844170" y="101219"/>
                    <a:pt x="854330" y="107950"/>
                  </a:cubicBezTo>
                  <a:cubicBezTo>
                    <a:pt x="864490" y="114681"/>
                    <a:pt x="875666" y="121412"/>
                    <a:pt x="888112" y="128270"/>
                  </a:cubicBezTo>
                  <a:cubicBezTo>
                    <a:pt x="900431" y="137287"/>
                    <a:pt x="907797" y="148463"/>
                    <a:pt x="910083" y="162052"/>
                  </a:cubicBezTo>
                  <a:cubicBezTo>
                    <a:pt x="912369" y="175641"/>
                    <a:pt x="908940" y="188468"/>
                    <a:pt x="899923" y="200914"/>
                  </a:cubicBezTo>
                  <a:lnTo>
                    <a:pt x="828930" y="302260"/>
                  </a:lnTo>
                  <a:cubicBezTo>
                    <a:pt x="819913" y="314706"/>
                    <a:pt x="808356" y="321945"/>
                    <a:pt x="794386" y="324231"/>
                  </a:cubicBezTo>
                  <a:cubicBezTo>
                    <a:pt x="780416" y="326517"/>
                    <a:pt x="767081" y="323723"/>
                    <a:pt x="754762" y="315722"/>
                  </a:cubicBezTo>
                  <a:cubicBezTo>
                    <a:pt x="710820" y="287655"/>
                    <a:pt x="669164" y="266192"/>
                    <a:pt x="629794" y="251587"/>
                  </a:cubicBezTo>
                  <a:cubicBezTo>
                    <a:pt x="576835" y="230251"/>
                    <a:pt x="520065" y="219456"/>
                    <a:pt x="459232" y="219456"/>
                  </a:cubicBezTo>
                  <a:cubicBezTo>
                    <a:pt x="449072" y="219456"/>
                    <a:pt x="438150" y="220091"/>
                    <a:pt x="426339" y="221107"/>
                  </a:cubicBezTo>
                  <a:cubicBezTo>
                    <a:pt x="414528" y="222123"/>
                    <a:pt x="402463" y="223901"/>
                    <a:pt x="390017" y="226187"/>
                  </a:cubicBezTo>
                  <a:cubicBezTo>
                    <a:pt x="364109" y="231775"/>
                    <a:pt x="339344" y="240284"/>
                    <a:pt x="315722" y="251460"/>
                  </a:cubicBezTo>
                  <a:cubicBezTo>
                    <a:pt x="304419" y="257048"/>
                    <a:pt x="294005" y="263271"/>
                    <a:pt x="284480" y="270002"/>
                  </a:cubicBezTo>
                  <a:cubicBezTo>
                    <a:pt x="274955" y="276733"/>
                    <a:pt x="266192" y="284607"/>
                    <a:pt x="258318" y="293624"/>
                  </a:cubicBezTo>
                  <a:cubicBezTo>
                    <a:pt x="243713" y="311658"/>
                    <a:pt x="236347" y="332994"/>
                    <a:pt x="236347" y="357759"/>
                  </a:cubicBezTo>
                  <a:cubicBezTo>
                    <a:pt x="236347" y="382524"/>
                    <a:pt x="245364" y="403352"/>
                    <a:pt x="263398" y="420243"/>
                  </a:cubicBezTo>
                  <a:cubicBezTo>
                    <a:pt x="281432" y="437134"/>
                    <a:pt x="304419" y="451231"/>
                    <a:pt x="332613" y="462407"/>
                  </a:cubicBezTo>
                  <a:cubicBezTo>
                    <a:pt x="347218" y="467995"/>
                    <a:pt x="362204" y="473075"/>
                    <a:pt x="377317" y="477647"/>
                  </a:cubicBezTo>
                  <a:cubicBezTo>
                    <a:pt x="392430" y="482219"/>
                    <a:pt x="408559" y="486664"/>
                    <a:pt x="425450" y="491109"/>
                  </a:cubicBezTo>
                  <a:cubicBezTo>
                    <a:pt x="442341" y="495554"/>
                    <a:pt x="458978" y="499491"/>
                    <a:pt x="475234" y="502920"/>
                  </a:cubicBezTo>
                  <a:cubicBezTo>
                    <a:pt x="491490" y="506349"/>
                    <a:pt x="507619" y="510286"/>
                    <a:pt x="523367" y="514731"/>
                  </a:cubicBezTo>
                  <a:cubicBezTo>
                    <a:pt x="535686" y="517017"/>
                    <a:pt x="548641" y="519811"/>
                    <a:pt x="562230" y="523113"/>
                  </a:cubicBezTo>
                  <a:cubicBezTo>
                    <a:pt x="575819" y="526415"/>
                    <a:pt x="590297" y="529336"/>
                    <a:pt x="606172" y="531495"/>
                  </a:cubicBezTo>
                  <a:cubicBezTo>
                    <a:pt x="622047" y="533654"/>
                    <a:pt x="638303" y="536829"/>
                    <a:pt x="655067" y="540766"/>
                  </a:cubicBezTo>
                  <a:cubicBezTo>
                    <a:pt x="671831" y="544703"/>
                    <a:pt x="688849" y="549529"/>
                    <a:pt x="705740" y="555117"/>
                  </a:cubicBezTo>
                  <a:cubicBezTo>
                    <a:pt x="714757" y="557403"/>
                    <a:pt x="724028" y="560197"/>
                    <a:pt x="733553" y="563499"/>
                  </a:cubicBezTo>
                  <a:cubicBezTo>
                    <a:pt x="743078" y="566801"/>
                    <a:pt x="752349" y="570230"/>
                    <a:pt x="761366" y="573659"/>
                  </a:cubicBezTo>
                  <a:cubicBezTo>
                    <a:pt x="774828" y="579247"/>
                    <a:pt x="790322" y="586613"/>
                    <a:pt x="807848" y="595630"/>
                  </a:cubicBezTo>
                  <a:cubicBezTo>
                    <a:pt x="825374" y="604647"/>
                    <a:pt x="840233" y="613664"/>
                    <a:pt x="852552" y="622681"/>
                  </a:cubicBezTo>
                  <a:cubicBezTo>
                    <a:pt x="861569" y="628269"/>
                    <a:pt x="869697" y="634238"/>
                    <a:pt x="877063" y="640461"/>
                  </a:cubicBezTo>
                  <a:cubicBezTo>
                    <a:pt x="884429" y="646684"/>
                    <a:pt x="891414" y="653161"/>
                    <a:pt x="898145" y="659892"/>
                  </a:cubicBezTo>
                  <a:cubicBezTo>
                    <a:pt x="926212" y="688086"/>
                    <a:pt x="947675" y="720725"/>
                    <a:pt x="962280" y="757809"/>
                  </a:cubicBezTo>
                  <a:cubicBezTo>
                    <a:pt x="979171" y="797179"/>
                    <a:pt x="987553" y="844423"/>
                    <a:pt x="987553" y="899668"/>
                  </a:cubicBezTo>
                  <a:cubicBezTo>
                    <a:pt x="987553" y="962660"/>
                    <a:pt x="976250" y="1018413"/>
                    <a:pt x="953771" y="1066800"/>
                  </a:cubicBezTo>
                  <a:cubicBezTo>
                    <a:pt x="931292" y="1114044"/>
                    <a:pt x="899161" y="1152906"/>
                    <a:pt x="857505" y="1183259"/>
                  </a:cubicBezTo>
                  <a:cubicBezTo>
                    <a:pt x="814706" y="1215898"/>
                    <a:pt x="765176" y="1239520"/>
                    <a:pt x="708915" y="1254125"/>
                  </a:cubicBezTo>
                  <a:cubicBezTo>
                    <a:pt x="649225" y="1269873"/>
                    <a:pt x="585725" y="1277747"/>
                    <a:pt x="518160" y="1277747"/>
                  </a:cubicBezTo>
                  <a:cubicBezTo>
                    <a:pt x="452882" y="1277747"/>
                    <a:pt x="395986" y="1272667"/>
                    <a:pt x="347599" y="1262507"/>
                  </a:cubicBezTo>
                  <a:cubicBezTo>
                    <a:pt x="301371" y="1254633"/>
                    <a:pt x="257048" y="1241679"/>
                    <a:pt x="214249" y="1223645"/>
                  </a:cubicBezTo>
                  <a:cubicBezTo>
                    <a:pt x="194056" y="1215771"/>
                    <a:pt x="174244" y="1207008"/>
                    <a:pt x="155194" y="1197483"/>
                  </a:cubicBezTo>
                  <a:cubicBezTo>
                    <a:pt x="136144" y="1187958"/>
                    <a:pt x="117475" y="1177544"/>
                    <a:pt x="99441" y="1166241"/>
                  </a:cubicBezTo>
                  <a:cubicBezTo>
                    <a:pt x="88138" y="1159510"/>
                    <a:pt x="76835" y="1152525"/>
                    <a:pt x="65659" y="1145159"/>
                  </a:cubicBezTo>
                  <a:cubicBezTo>
                    <a:pt x="54483" y="1137793"/>
                    <a:pt x="42545" y="1129665"/>
                    <a:pt x="30226" y="1120648"/>
                  </a:cubicBezTo>
                  <a:cubicBezTo>
                    <a:pt x="18034" y="1113155"/>
                    <a:pt x="10668" y="1102487"/>
                    <a:pt x="8382" y="1089025"/>
                  </a:cubicBezTo>
                  <a:cubicBezTo>
                    <a:pt x="6096" y="1075563"/>
                    <a:pt x="8890" y="1062609"/>
                    <a:pt x="16891" y="1050163"/>
                  </a:cubicBezTo>
                </a:path>
              </a:pathLst>
            </a:custGeom>
            <a:solidFill>
              <a:srgbClr val="0031D1"/>
            </a:solidFill>
          </p:spPr>
        </p:sp>
      </p:grpSp>
      <p:grpSp>
        <p:nvGrpSpPr>
          <p:cNvPr name="Group 23" id="23"/>
          <p:cNvGrpSpPr/>
          <p:nvPr/>
        </p:nvGrpSpPr>
        <p:grpSpPr>
          <a:xfrm rot="0">
            <a:off x="4648461" y="2662982"/>
            <a:ext cx="966752" cy="1075167"/>
            <a:chOff x="0" y="0"/>
            <a:chExt cx="1965401" cy="2185810"/>
          </a:xfrm>
        </p:grpSpPr>
        <p:sp>
          <p:nvSpPr>
            <p:cNvPr name="Freeform 24" id="2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25" id="2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26" id="2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27" id="2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28" id="2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29" id="2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30" id="3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31" id="3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32" id="3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33" id="3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34" id="3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35" id="3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36" id="3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37" id="3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38" id="3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39" id="3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40" id="4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41" id="4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42" id="4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43" id="4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44" id="4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45" id="4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46" id="46"/>
          <p:cNvGrpSpPr/>
          <p:nvPr/>
        </p:nvGrpSpPr>
        <p:grpSpPr>
          <a:xfrm rot="0">
            <a:off x="5639214" y="4862350"/>
            <a:ext cx="92992" cy="137451"/>
            <a:chOff x="0" y="0"/>
            <a:chExt cx="189052" cy="279438"/>
          </a:xfrm>
        </p:grpSpPr>
        <p:sp>
          <p:nvSpPr>
            <p:cNvPr name="Freeform 47" id="47"/>
            <p:cNvSpPr/>
            <p:nvPr/>
          </p:nvSpPr>
          <p:spPr>
            <a:xfrm flipH="false" flipV="false" rot="0">
              <a:off x="0" y="0"/>
              <a:ext cx="188976" cy="279400"/>
            </a:xfrm>
            <a:custGeom>
              <a:avLst/>
              <a:gdLst/>
              <a:ahLst/>
              <a:cxnLst/>
              <a:rect r="r" b="b" t="t" l="l"/>
              <a:pathLst>
                <a:path h="279400" w="188976">
                  <a:moveTo>
                    <a:pt x="71501" y="251587"/>
                  </a:moveTo>
                  <a:lnTo>
                    <a:pt x="102997" y="251587"/>
                  </a:lnTo>
                  <a:cubicBezTo>
                    <a:pt x="135001" y="251587"/>
                    <a:pt x="161163" y="225298"/>
                    <a:pt x="161163" y="193421"/>
                  </a:cubicBezTo>
                  <a:cubicBezTo>
                    <a:pt x="161163" y="161544"/>
                    <a:pt x="134874" y="135255"/>
                    <a:pt x="102997" y="135255"/>
                  </a:cubicBezTo>
                  <a:lnTo>
                    <a:pt x="71501" y="135255"/>
                  </a:lnTo>
                  <a:lnTo>
                    <a:pt x="48641" y="135255"/>
                  </a:lnTo>
                  <a:lnTo>
                    <a:pt x="12573" y="135255"/>
                  </a:lnTo>
                  <a:cubicBezTo>
                    <a:pt x="5588" y="134493"/>
                    <a:pt x="0" y="128524"/>
                    <a:pt x="0" y="121285"/>
                  </a:cubicBezTo>
                  <a:cubicBezTo>
                    <a:pt x="0" y="113538"/>
                    <a:pt x="6223" y="107315"/>
                    <a:pt x="13970" y="107315"/>
                  </a:cubicBezTo>
                  <a:lnTo>
                    <a:pt x="48641" y="107315"/>
                  </a:lnTo>
                  <a:lnTo>
                    <a:pt x="71501" y="107315"/>
                  </a:lnTo>
                  <a:lnTo>
                    <a:pt x="102997" y="107315"/>
                  </a:lnTo>
                  <a:lnTo>
                    <a:pt x="121412" y="107315"/>
                  </a:lnTo>
                  <a:cubicBezTo>
                    <a:pt x="143256" y="107315"/>
                    <a:pt x="161163" y="89408"/>
                    <a:pt x="161163" y="67564"/>
                  </a:cubicBezTo>
                  <a:cubicBezTo>
                    <a:pt x="161163" y="45720"/>
                    <a:pt x="143256" y="27813"/>
                    <a:pt x="121412" y="27813"/>
                  </a:cubicBezTo>
                  <a:lnTo>
                    <a:pt x="71501" y="27813"/>
                  </a:lnTo>
                  <a:lnTo>
                    <a:pt x="48641" y="27813"/>
                  </a:lnTo>
                  <a:lnTo>
                    <a:pt x="12573" y="27813"/>
                  </a:lnTo>
                  <a:cubicBezTo>
                    <a:pt x="5588" y="27178"/>
                    <a:pt x="0" y="21209"/>
                    <a:pt x="0" y="13970"/>
                  </a:cubicBezTo>
                  <a:cubicBezTo>
                    <a:pt x="0" y="6223"/>
                    <a:pt x="6223" y="0"/>
                    <a:pt x="13970" y="0"/>
                  </a:cubicBezTo>
                  <a:lnTo>
                    <a:pt x="48641" y="0"/>
                  </a:lnTo>
                  <a:lnTo>
                    <a:pt x="71501" y="0"/>
                  </a:lnTo>
                  <a:lnTo>
                    <a:pt x="121412" y="0"/>
                  </a:lnTo>
                  <a:cubicBezTo>
                    <a:pt x="158623" y="0"/>
                    <a:pt x="188976" y="30353"/>
                    <a:pt x="188976" y="67564"/>
                  </a:cubicBezTo>
                  <a:cubicBezTo>
                    <a:pt x="188976" y="92202"/>
                    <a:pt x="175641" y="113792"/>
                    <a:pt x="155829" y="125603"/>
                  </a:cubicBezTo>
                  <a:cubicBezTo>
                    <a:pt x="176022" y="141351"/>
                    <a:pt x="188976" y="165989"/>
                    <a:pt x="188976" y="193294"/>
                  </a:cubicBezTo>
                  <a:cubicBezTo>
                    <a:pt x="188976" y="240665"/>
                    <a:pt x="150241" y="279400"/>
                    <a:pt x="102870" y="279400"/>
                  </a:cubicBezTo>
                  <a:lnTo>
                    <a:pt x="71501" y="279400"/>
                  </a:lnTo>
                  <a:lnTo>
                    <a:pt x="48641" y="279400"/>
                  </a:lnTo>
                  <a:lnTo>
                    <a:pt x="12573" y="279400"/>
                  </a:lnTo>
                  <a:cubicBezTo>
                    <a:pt x="5588" y="278765"/>
                    <a:pt x="0" y="272796"/>
                    <a:pt x="0" y="265557"/>
                  </a:cubicBezTo>
                  <a:cubicBezTo>
                    <a:pt x="0" y="257810"/>
                    <a:pt x="6223" y="251587"/>
                    <a:pt x="13970" y="251587"/>
                  </a:cubicBezTo>
                  <a:lnTo>
                    <a:pt x="48641" y="251587"/>
                  </a:lnTo>
                  <a:close/>
                </a:path>
              </a:pathLst>
            </a:custGeom>
            <a:solidFill>
              <a:srgbClr val="0031D1"/>
            </a:solidFill>
          </p:spPr>
        </p:sp>
      </p:grpSp>
      <p:grpSp>
        <p:nvGrpSpPr>
          <p:cNvPr name="Group 48" id="48"/>
          <p:cNvGrpSpPr/>
          <p:nvPr/>
        </p:nvGrpSpPr>
        <p:grpSpPr>
          <a:xfrm rot="0">
            <a:off x="5869770" y="4858883"/>
            <a:ext cx="144354" cy="144361"/>
            <a:chOff x="0" y="0"/>
            <a:chExt cx="293472" cy="293484"/>
          </a:xfrm>
        </p:grpSpPr>
        <p:sp>
          <p:nvSpPr>
            <p:cNvPr name="Freeform 49" id="49"/>
            <p:cNvSpPr/>
            <p:nvPr/>
          </p:nvSpPr>
          <p:spPr>
            <a:xfrm flipH="false" flipV="false" rot="0">
              <a:off x="0" y="0"/>
              <a:ext cx="293498" cy="293497"/>
            </a:xfrm>
            <a:custGeom>
              <a:avLst/>
              <a:gdLst/>
              <a:ahLst/>
              <a:cxnLst/>
              <a:rect r="r" b="b" t="t" l="l"/>
              <a:pathLst>
                <a:path h="293497" w="293498">
                  <a:moveTo>
                    <a:pt x="146686" y="265684"/>
                  </a:moveTo>
                  <a:cubicBezTo>
                    <a:pt x="212345" y="265684"/>
                    <a:pt x="265685" y="212471"/>
                    <a:pt x="265685" y="146685"/>
                  </a:cubicBezTo>
                  <a:cubicBezTo>
                    <a:pt x="265685" y="80899"/>
                    <a:pt x="212472" y="27686"/>
                    <a:pt x="146686" y="27686"/>
                  </a:cubicBezTo>
                  <a:cubicBezTo>
                    <a:pt x="80899" y="27686"/>
                    <a:pt x="27686" y="80899"/>
                    <a:pt x="27686" y="146685"/>
                  </a:cubicBezTo>
                  <a:cubicBezTo>
                    <a:pt x="27686" y="212471"/>
                    <a:pt x="80899" y="265684"/>
                    <a:pt x="146686" y="265684"/>
                  </a:cubicBezTo>
                  <a:moveTo>
                    <a:pt x="146686" y="293497"/>
                  </a:moveTo>
                  <a:cubicBezTo>
                    <a:pt x="65659" y="293497"/>
                    <a:pt x="0" y="227838"/>
                    <a:pt x="0" y="146685"/>
                  </a:cubicBezTo>
                  <a:cubicBezTo>
                    <a:pt x="0" y="65532"/>
                    <a:pt x="65659" y="0"/>
                    <a:pt x="146686" y="0"/>
                  </a:cubicBezTo>
                  <a:cubicBezTo>
                    <a:pt x="227712" y="0"/>
                    <a:pt x="293498" y="65659"/>
                    <a:pt x="293498" y="146685"/>
                  </a:cubicBezTo>
                  <a:cubicBezTo>
                    <a:pt x="293498" y="227711"/>
                    <a:pt x="227712" y="293497"/>
                    <a:pt x="146686" y="293497"/>
                  </a:cubicBezTo>
                </a:path>
              </a:pathLst>
            </a:custGeom>
            <a:solidFill>
              <a:srgbClr val="0031D1"/>
            </a:solidFill>
          </p:spPr>
        </p:sp>
      </p:grpSp>
      <p:grpSp>
        <p:nvGrpSpPr>
          <p:cNvPr name="Group 50" id="50"/>
          <p:cNvGrpSpPr/>
          <p:nvPr/>
        </p:nvGrpSpPr>
        <p:grpSpPr>
          <a:xfrm rot="0">
            <a:off x="5689146" y="3993712"/>
            <a:ext cx="512462" cy="607890"/>
            <a:chOff x="0" y="0"/>
            <a:chExt cx="1041832" cy="1235837"/>
          </a:xfrm>
        </p:grpSpPr>
        <p:sp>
          <p:nvSpPr>
            <p:cNvPr name="Freeform 51" id="51"/>
            <p:cNvSpPr/>
            <p:nvPr/>
          </p:nvSpPr>
          <p:spPr>
            <a:xfrm flipH="false" flipV="false" rot="0">
              <a:off x="0" y="0"/>
              <a:ext cx="1041766" cy="1235837"/>
            </a:xfrm>
            <a:custGeom>
              <a:avLst/>
              <a:gdLst/>
              <a:ahLst/>
              <a:cxnLst/>
              <a:rect r="r" b="b" t="t" l="l"/>
              <a:pathLst>
                <a:path h="1235837" w="1041766">
                  <a:moveTo>
                    <a:pt x="719202" y="1196975"/>
                  </a:moveTo>
                  <a:lnTo>
                    <a:pt x="270129" y="710819"/>
                  </a:lnTo>
                  <a:cubicBezTo>
                    <a:pt x="261112" y="700659"/>
                    <a:pt x="253238" y="697103"/>
                    <a:pt x="246507" y="699897"/>
                  </a:cubicBezTo>
                  <a:cubicBezTo>
                    <a:pt x="239776" y="702691"/>
                    <a:pt x="236347" y="711454"/>
                    <a:pt x="236347" y="726059"/>
                  </a:cubicBezTo>
                  <a:lnTo>
                    <a:pt x="236347" y="1183513"/>
                  </a:lnTo>
                  <a:cubicBezTo>
                    <a:pt x="236347" y="1198118"/>
                    <a:pt x="231267" y="1210564"/>
                    <a:pt x="221107" y="1220597"/>
                  </a:cubicBezTo>
                  <a:cubicBezTo>
                    <a:pt x="210947" y="1230630"/>
                    <a:pt x="198628" y="1235837"/>
                    <a:pt x="184023" y="1235837"/>
                  </a:cubicBezTo>
                  <a:lnTo>
                    <a:pt x="50673" y="1235837"/>
                  </a:lnTo>
                  <a:cubicBezTo>
                    <a:pt x="36068" y="1235837"/>
                    <a:pt x="23876" y="1230757"/>
                    <a:pt x="14351" y="1220597"/>
                  </a:cubicBezTo>
                  <a:cubicBezTo>
                    <a:pt x="4826" y="1210437"/>
                    <a:pt x="0" y="1198118"/>
                    <a:pt x="0" y="1183513"/>
                  </a:cubicBezTo>
                  <a:lnTo>
                    <a:pt x="0" y="52324"/>
                  </a:lnTo>
                  <a:cubicBezTo>
                    <a:pt x="0" y="37719"/>
                    <a:pt x="4826" y="25273"/>
                    <a:pt x="14351" y="15240"/>
                  </a:cubicBezTo>
                  <a:cubicBezTo>
                    <a:pt x="23876" y="5207"/>
                    <a:pt x="35941" y="0"/>
                    <a:pt x="50673" y="0"/>
                  </a:cubicBezTo>
                  <a:lnTo>
                    <a:pt x="184023" y="0"/>
                  </a:lnTo>
                  <a:cubicBezTo>
                    <a:pt x="198628" y="0"/>
                    <a:pt x="211074" y="5080"/>
                    <a:pt x="221107" y="15240"/>
                  </a:cubicBezTo>
                  <a:cubicBezTo>
                    <a:pt x="231140" y="25400"/>
                    <a:pt x="236347" y="37719"/>
                    <a:pt x="236347" y="52324"/>
                  </a:cubicBezTo>
                  <a:lnTo>
                    <a:pt x="236347" y="575691"/>
                  </a:lnTo>
                  <a:cubicBezTo>
                    <a:pt x="236347" y="590296"/>
                    <a:pt x="239395" y="598805"/>
                    <a:pt x="245618" y="600964"/>
                  </a:cubicBezTo>
                  <a:cubicBezTo>
                    <a:pt x="251841" y="603123"/>
                    <a:pt x="259461" y="598678"/>
                    <a:pt x="268478" y="587502"/>
                  </a:cubicBezTo>
                  <a:lnTo>
                    <a:pt x="695580" y="42164"/>
                  </a:lnTo>
                  <a:cubicBezTo>
                    <a:pt x="704597" y="30988"/>
                    <a:pt x="716916" y="21336"/>
                    <a:pt x="732791" y="13462"/>
                  </a:cubicBezTo>
                  <a:cubicBezTo>
                    <a:pt x="748666" y="5588"/>
                    <a:pt x="763652" y="1651"/>
                    <a:pt x="778257" y="1651"/>
                  </a:cubicBezTo>
                  <a:lnTo>
                    <a:pt x="965709" y="1651"/>
                  </a:lnTo>
                  <a:cubicBezTo>
                    <a:pt x="980314" y="1651"/>
                    <a:pt x="989585" y="5588"/>
                    <a:pt x="993522" y="13462"/>
                  </a:cubicBezTo>
                  <a:cubicBezTo>
                    <a:pt x="997459" y="21336"/>
                    <a:pt x="994919" y="30988"/>
                    <a:pt x="985902" y="42164"/>
                  </a:cubicBezTo>
                  <a:lnTo>
                    <a:pt x="541910" y="599313"/>
                  </a:lnTo>
                  <a:cubicBezTo>
                    <a:pt x="532893" y="610616"/>
                    <a:pt x="528701" y="623824"/>
                    <a:pt x="529210" y="638937"/>
                  </a:cubicBezTo>
                  <a:cubicBezTo>
                    <a:pt x="529718" y="654050"/>
                    <a:pt x="535051" y="666750"/>
                    <a:pt x="545211" y="676910"/>
                  </a:cubicBezTo>
                  <a:lnTo>
                    <a:pt x="1031495" y="1198753"/>
                  </a:lnTo>
                  <a:cubicBezTo>
                    <a:pt x="1040512" y="1208913"/>
                    <a:pt x="1043560" y="1217676"/>
                    <a:pt x="1040766" y="1224915"/>
                  </a:cubicBezTo>
                  <a:cubicBezTo>
                    <a:pt x="1037972" y="1232154"/>
                    <a:pt x="1029209" y="1235837"/>
                    <a:pt x="1014604" y="1235837"/>
                  </a:cubicBezTo>
                  <a:lnTo>
                    <a:pt x="805308" y="1235837"/>
                  </a:lnTo>
                  <a:cubicBezTo>
                    <a:pt x="790703" y="1235837"/>
                    <a:pt x="774955" y="1232154"/>
                    <a:pt x="758064" y="1224915"/>
                  </a:cubicBezTo>
                  <a:cubicBezTo>
                    <a:pt x="741173" y="1217676"/>
                    <a:pt x="728219" y="1208278"/>
                    <a:pt x="719202" y="1197102"/>
                  </a:cubicBezTo>
                </a:path>
              </a:pathLst>
            </a:custGeom>
            <a:solidFill>
              <a:srgbClr val="0031D1"/>
            </a:solidFill>
          </p:spPr>
        </p:sp>
      </p:grpSp>
      <p:grpSp>
        <p:nvGrpSpPr>
          <p:cNvPr name="Group 52" id="52"/>
          <p:cNvGrpSpPr/>
          <p:nvPr/>
        </p:nvGrpSpPr>
        <p:grpSpPr>
          <a:xfrm rot="0">
            <a:off x="6151551" y="4862350"/>
            <a:ext cx="99826" cy="137426"/>
            <a:chOff x="0" y="0"/>
            <a:chExt cx="202946" cy="279387"/>
          </a:xfrm>
        </p:grpSpPr>
        <p:sp>
          <p:nvSpPr>
            <p:cNvPr name="Freeform 53" id="53"/>
            <p:cNvSpPr/>
            <p:nvPr/>
          </p:nvSpPr>
          <p:spPr>
            <a:xfrm flipH="false" flipV="false" rot="0">
              <a:off x="0" y="0"/>
              <a:ext cx="202946" cy="279400"/>
            </a:xfrm>
            <a:custGeom>
              <a:avLst/>
              <a:gdLst/>
              <a:ahLst/>
              <a:cxnLst/>
              <a:rect r="r" b="b" t="t" l="l"/>
              <a:pathLst>
                <a:path h="279400" w="202946">
                  <a:moveTo>
                    <a:pt x="63246" y="251587"/>
                  </a:moveTo>
                  <a:cubicBezTo>
                    <a:pt x="124714" y="251587"/>
                    <a:pt x="175133" y="201168"/>
                    <a:pt x="175133" y="139700"/>
                  </a:cubicBezTo>
                  <a:cubicBezTo>
                    <a:pt x="175133" y="78232"/>
                    <a:pt x="124714" y="27813"/>
                    <a:pt x="63246" y="27813"/>
                  </a:cubicBezTo>
                  <a:lnTo>
                    <a:pt x="13843" y="27813"/>
                  </a:lnTo>
                  <a:cubicBezTo>
                    <a:pt x="6223" y="27813"/>
                    <a:pt x="0" y="21590"/>
                    <a:pt x="0" y="13843"/>
                  </a:cubicBezTo>
                  <a:cubicBezTo>
                    <a:pt x="0" y="6096"/>
                    <a:pt x="6223" y="0"/>
                    <a:pt x="13843" y="0"/>
                  </a:cubicBezTo>
                  <a:lnTo>
                    <a:pt x="63246" y="0"/>
                  </a:lnTo>
                  <a:cubicBezTo>
                    <a:pt x="140081" y="0"/>
                    <a:pt x="202946" y="62865"/>
                    <a:pt x="202946" y="139700"/>
                  </a:cubicBezTo>
                  <a:cubicBezTo>
                    <a:pt x="202946" y="216535"/>
                    <a:pt x="140081" y="279400"/>
                    <a:pt x="63246" y="279400"/>
                  </a:cubicBezTo>
                  <a:lnTo>
                    <a:pt x="13843" y="279400"/>
                  </a:lnTo>
                  <a:cubicBezTo>
                    <a:pt x="6223" y="279400"/>
                    <a:pt x="0" y="273177"/>
                    <a:pt x="0" y="265557"/>
                  </a:cubicBezTo>
                  <a:cubicBezTo>
                    <a:pt x="0" y="257937"/>
                    <a:pt x="6223" y="251714"/>
                    <a:pt x="13843" y="251714"/>
                  </a:cubicBezTo>
                  <a:close/>
                </a:path>
              </a:pathLst>
            </a:custGeom>
            <a:solidFill>
              <a:srgbClr val="0031D1"/>
            </a:solidFill>
          </p:spPr>
        </p:sp>
      </p:grpSp>
      <p:grpSp>
        <p:nvGrpSpPr>
          <p:cNvPr name="Group 54" id="54"/>
          <p:cNvGrpSpPr/>
          <p:nvPr/>
        </p:nvGrpSpPr>
        <p:grpSpPr>
          <a:xfrm rot="0">
            <a:off x="6388916" y="4862343"/>
            <a:ext cx="93054" cy="137426"/>
            <a:chOff x="0" y="0"/>
            <a:chExt cx="189179" cy="279387"/>
          </a:xfrm>
        </p:grpSpPr>
        <p:sp>
          <p:nvSpPr>
            <p:cNvPr name="Freeform 55" id="55"/>
            <p:cNvSpPr/>
            <p:nvPr/>
          </p:nvSpPr>
          <p:spPr>
            <a:xfrm flipH="false" flipV="false" rot="0">
              <a:off x="0" y="0"/>
              <a:ext cx="189302" cy="279460"/>
            </a:xfrm>
            <a:custGeom>
              <a:avLst/>
              <a:gdLst/>
              <a:ahLst/>
              <a:cxnLst/>
              <a:rect r="r" b="b" t="t" l="l"/>
              <a:pathLst>
                <a:path h="279460" w="189302">
                  <a:moveTo>
                    <a:pt x="161168" y="86104"/>
                  </a:moveTo>
                  <a:cubicBezTo>
                    <a:pt x="161168" y="54101"/>
                    <a:pt x="134878" y="27939"/>
                    <a:pt x="103000" y="27939"/>
                  </a:cubicBezTo>
                  <a:lnTo>
                    <a:pt x="12573" y="27939"/>
                  </a:lnTo>
                  <a:cubicBezTo>
                    <a:pt x="5588" y="27177"/>
                    <a:pt x="0" y="21209"/>
                    <a:pt x="0" y="13970"/>
                  </a:cubicBezTo>
                  <a:cubicBezTo>
                    <a:pt x="0" y="6223"/>
                    <a:pt x="6223" y="0"/>
                    <a:pt x="13970" y="0"/>
                  </a:cubicBezTo>
                  <a:lnTo>
                    <a:pt x="103000" y="0"/>
                  </a:lnTo>
                  <a:cubicBezTo>
                    <a:pt x="150373" y="0"/>
                    <a:pt x="189109" y="38734"/>
                    <a:pt x="189109" y="86104"/>
                  </a:cubicBezTo>
                  <a:cubicBezTo>
                    <a:pt x="189109" y="125981"/>
                    <a:pt x="161549" y="159763"/>
                    <a:pt x="124718" y="169414"/>
                  </a:cubicBezTo>
                  <a:cubicBezTo>
                    <a:pt x="136783" y="179701"/>
                    <a:pt x="146309" y="192655"/>
                    <a:pt x="154818" y="205990"/>
                  </a:cubicBezTo>
                  <a:cubicBezTo>
                    <a:pt x="154818" y="206116"/>
                    <a:pt x="154945" y="206116"/>
                    <a:pt x="154945" y="206116"/>
                  </a:cubicBezTo>
                  <a:lnTo>
                    <a:pt x="187204" y="258185"/>
                  </a:lnTo>
                  <a:cubicBezTo>
                    <a:pt x="191268" y="264662"/>
                    <a:pt x="189236" y="273298"/>
                    <a:pt x="182759" y="277362"/>
                  </a:cubicBezTo>
                  <a:cubicBezTo>
                    <a:pt x="176282" y="281426"/>
                    <a:pt x="167645" y="279394"/>
                    <a:pt x="163581" y="272917"/>
                  </a:cubicBezTo>
                  <a:lnTo>
                    <a:pt x="131322" y="220975"/>
                  </a:lnTo>
                  <a:cubicBezTo>
                    <a:pt x="123575" y="208783"/>
                    <a:pt x="114685" y="196338"/>
                    <a:pt x="102873" y="187575"/>
                  </a:cubicBezTo>
                  <a:cubicBezTo>
                    <a:pt x="89919" y="177923"/>
                    <a:pt x="72773" y="172081"/>
                    <a:pt x="56517" y="172081"/>
                  </a:cubicBezTo>
                  <a:lnTo>
                    <a:pt x="13843" y="172081"/>
                  </a:lnTo>
                  <a:cubicBezTo>
                    <a:pt x="6223" y="172081"/>
                    <a:pt x="0" y="165858"/>
                    <a:pt x="0" y="158239"/>
                  </a:cubicBezTo>
                  <a:cubicBezTo>
                    <a:pt x="0" y="150619"/>
                    <a:pt x="6223" y="144396"/>
                    <a:pt x="13843" y="144396"/>
                  </a:cubicBezTo>
                  <a:lnTo>
                    <a:pt x="56517" y="144396"/>
                  </a:lnTo>
                  <a:cubicBezTo>
                    <a:pt x="57660" y="144396"/>
                    <a:pt x="58803" y="144396"/>
                    <a:pt x="60073" y="144523"/>
                  </a:cubicBezTo>
                  <a:lnTo>
                    <a:pt x="103000" y="144523"/>
                  </a:lnTo>
                  <a:cubicBezTo>
                    <a:pt x="135005" y="144523"/>
                    <a:pt x="161168" y="118234"/>
                    <a:pt x="161168" y="86358"/>
                  </a:cubicBezTo>
                </a:path>
              </a:pathLst>
            </a:custGeom>
            <a:solidFill>
              <a:srgbClr val="0031D1"/>
            </a:solidFill>
          </p:spPr>
        </p:sp>
      </p:grpSp>
      <p:grpSp>
        <p:nvGrpSpPr>
          <p:cNvPr name="Group 56" id="56"/>
          <p:cNvGrpSpPr/>
          <p:nvPr/>
        </p:nvGrpSpPr>
        <p:grpSpPr>
          <a:xfrm rot="0">
            <a:off x="6620402" y="4862350"/>
            <a:ext cx="109996" cy="140862"/>
            <a:chOff x="0" y="0"/>
            <a:chExt cx="223622" cy="286372"/>
          </a:xfrm>
        </p:grpSpPr>
        <p:sp>
          <p:nvSpPr>
            <p:cNvPr name="Freeform 57" id="57"/>
            <p:cNvSpPr/>
            <p:nvPr/>
          </p:nvSpPr>
          <p:spPr>
            <a:xfrm flipH="false" flipV="false" rot="0">
              <a:off x="0" y="0"/>
              <a:ext cx="223520" cy="286385"/>
            </a:xfrm>
            <a:custGeom>
              <a:avLst/>
              <a:gdLst/>
              <a:ahLst/>
              <a:cxnLst/>
              <a:rect r="r" b="b" t="t" l="l"/>
              <a:pathLst>
                <a:path h="286385" w="223520">
                  <a:moveTo>
                    <a:pt x="13970" y="0"/>
                  </a:moveTo>
                  <a:cubicBezTo>
                    <a:pt x="21082" y="0"/>
                    <a:pt x="27051" y="5461"/>
                    <a:pt x="27813" y="12446"/>
                  </a:cubicBezTo>
                  <a:cubicBezTo>
                    <a:pt x="27940" y="12954"/>
                    <a:pt x="27940" y="13462"/>
                    <a:pt x="27940" y="13970"/>
                  </a:cubicBezTo>
                  <a:lnTo>
                    <a:pt x="27940" y="157861"/>
                  </a:lnTo>
                  <a:cubicBezTo>
                    <a:pt x="27940" y="158369"/>
                    <a:pt x="27940" y="158877"/>
                    <a:pt x="27813" y="159385"/>
                  </a:cubicBezTo>
                  <a:lnTo>
                    <a:pt x="27813" y="174625"/>
                  </a:lnTo>
                  <a:cubicBezTo>
                    <a:pt x="27813" y="185928"/>
                    <a:pt x="30099" y="196723"/>
                    <a:pt x="34163" y="206629"/>
                  </a:cubicBezTo>
                  <a:cubicBezTo>
                    <a:pt x="46863" y="236982"/>
                    <a:pt x="76835" y="258572"/>
                    <a:pt x="111760" y="258572"/>
                  </a:cubicBezTo>
                  <a:cubicBezTo>
                    <a:pt x="146685" y="258572"/>
                    <a:pt x="176657" y="236982"/>
                    <a:pt x="189357" y="206629"/>
                  </a:cubicBezTo>
                  <a:cubicBezTo>
                    <a:pt x="193421" y="196723"/>
                    <a:pt x="195707" y="185928"/>
                    <a:pt x="195707" y="174625"/>
                  </a:cubicBezTo>
                  <a:lnTo>
                    <a:pt x="195707" y="159385"/>
                  </a:lnTo>
                  <a:cubicBezTo>
                    <a:pt x="195707" y="158877"/>
                    <a:pt x="195580" y="158369"/>
                    <a:pt x="195580" y="157861"/>
                  </a:cubicBezTo>
                  <a:lnTo>
                    <a:pt x="195580" y="13970"/>
                  </a:lnTo>
                  <a:cubicBezTo>
                    <a:pt x="195580" y="13462"/>
                    <a:pt x="195580" y="12954"/>
                    <a:pt x="195707" y="12446"/>
                  </a:cubicBezTo>
                  <a:cubicBezTo>
                    <a:pt x="196469" y="5461"/>
                    <a:pt x="202438" y="0"/>
                    <a:pt x="209550" y="0"/>
                  </a:cubicBezTo>
                  <a:cubicBezTo>
                    <a:pt x="217297" y="0"/>
                    <a:pt x="223520" y="6223"/>
                    <a:pt x="223520" y="13970"/>
                  </a:cubicBezTo>
                  <a:lnTo>
                    <a:pt x="223520" y="157861"/>
                  </a:lnTo>
                  <a:lnTo>
                    <a:pt x="223520" y="174625"/>
                  </a:lnTo>
                  <a:cubicBezTo>
                    <a:pt x="223520" y="189865"/>
                    <a:pt x="220472" y="204470"/>
                    <a:pt x="214884" y="217678"/>
                  </a:cubicBezTo>
                  <a:cubicBezTo>
                    <a:pt x="197993" y="257937"/>
                    <a:pt x="157988" y="286385"/>
                    <a:pt x="111760" y="286385"/>
                  </a:cubicBezTo>
                  <a:cubicBezTo>
                    <a:pt x="65532" y="286385"/>
                    <a:pt x="25654" y="257937"/>
                    <a:pt x="8636" y="217678"/>
                  </a:cubicBezTo>
                  <a:cubicBezTo>
                    <a:pt x="3048" y="204343"/>
                    <a:pt x="0" y="189865"/>
                    <a:pt x="0" y="174625"/>
                  </a:cubicBezTo>
                  <a:lnTo>
                    <a:pt x="0" y="157861"/>
                  </a:lnTo>
                  <a:lnTo>
                    <a:pt x="0" y="13970"/>
                  </a:lnTo>
                  <a:cubicBezTo>
                    <a:pt x="0" y="6223"/>
                    <a:pt x="6223" y="0"/>
                    <a:pt x="13970" y="0"/>
                  </a:cubicBezTo>
                </a:path>
              </a:pathLst>
            </a:custGeom>
            <a:solidFill>
              <a:srgbClr val="0031D1"/>
            </a:solidFill>
          </p:spPr>
        </p:sp>
      </p:grpSp>
      <p:grpSp>
        <p:nvGrpSpPr>
          <p:cNvPr name="Group 58" id="58"/>
          <p:cNvGrpSpPr/>
          <p:nvPr/>
        </p:nvGrpSpPr>
        <p:grpSpPr>
          <a:xfrm rot="0">
            <a:off x="6389397" y="3993712"/>
            <a:ext cx="614587" cy="607890"/>
            <a:chOff x="0" y="0"/>
            <a:chExt cx="1249451" cy="1235837"/>
          </a:xfrm>
        </p:grpSpPr>
        <p:sp>
          <p:nvSpPr>
            <p:cNvPr name="Freeform 59" id="59"/>
            <p:cNvSpPr/>
            <p:nvPr/>
          </p:nvSpPr>
          <p:spPr>
            <a:xfrm flipH="false" flipV="false" rot="0">
              <a:off x="-59" y="0"/>
              <a:ext cx="1249560" cy="1235837"/>
            </a:xfrm>
            <a:custGeom>
              <a:avLst/>
              <a:gdLst/>
              <a:ahLst/>
              <a:cxnLst/>
              <a:rect r="r" b="b" t="t" l="l"/>
              <a:pathLst>
                <a:path h="1235837" w="1249560">
                  <a:moveTo>
                    <a:pt x="499168" y="835660"/>
                  </a:moveTo>
                  <a:lnTo>
                    <a:pt x="749103" y="835660"/>
                  </a:lnTo>
                  <a:cubicBezTo>
                    <a:pt x="763708" y="835660"/>
                    <a:pt x="773614" y="830834"/>
                    <a:pt x="778694" y="821309"/>
                  </a:cubicBezTo>
                  <a:cubicBezTo>
                    <a:pt x="783774" y="811784"/>
                    <a:pt x="783520" y="800735"/>
                    <a:pt x="777805" y="788416"/>
                  </a:cubicBezTo>
                  <a:lnTo>
                    <a:pt x="646107" y="509905"/>
                  </a:lnTo>
                  <a:cubicBezTo>
                    <a:pt x="640519" y="496443"/>
                    <a:pt x="633153" y="489585"/>
                    <a:pt x="624136" y="489585"/>
                  </a:cubicBezTo>
                  <a:cubicBezTo>
                    <a:pt x="615119" y="489585"/>
                    <a:pt x="607753" y="496316"/>
                    <a:pt x="602165" y="509905"/>
                  </a:cubicBezTo>
                  <a:lnTo>
                    <a:pt x="468815" y="788416"/>
                  </a:lnTo>
                  <a:cubicBezTo>
                    <a:pt x="463100" y="801878"/>
                    <a:pt x="463100" y="813181"/>
                    <a:pt x="468815" y="822198"/>
                  </a:cubicBezTo>
                  <a:cubicBezTo>
                    <a:pt x="474530" y="831215"/>
                    <a:pt x="484563" y="835660"/>
                    <a:pt x="499168" y="835660"/>
                  </a:cubicBezTo>
                  <a:moveTo>
                    <a:pt x="4504" y="1190244"/>
                  </a:moveTo>
                  <a:lnTo>
                    <a:pt x="590354" y="20193"/>
                  </a:lnTo>
                  <a:cubicBezTo>
                    <a:pt x="597085" y="6731"/>
                    <a:pt x="608388" y="0"/>
                    <a:pt x="624136" y="0"/>
                  </a:cubicBezTo>
                  <a:cubicBezTo>
                    <a:pt x="639884" y="0"/>
                    <a:pt x="651187" y="6731"/>
                    <a:pt x="657918" y="20193"/>
                  </a:cubicBezTo>
                  <a:lnTo>
                    <a:pt x="1243767" y="1190244"/>
                  </a:lnTo>
                  <a:cubicBezTo>
                    <a:pt x="1250498" y="1202690"/>
                    <a:pt x="1251387" y="1213358"/>
                    <a:pt x="1246307" y="1222375"/>
                  </a:cubicBezTo>
                  <a:cubicBezTo>
                    <a:pt x="1241227" y="1231392"/>
                    <a:pt x="1231321" y="1235837"/>
                    <a:pt x="1216717" y="1235837"/>
                  </a:cubicBezTo>
                  <a:lnTo>
                    <a:pt x="1063047" y="1235837"/>
                  </a:lnTo>
                  <a:cubicBezTo>
                    <a:pt x="1048442" y="1235837"/>
                    <a:pt x="1033710" y="1231392"/>
                    <a:pt x="1019105" y="1222375"/>
                  </a:cubicBezTo>
                  <a:cubicBezTo>
                    <a:pt x="1004500" y="1213358"/>
                    <a:pt x="994340" y="1202055"/>
                    <a:pt x="988752" y="1188593"/>
                  </a:cubicBezTo>
                  <a:lnTo>
                    <a:pt x="938079" y="1087247"/>
                  </a:lnTo>
                  <a:cubicBezTo>
                    <a:pt x="931348" y="1074928"/>
                    <a:pt x="920934" y="1064133"/>
                    <a:pt x="906837" y="1055116"/>
                  </a:cubicBezTo>
                  <a:cubicBezTo>
                    <a:pt x="892740" y="1046099"/>
                    <a:pt x="878389" y="1041654"/>
                    <a:pt x="863784" y="1041654"/>
                  </a:cubicBezTo>
                  <a:lnTo>
                    <a:pt x="384360" y="1041654"/>
                  </a:lnTo>
                  <a:cubicBezTo>
                    <a:pt x="369755" y="1041654"/>
                    <a:pt x="355023" y="1046226"/>
                    <a:pt x="340418" y="1055116"/>
                  </a:cubicBezTo>
                  <a:cubicBezTo>
                    <a:pt x="325813" y="1064006"/>
                    <a:pt x="315653" y="1075436"/>
                    <a:pt x="310065" y="1088898"/>
                  </a:cubicBezTo>
                  <a:lnTo>
                    <a:pt x="261170" y="1188466"/>
                  </a:lnTo>
                  <a:cubicBezTo>
                    <a:pt x="254439" y="1201928"/>
                    <a:pt x="244026" y="1213231"/>
                    <a:pt x="229929" y="1222248"/>
                  </a:cubicBezTo>
                  <a:cubicBezTo>
                    <a:pt x="215832" y="1231265"/>
                    <a:pt x="201481" y="1235710"/>
                    <a:pt x="186876" y="1235710"/>
                  </a:cubicBezTo>
                  <a:lnTo>
                    <a:pt x="33206" y="1235710"/>
                  </a:lnTo>
                  <a:cubicBezTo>
                    <a:pt x="18601" y="1235710"/>
                    <a:pt x="8695" y="1231265"/>
                    <a:pt x="3615" y="1222248"/>
                  </a:cubicBezTo>
                  <a:cubicBezTo>
                    <a:pt x="-1465" y="1213231"/>
                    <a:pt x="-1211" y="1202563"/>
                    <a:pt x="4504" y="1190117"/>
                  </a:cubicBezTo>
                </a:path>
              </a:pathLst>
            </a:custGeom>
            <a:solidFill>
              <a:srgbClr val="0031D1"/>
            </a:solidFill>
          </p:spPr>
        </p:sp>
      </p:grpSp>
      <p:grpSp>
        <p:nvGrpSpPr>
          <p:cNvPr name="Group 60" id="60"/>
          <p:cNvGrpSpPr/>
          <p:nvPr/>
        </p:nvGrpSpPr>
        <p:grpSpPr>
          <a:xfrm rot="0">
            <a:off x="6867875" y="4862331"/>
            <a:ext cx="139207" cy="137426"/>
            <a:chOff x="0" y="0"/>
            <a:chExt cx="283007" cy="279387"/>
          </a:xfrm>
        </p:grpSpPr>
        <p:sp>
          <p:nvSpPr>
            <p:cNvPr name="Freeform 61" id="61"/>
            <p:cNvSpPr/>
            <p:nvPr/>
          </p:nvSpPr>
          <p:spPr>
            <a:xfrm flipH="false" flipV="false" rot="0">
              <a:off x="0" y="9"/>
              <a:ext cx="282957" cy="279386"/>
            </a:xfrm>
            <a:custGeom>
              <a:avLst/>
              <a:gdLst/>
              <a:ahLst/>
              <a:cxnLst/>
              <a:rect r="r" b="b" t="t" l="l"/>
              <a:pathLst>
                <a:path h="279386" w="282957">
                  <a:moveTo>
                    <a:pt x="27813" y="265416"/>
                  </a:moveTo>
                  <a:cubicBezTo>
                    <a:pt x="27813" y="273036"/>
                    <a:pt x="21590" y="279386"/>
                    <a:pt x="13843" y="279386"/>
                  </a:cubicBezTo>
                  <a:cubicBezTo>
                    <a:pt x="6096" y="279386"/>
                    <a:pt x="0" y="273163"/>
                    <a:pt x="0" y="265416"/>
                  </a:cubicBezTo>
                  <a:lnTo>
                    <a:pt x="0" y="48631"/>
                  </a:lnTo>
                  <a:cubicBezTo>
                    <a:pt x="0" y="29327"/>
                    <a:pt x="11176" y="12437"/>
                    <a:pt x="27813" y="4690"/>
                  </a:cubicBezTo>
                  <a:cubicBezTo>
                    <a:pt x="32639" y="2404"/>
                    <a:pt x="37973" y="880"/>
                    <a:pt x="43561" y="372"/>
                  </a:cubicBezTo>
                  <a:cubicBezTo>
                    <a:pt x="49149" y="-136"/>
                    <a:pt x="54737" y="-9"/>
                    <a:pt x="59944" y="1261"/>
                  </a:cubicBezTo>
                  <a:cubicBezTo>
                    <a:pt x="77851" y="5452"/>
                    <a:pt x="92329" y="19549"/>
                    <a:pt x="96266" y="38598"/>
                  </a:cubicBezTo>
                  <a:lnTo>
                    <a:pt x="114046" y="122036"/>
                  </a:lnTo>
                  <a:cubicBezTo>
                    <a:pt x="116840" y="135244"/>
                    <a:pt x="127889" y="144260"/>
                    <a:pt x="141478" y="144260"/>
                  </a:cubicBezTo>
                  <a:cubicBezTo>
                    <a:pt x="155067" y="144260"/>
                    <a:pt x="165989" y="135371"/>
                    <a:pt x="168910" y="122290"/>
                  </a:cubicBezTo>
                  <a:cubicBezTo>
                    <a:pt x="168910" y="122163"/>
                    <a:pt x="168910" y="122163"/>
                    <a:pt x="168910" y="122036"/>
                  </a:cubicBezTo>
                  <a:lnTo>
                    <a:pt x="186691" y="38344"/>
                  </a:lnTo>
                  <a:cubicBezTo>
                    <a:pt x="190882" y="19422"/>
                    <a:pt x="205233" y="5452"/>
                    <a:pt x="223140" y="1261"/>
                  </a:cubicBezTo>
                  <a:cubicBezTo>
                    <a:pt x="228347" y="-9"/>
                    <a:pt x="233808" y="-263"/>
                    <a:pt x="239396" y="245"/>
                  </a:cubicBezTo>
                  <a:cubicBezTo>
                    <a:pt x="244984" y="753"/>
                    <a:pt x="250318" y="2404"/>
                    <a:pt x="255144" y="4563"/>
                  </a:cubicBezTo>
                  <a:cubicBezTo>
                    <a:pt x="271781" y="12437"/>
                    <a:pt x="282957" y="29200"/>
                    <a:pt x="282957" y="48631"/>
                  </a:cubicBezTo>
                  <a:lnTo>
                    <a:pt x="282957" y="265416"/>
                  </a:lnTo>
                  <a:cubicBezTo>
                    <a:pt x="282957" y="273036"/>
                    <a:pt x="276734" y="279386"/>
                    <a:pt x="268987" y="279386"/>
                  </a:cubicBezTo>
                  <a:cubicBezTo>
                    <a:pt x="261240" y="279386"/>
                    <a:pt x="255017" y="273163"/>
                    <a:pt x="255017" y="265416"/>
                  </a:cubicBezTo>
                  <a:lnTo>
                    <a:pt x="255017" y="48631"/>
                  </a:lnTo>
                  <a:cubicBezTo>
                    <a:pt x="255017" y="37836"/>
                    <a:pt x="247143" y="29073"/>
                    <a:pt x="236348" y="27931"/>
                  </a:cubicBezTo>
                  <a:cubicBezTo>
                    <a:pt x="225553" y="26788"/>
                    <a:pt x="216155" y="33772"/>
                    <a:pt x="213869" y="44059"/>
                  </a:cubicBezTo>
                  <a:cubicBezTo>
                    <a:pt x="213869" y="44186"/>
                    <a:pt x="213869" y="44186"/>
                    <a:pt x="213869" y="44313"/>
                  </a:cubicBezTo>
                  <a:lnTo>
                    <a:pt x="196089" y="127751"/>
                  </a:lnTo>
                  <a:lnTo>
                    <a:pt x="195962" y="128132"/>
                  </a:lnTo>
                  <a:cubicBezTo>
                    <a:pt x="191644" y="148197"/>
                    <a:pt x="177293" y="163437"/>
                    <a:pt x="158750" y="169406"/>
                  </a:cubicBezTo>
                  <a:cubicBezTo>
                    <a:pt x="153289" y="171184"/>
                    <a:pt x="147447" y="172073"/>
                    <a:pt x="141351" y="172073"/>
                  </a:cubicBezTo>
                  <a:cubicBezTo>
                    <a:pt x="135255" y="172073"/>
                    <a:pt x="129413" y="171184"/>
                    <a:pt x="123952" y="169406"/>
                  </a:cubicBezTo>
                  <a:cubicBezTo>
                    <a:pt x="105283" y="163437"/>
                    <a:pt x="90932" y="147943"/>
                    <a:pt x="86614" y="127751"/>
                  </a:cubicBezTo>
                  <a:lnTo>
                    <a:pt x="69088" y="44313"/>
                  </a:lnTo>
                  <a:cubicBezTo>
                    <a:pt x="66802" y="33772"/>
                    <a:pt x="57277" y="26788"/>
                    <a:pt x="46482" y="27931"/>
                  </a:cubicBezTo>
                  <a:cubicBezTo>
                    <a:pt x="35687" y="29073"/>
                    <a:pt x="27813" y="37836"/>
                    <a:pt x="27813" y="48631"/>
                  </a:cubicBezTo>
                  <a:close/>
                </a:path>
              </a:pathLst>
            </a:custGeom>
            <a:solidFill>
              <a:srgbClr val="0031D1"/>
            </a:solidFill>
          </p:spPr>
        </p:sp>
      </p:grpSp>
      <p:sp>
        <p:nvSpPr>
          <p:cNvPr name="TextBox 62" id="62"/>
          <p:cNvSpPr txBox="true"/>
          <p:nvPr/>
        </p:nvSpPr>
        <p:spPr>
          <a:xfrm rot="0">
            <a:off x="1789701" y="5823659"/>
            <a:ext cx="6684266" cy="1500077"/>
          </a:xfrm>
          <a:prstGeom prst="rect">
            <a:avLst/>
          </a:prstGeom>
        </p:spPr>
        <p:txBody>
          <a:bodyPr anchor="t" rtlCol="false" tIns="0" lIns="0" bIns="0" rIns="0">
            <a:spAutoFit/>
          </a:bodyPr>
          <a:lstStyle/>
          <a:p>
            <a:pPr algn="ctr" marL="0" indent="0" lvl="0">
              <a:lnSpc>
                <a:spcPts val="6043"/>
              </a:lnSpc>
            </a:pPr>
            <a:r>
              <a:rPr lang="en-US" b="true" sz="4316">
                <a:solidFill>
                  <a:srgbClr val="0031D1"/>
                </a:solidFill>
                <a:latin typeface="Gotham Bold"/>
                <a:ea typeface="Gotham Bold"/>
                <a:cs typeface="Gotham Bold"/>
                <a:sym typeface="Gotham Bold"/>
              </a:rPr>
              <a:t>SUSTAINABILITY REPORT</a:t>
            </a:r>
          </a:p>
        </p:txBody>
      </p:sp>
      <p:sp>
        <p:nvSpPr>
          <p:cNvPr name="AutoShape 63" id="63"/>
          <p:cNvSpPr/>
          <p:nvPr/>
        </p:nvSpPr>
        <p:spPr>
          <a:xfrm>
            <a:off x="1268564" y="9650879"/>
            <a:ext cx="15750873" cy="0"/>
          </a:xfrm>
          <a:prstGeom prst="line">
            <a:avLst/>
          </a:prstGeom>
          <a:ln cap="flat" w="38100">
            <a:solidFill>
              <a:srgbClr val="0031D1"/>
            </a:solidFill>
            <a:prstDash val="solid"/>
            <a:headEnd type="none" len="sm" w="sm"/>
            <a:tailEnd type="none" len="sm" w="sm"/>
          </a:ln>
        </p:spPr>
      </p:sp>
      <p:sp>
        <p:nvSpPr>
          <p:cNvPr name="AutoShape 64" id="64"/>
          <p:cNvSpPr/>
          <p:nvPr/>
        </p:nvSpPr>
        <p:spPr>
          <a:xfrm>
            <a:off x="1268564" y="693302"/>
            <a:ext cx="15750873" cy="0"/>
          </a:xfrm>
          <a:prstGeom prst="line">
            <a:avLst/>
          </a:prstGeom>
          <a:ln cap="flat" w="38100">
            <a:solidFill>
              <a:srgbClr val="0031D1"/>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TextBox 29" id="29"/>
          <p:cNvSpPr txBox="true"/>
          <p:nvPr/>
        </p:nvSpPr>
        <p:spPr>
          <a:xfrm rot="0">
            <a:off x="1762759" y="1375442"/>
            <a:ext cx="6943106" cy="7326399"/>
          </a:xfrm>
          <a:prstGeom prst="rect">
            <a:avLst/>
          </a:prstGeom>
        </p:spPr>
        <p:txBody>
          <a:bodyPr anchor="t" rtlCol="false" tIns="0" lIns="0" bIns="0" rIns="0">
            <a:spAutoFit/>
          </a:bodyPr>
          <a:lstStyle/>
          <a:p>
            <a:pPr algn="l" marL="0" indent="0" lvl="0">
              <a:lnSpc>
                <a:spcPts val="3764"/>
              </a:lnSpc>
              <a:spcBef>
                <a:spcPct val="0"/>
              </a:spcBef>
            </a:pPr>
            <a:r>
              <a:rPr lang="en-US" b="true" sz="2688">
                <a:solidFill>
                  <a:srgbClr val="0031D1"/>
                </a:solidFill>
                <a:latin typeface="Gotham Bold"/>
                <a:ea typeface="Gotham Bold"/>
                <a:cs typeface="Gotham Bold"/>
                <a:sym typeface="Gotham Bold"/>
              </a:rPr>
              <a:t>OUR SUSTAINABILITY STRATEGY</a:t>
            </a:r>
          </a:p>
          <a:p>
            <a:pPr algn="l" marL="0" indent="0" lvl="0">
              <a:lnSpc>
                <a:spcPts val="3400"/>
              </a:lnSpc>
              <a:spcBef>
                <a:spcPct val="0"/>
              </a:spcBef>
            </a:pPr>
          </a:p>
          <a:p>
            <a:pPr algn="l" marL="0" indent="0" lvl="0">
              <a:lnSpc>
                <a:spcPts val="3400"/>
              </a:lnSpc>
              <a:spcBef>
                <a:spcPct val="0"/>
              </a:spcBef>
            </a:pPr>
            <a:r>
              <a:rPr lang="en-US" sz="2429">
                <a:solidFill>
                  <a:srgbClr val="0031D1"/>
                </a:solidFill>
                <a:latin typeface="Gotham"/>
                <a:ea typeface="Gotham"/>
                <a:cs typeface="Gotham"/>
                <a:sym typeface="Gotham"/>
              </a:rPr>
              <a:t>At Başka Resort Bodrum, sustainability is a fundamental aspect of all our operations.</a:t>
            </a:r>
          </a:p>
          <a:p>
            <a:pPr algn="l" marL="0" indent="0" lvl="0">
              <a:lnSpc>
                <a:spcPts val="3400"/>
              </a:lnSpc>
              <a:spcBef>
                <a:spcPct val="0"/>
              </a:spcBef>
            </a:pPr>
          </a:p>
          <a:p>
            <a:pPr algn="l" marL="0" indent="0" lvl="0">
              <a:lnSpc>
                <a:spcPts val="3400"/>
              </a:lnSpc>
              <a:spcBef>
                <a:spcPct val="0"/>
              </a:spcBef>
            </a:pPr>
            <a:r>
              <a:rPr lang="en-US" sz="2429">
                <a:solidFill>
                  <a:srgbClr val="0031D1"/>
                </a:solidFill>
                <a:latin typeface="Gotham"/>
                <a:ea typeface="Gotham"/>
                <a:cs typeface="Gotham"/>
                <a:sym typeface="Gotham"/>
              </a:rPr>
              <a:t>Our core philosophy centers on the conservation of natural resources, waste reduction, the support of local values, the assurance of equal opportunities, the promotion of respectful labor practices, and the enhancement of societal contributions.</a:t>
            </a:r>
          </a:p>
          <a:p>
            <a:pPr algn="l" marL="0" indent="0" lvl="0">
              <a:lnSpc>
                <a:spcPts val="3400"/>
              </a:lnSpc>
              <a:spcBef>
                <a:spcPct val="0"/>
              </a:spcBef>
            </a:pPr>
          </a:p>
          <a:p>
            <a:pPr algn="l" marL="0" indent="0" lvl="0">
              <a:lnSpc>
                <a:spcPts val="3400"/>
              </a:lnSpc>
              <a:spcBef>
                <a:spcPct val="0"/>
              </a:spcBef>
            </a:pPr>
            <a:r>
              <a:rPr lang="en-US" sz="2429">
                <a:solidFill>
                  <a:srgbClr val="0031D1"/>
                </a:solidFill>
                <a:latin typeface="Gotham"/>
                <a:ea typeface="Gotham"/>
                <a:cs typeface="Gotham"/>
                <a:sym typeface="Gotham"/>
              </a:rPr>
              <a:t>All processes are conducted in alignment with the principles of efficiency, accountability, and sustainability.</a:t>
            </a:r>
          </a:p>
          <a:p>
            <a:pPr algn="l" marL="0" indent="0" lvl="0">
              <a:lnSpc>
                <a:spcPts val="3400"/>
              </a:lnSpc>
              <a:spcBef>
                <a:spcPct val="0"/>
              </a:spcBef>
            </a:pPr>
            <a:r>
              <a:rPr lang="en-US" sz="2429">
                <a:solidFill>
                  <a:srgbClr val="0031D1"/>
                </a:solidFill>
                <a:latin typeface="Gotham"/>
                <a:ea typeface="Gotham"/>
                <a:cs typeface="Gotham"/>
                <a:sym typeface="Gotham"/>
              </a:rPr>
              <a:t>Small decisions we make every day create a significant impact.</a:t>
            </a:r>
          </a:p>
        </p:txBody>
      </p:sp>
      <p:sp>
        <p:nvSpPr>
          <p:cNvPr name="TextBox 30" id="30"/>
          <p:cNvSpPr txBox="true"/>
          <p:nvPr/>
        </p:nvSpPr>
        <p:spPr>
          <a:xfrm rot="0">
            <a:off x="473258" y="16553"/>
            <a:ext cx="3715184" cy="565001"/>
          </a:xfrm>
          <a:prstGeom prst="rect">
            <a:avLst/>
          </a:prstGeom>
        </p:spPr>
        <p:txBody>
          <a:bodyPr anchor="t" rtlCol="false" tIns="0" lIns="0" bIns="0" rIns="0">
            <a:spAutoFit/>
          </a:bodyPr>
          <a:lstStyle/>
          <a:p>
            <a:pPr algn="ctr" marL="0" indent="0" lvl="0">
              <a:lnSpc>
                <a:spcPts val="4669"/>
              </a:lnSpc>
            </a:pPr>
            <a:r>
              <a:rPr lang="en-US" sz="3335">
                <a:solidFill>
                  <a:srgbClr val="FFFFFF"/>
                </a:solidFill>
                <a:latin typeface="Gotham"/>
                <a:ea typeface="Gotham"/>
                <a:cs typeface="Gotham"/>
                <a:sym typeface="Gotham"/>
              </a:rPr>
              <a:t>About the Report</a:t>
            </a:r>
          </a:p>
        </p:txBody>
      </p:sp>
      <p:grpSp>
        <p:nvGrpSpPr>
          <p:cNvPr name="Group 31" id="31"/>
          <p:cNvGrpSpPr/>
          <p:nvPr/>
        </p:nvGrpSpPr>
        <p:grpSpPr>
          <a:xfrm rot="0">
            <a:off x="9271789" y="2476307"/>
            <a:ext cx="11094895" cy="5559354"/>
            <a:chOff x="0" y="0"/>
            <a:chExt cx="20110359" cy="10076762"/>
          </a:xfrm>
        </p:grpSpPr>
        <p:sp>
          <p:nvSpPr>
            <p:cNvPr name="Freeform 32" id="32"/>
            <p:cNvSpPr/>
            <p:nvPr/>
          </p:nvSpPr>
          <p:spPr>
            <a:xfrm flipH="false" flipV="false" rot="0">
              <a:off x="0" y="0"/>
              <a:ext cx="20110284" cy="10076720"/>
            </a:xfrm>
            <a:custGeom>
              <a:avLst/>
              <a:gdLst/>
              <a:ahLst/>
              <a:cxnLst/>
              <a:rect r="r" b="b" t="t" l="l"/>
              <a:pathLst>
                <a:path h="10076720" w="20110284">
                  <a:moveTo>
                    <a:pt x="0" y="0"/>
                  </a:moveTo>
                  <a:lnTo>
                    <a:pt x="20110284" y="0"/>
                  </a:lnTo>
                  <a:lnTo>
                    <a:pt x="20110284" y="10076720"/>
                  </a:lnTo>
                  <a:lnTo>
                    <a:pt x="0" y="10076720"/>
                  </a:lnTo>
                  <a:lnTo>
                    <a:pt x="0" y="0"/>
                  </a:lnTo>
                  <a:close/>
                </a:path>
              </a:pathLst>
            </a:custGeom>
            <a:blipFill>
              <a:blip r:embed="rId3"/>
              <a:stretch>
                <a:fillRect l="-1" t="-10297" r="0" b="-3745"/>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TextBox 29" id="29"/>
          <p:cNvSpPr txBox="true"/>
          <p:nvPr/>
        </p:nvSpPr>
        <p:spPr>
          <a:xfrm rot="0">
            <a:off x="68053" y="110240"/>
            <a:ext cx="4634967" cy="397267"/>
          </a:xfrm>
          <a:prstGeom prst="rect">
            <a:avLst/>
          </a:prstGeom>
        </p:spPr>
        <p:txBody>
          <a:bodyPr anchor="t" rtlCol="false" tIns="0" lIns="0" bIns="0" rIns="0">
            <a:spAutoFit/>
          </a:bodyPr>
          <a:lstStyle/>
          <a:p>
            <a:pPr algn="ctr" marL="0" indent="0" lvl="0">
              <a:lnSpc>
                <a:spcPts val="3212"/>
              </a:lnSpc>
            </a:pPr>
            <a:r>
              <a:rPr lang="en-US" sz="2294">
                <a:solidFill>
                  <a:srgbClr val="FFFFFF"/>
                </a:solidFill>
                <a:latin typeface="Gotham"/>
                <a:ea typeface="Gotham"/>
                <a:cs typeface="Gotham"/>
                <a:sym typeface="Gotham"/>
              </a:rPr>
              <a:t>Message from Management</a:t>
            </a:r>
          </a:p>
        </p:txBody>
      </p:sp>
      <p:sp>
        <p:nvSpPr>
          <p:cNvPr name="TextBox 30" id="30"/>
          <p:cNvSpPr txBox="true"/>
          <p:nvPr/>
        </p:nvSpPr>
        <p:spPr>
          <a:xfrm rot="0">
            <a:off x="12387018" y="6730531"/>
            <a:ext cx="3322378" cy="1503246"/>
          </a:xfrm>
          <a:prstGeom prst="rect">
            <a:avLst/>
          </a:prstGeom>
        </p:spPr>
        <p:txBody>
          <a:bodyPr anchor="t" rtlCol="false" tIns="0" lIns="0" bIns="0" rIns="0">
            <a:spAutoFit/>
          </a:bodyPr>
          <a:lstStyle/>
          <a:p>
            <a:pPr algn="ctr" marL="0" indent="0" lvl="0">
              <a:lnSpc>
                <a:spcPts val="4623"/>
              </a:lnSpc>
            </a:pPr>
            <a:r>
              <a:rPr lang="en-US" b="true" sz="2871">
                <a:solidFill>
                  <a:srgbClr val="0031D1"/>
                </a:solidFill>
                <a:latin typeface="Gotham Bold"/>
                <a:ea typeface="Gotham Bold"/>
                <a:cs typeface="Gotham Bold"/>
                <a:sym typeface="Gotham Bold"/>
              </a:rPr>
              <a:t>Alper Argun</a:t>
            </a:r>
          </a:p>
          <a:p>
            <a:pPr algn="ctr" marL="0" indent="0" lvl="0">
              <a:lnSpc>
                <a:spcPts val="3728"/>
              </a:lnSpc>
            </a:pPr>
            <a:r>
              <a:rPr lang="en-US" b="true" sz="2315">
                <a:solidFill>
                  <a:srgbClr val="0031D1"/>
                </a:solidFill>
                <a:latin typeface="Gotham Bold"/>
                <a:ea typeface="Gotham Bold"/>
                <a:cs typeface="Gotham Bold"/>
                <a:sym typeface="Gotham Bold"/>
              </a:rPr>
              <a:t>General Manager Başka Resort Bodrum</a:t>
            </a:r>
          </a:p>
        </p:txBody>
      </p:sp>
      <p:sp>
        <p:nvSpPr>
          <p:cNvPr name="TextBox 31" id="31"/>
          <p:cNvSpPr txBox="true"/>
          <p:nvPr/>
        </p:nvSpPr>
        <p:spPr>
          <a:xfrm rot="0">
            <a:off x="1610207" y="2215467"/>
            <a:ext cx="14288255" cy="4175199"/>
          </a:xfrm>
          <a:prstGeom prst="rect">
            <a:avLst/>
          </a:prstGeom>
        </p:spPr>
        <p:txBody>
          <a:bodyPr anchor="t" rtlCol="false" tIns="0" lIns="0" bIns="0" rIns="0">
            <a:spAutoFit/>
          </a:bodyPr>
          <a:lstStyle/>
          <a:p>
            <a:pPr algn="l" marL="0" indent="0" lvl="0">
              <a:lnSpc>
                <a:spcPts val="3728"/>
              </a:lnSpc>
              <a:spcBef>
                <a:spcPct val="0"/>
              </a:spcBef>
            </a:pPr>
            <a:r>
              <a:rPr lang="en-US" sz="2315">
                <a:solidFill>
                  <a:srgbClr val="0031D1"/>
                </a:solidFill>
                <a:latin typeface="Gotham"/>
                <a:ea typeface="Gotham"/>
                <a:cs typeface="Gotham"/>
                <a:sym typeface="Gotham"/>
              </a:rPr>
              <a:t>At Başka Resort Bodrum, sustainability is integral to our business practices.</a:t>
            </a:r>
          </a:p>
          <a:p>
            <a:pPr algn="l" marL="0" indent="0" lvl="0">
              <a:lnSpc>
                <a:spcPts val="3728"/>
              </a:lnSpc>
              <a:spcBef>
                <a:spcPct val="0"/>
              </a:spcBef>
            </a:pPr>
          </a:p>
          <a:p>
            <a:pPr algn="l" marL="0" indent="0" lvl="0">
              <a:lnSpc>
                <a:spcPts val="3728"/>
              </a:lnSpc>
              <a:spcBef>
                <a:spcPct val="0"/>
              </a:spcBef>
            </a:pPr>
            <a:r>
              <a:rPr lang="en-US" sz="2315">
                <a:solidFill>
                  <a:srgbClr val="0031D1"/>
                </a:solidFill>
                <a:latin typeface="Gotham"/>
                <a:ea typeface="Gotham"/>
                <a:cs typeface="Gotham"/>
                <a:sym typeface="Gotham"/>
              </a:rPr>
              <a:t>We strive to develop a business model that honors nature, utilizes its resources judiciously and effectively, and enhances its geographical context. Our sustainability strategy is founded on a responsible tourism philosophy that safeguards and enriches not only the present but also the future.</a:t>
            </a:r>
          </a:p>
          <a:p>
            <a:pPr algn="l" marL="0" indent="0" lvl="0">
              <a:lnSpc>
                <a:spcPts val="3728"/>
              </a:lnSpc>
              <a:spcBef>
                <a:spcPct val="0"/>
              </a:spcBef>
            </a:pPr>
          </a:p>
          <a:p>
            <a:pPr algn="l" marL="0" indent="0" lvl="0">
              <a:lnSpc>
                <a:spcPts val="3728"/>
              </a:lnSpc>
              <a:spcBef>
                <a:spcPct val="0"/>
              </a:spcBef>
            </a:pPr>
            <a:r>
              <a:rPr lang="en-US" sz="2315">
                <a:solidFill>
                  <a:srgbClr val="0031D1"/>
                </a:solidFill>
                <a:latin typeface="Gotham"/>
                <a:ea typeface="Gotham"/>
                <a:cs typeface="Gotham"/>
                <a:sym typeface="Gotham"/>
              </a:rPr>
              <a:t>At Başka Resort Bodrum, sustainability transcends mere aspiration; it serves as the cornerstone of our management philosophy.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sp>
        <p:nvSpPr>
          <p:cNvPr name="TextBox 26" id="26"/>
          <p:cNvSpPr txBox="true"/>
          <p:nvPr/>
        </p:nvSpPr>
        <p:spPr>
          <a:xfrm rot="0">
            <a:off x="11267179" y="6388209"/>
            <a:ext cx="4575148" cy="1503246"/>
          </a:xfrm>
          <a:prstGeom prst="rect">
            <a:avLst/>
          </a:prstGeom>
        </p:spPr>
        <p:txBody>
          <a:bodyPr anchor="t" rtlCol="false" tIns="0" lIns="0" bIns="0" rIns="0">
            <a:spAutoFit/>
          </a:bodyPr>
          <a:lstStyle/>
          <a:p>
            <a:pPr algn="ctr" marL="0" indent="0" lvl="0">
              <a:lnSpc>
                <a:spcPts val="4623"/>
              </a:lnSpc>
            </a:pPr>
            <a:r>
              <a:rPr lang="en-US" b="true" sz="2871">
                <a:solidFill>
                  <a:srgbClr val="0031D1"/>
                </a:solidFill>
                <a:latin typeface="Gotham Bold"/>
                <a:ea typeface="Gotham Bold"/>
                <a:cs typeface="Gotham Bold"/>
                <a:sym typeface="Gotham Bold"/>
              </a:rPr>
              <a:t>Mahmut Çakmakçı</a:t>
            </a:r>
          </a:p>
          <a:p>
            <a:pPr algn="ctr" marL="0" indent="0" lvl="0">
              <a:lnSpc>
                <a:spcPts val="3728"/>
              </a:lnSpc>
            </a:pPr>
            <a:r>
              <a:rPr lang="en-US" b="true" sz="2315">
                <a:solidFill>
                  <a:srgbClr val="0031D1"/>
                </a:solidFill>
                <a:latin typeface="Gotham Bold"/>
                <a:ea typeface="Gotham Bold"/>
                <a:cs typeface="Gotham Bold"/>
                <a:sym typeface="Gotham Bold"/>
              </a:rPr>
              <a:t>Asst. </a:t>
            </a:r>
            <a:r>
              <a:rPr lang="en-US" b="true" sz="2315">
                <a:solidFill>
                  <a:srgbClr val="0031D1"/>
                </a:solidFill>
                <a:latin typeface="Gotham Bold"/>
                <a:ea typeface="Gotham Bold"/>
                <a:cs typeface="Gotham Bold"/>
                <a:sym typeface="Gotham Bold"/>
              </a:rPr>
              <a:t>General Manager</a:t>
            </a:r>
          </a:p>
          <a:p>
            <a:pPr algn="ctr" marL="0" indent="0" lvl="0">
              <a:lnSpc>
                <a:spcPts val="3728"/>
              </a:lnSpc>
            </a:pPr>
            <a:r>
              <a:rPr lang="en-US" b="true" sz="2315">
                <a:solidFill>
                  <a:srgbClr val="0031D1"/>
                </a:solidFill>
                <a:latin typeface="Gotham Bold"/>
                <a:ea typeface="Gotham Bold"/>
                <a:cs typeface="Gotham Bold"/>
                <a:sym typeface="Gotham Bold"/>
              </a:rPr>
              <a:t> Başka Resort Bodrum</a:t>
            </a:r>
          </a:p>
        </p:txBody>
      </p:sp>
      <p:sp>
        <p:nvSpPr>
          <p:cNvPr name="TextBox 27" id="27"/>
          <p:cNvSpPr txBox="true"/>
          <p:nvPr/>
        </p:nvSpPr>
        <p:spPr>
          <a:xfrm rot="0">
            <a:off x="1806942" y="2705278"/>
            <a:ext cx="14035385" cy="2775024"/>
          </a:xfrm>
          <a:prstGeom prst="rect">
            <a:avLst/>
          </a:prstGeom>
        </p:spPr>
        <p:txBody>
          <a:bodyPr anchor="t" rtlCol="false" tIns="0" lIns="0" bIns="0" rIns="0">
            <a:spAutoFit/>
          </a:bodyPr>
          <a:lstStyle/>
          <a:p>
            <a:pPr algn="l" marL="0" indent="0" lvl="0">
              <a:lnSpc>
                <a:spcPts val="3728"/>
              </a:lnSpc>
              <a:spcBef>
                <a:spcPct val="0"/>
              </a:spcBef>
            </a:pPr>
            <a:r>
              <a:rPr lang="en-US" sz="2315">
                <a:solidFill>
                  <a:srgbClr val="0031D1"/>
                </a:solidFill>
                <a:latin typeface="Gotham"/>
                <a:ea typeface="Gotham"/>
                <a:cs typeface="Gotham"/>
                <a:sym typeface="Gotham"/>
              </a:rPr>
              <a:t>By incorporating sustainability principles into all our operations, we enhance interdepartmental cohesion, efficiency, and operational oversight.</a:t>
            </a:r>
          </a:p>
          <a:p>
            <a:pPr algn="l" marL="0" indent="0" lvl="0">
              <a:lnSpc>
                <a:spcPts val="3728"/>
              </a:lnSpc>
              <a:spcBef>
                <a:spcPct val="0"/>
              </a:spcBef>
            </a:pPr>
          </a:p>
          <a:p>
            <a:pPr algn="l" marL="0" indent="0" lvl="0">
              <a:lnSpc>
                <a:spcPts val="3728"/>
              </a:lnSpc>
              <a:spcBef>
                <a:spcPct val="0"/>
              </a:spcBef>
            </a:pPr>
            <a:r>
              <a:rPr lang="en-US" sz="2315">
                <a:solidFill>
                  <a:srgbClr val="0031D1"/>
                </a:solidFill>
                <a:latin typeface="Gotham"/>
                <a:ea typeface="Gotham"/>
                <a:cs typeface="Gotham"/>
                <a:sym typeface="Gotham"/>
              </a:rPr>
              <a:t>We are transforming sustainability into a measurable, traceable, we emphasize enhancing value in our region by fostering local employment and safeguarding Bodrum's distinctive natural heritage.</a:t>
            </a:r>
          </a:p>
        </p:txBody>
      </p:sp>
      <p:grpSp>
        <p:nvGrpSpPr>
          <p:cNvPr name="Group 28" id="28"/>
          <p:cNvGrpSpPr/>
          <p:nvPr/>
        </p:nvGrpSpPr>
        <p:grpSpPr>
          <a:xfrm rot="0">
            <a:off x="0" y="0"/>
            <a:ext cx="4771074" cy="665372"/>
            <a:chOff x="0" y="0"/>
            <a:chExt cx="9217043" cy="1285405"/>
          </a:xfrm>
        </p:grpSpPr>
        <p:sp>
          <p:nvSpPr>
            <p:cNvPr name="Freeform 29" id="29"/>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30" id="30"/>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TextBox 31" id="31"/>
          <p:cNvSpPr txBox="true"/>
          <p:nvPr/>
        </p:nvSpPr>
        <p:spPr>
          <a:xfrm rot="0">
            <a:off x="68053" y="110240"/>
            <a:ext cx="4634967" cy="397267"/>
          </a:xfrm>
          <a:prstGeom prst="rect">
            <a:avLst/>
          </a:prstGeom>
        </p:spPr>
        <p:txBody>
          <a:bodyPr anchor="t" rtlCol="false" tIns="0" lIns="0" bIns="0" rIns="0">
            <a:spAutoFit/>
          </a:bodyPr>
          <a:lstStyle/>
          <a:p>
            <a:pPr algn="ctr" marL="0" indent="0" lvl="0">
              <a:lnSpc>
                <a:spcPts val="3212"/>
              </a:lnSpc>
            </a:pPr>
            <a:r>
              <a:rPr lang="en-US" sz="2294">
                <a:solidFill>
                  <a:srgbClr val="FFFFFF"/>
                </a:solidFill>
                <a:latin typeface="Gotham"/>
                <a:ea typeface="Gotham"/>
                <a:cs typeface="Gotham"/>
                <a:sym typeface="Gotham"/>
              </a:rPr>
              <a:t>Message from Management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TextBox 29" id="29"/>
          <p:cNvSpPr txBox="true"/>
          <p:nvPr/>
        </p:nvSpPr>
        <p:spPr>
          <a:xfrm rot="0">
            <a:off x="224522" y="141908"/>
            <a:ext cx="4089188" cy="333932"/>
          </a:xfrm>
          <a:prstGeom prst="rect">
            <a:avLst/>
          </a:prstGeom>
        </p:spPr>
        <p:txBody>
          <a:bodyPr anchor="t" rtlCol="false" tIns="0" lIns="0" bIns="0" rIns="0">
            <a:spAutoFit/>
          </a:bodyPr>
          <a:lstStyle/>
          <a:p>
            <a:pPr algn="ctr" marL="0" indent="0" lvl="0">
              <a:lnSpc>
                <a:spcPts val="2710"/>
              </a:lnSpc>
            </a:pPr>
            <a:r>
              <a:rPr lang="en-US" sz="1936">
                <a:solidFill>
                  <a:srgbClr val="FFFFFF"/>
                </a:solidFill>
                <a:latin typeface="Gotham"/>
                <a:ea typeface="Gotham"/>
                <a:cs typeface="Gotham"/>
                <a:sym typeface="Gotham"/>
              </a:rPr>
              <a:t>Sustainability Assessment Report</a:t>
            </a:r>
          </a:p>
        </p:txBody>
      </p:sp>
      <p:sp>
        <p:nvSpPr>
          <p:cNvPr name="TextBox 30" id="30"/>
          <p:cNvSpPr txBox="true"/>
          <p:nvPr/>
        </p:nvSpPr>
        <p:spPr>
          <a:xfrm rot="0">
            <a:off x="1461534" y="1817170"/>
            <a:ext cx="14751178" cy="1909964"/>
          </a:xfrm>
          <a:prstGeom prst="rect">
            <a:avLst/>
          </a:prstGeom>
        </p:spPr>
        <p:txBody>
          <a:bodyPr anchor="t" rtlCol="false" tIns="0" lIns="0" bIns="0" rIns="0">
            <a:spAutoFit/>
          </a:bodyPr>
          <a:lstStyle/>
          <a:p>
            <a:pPr algn="l" marL="0" indent="0" lvl="0">
              <a:lnSpc>
                <a:spcPts val="4211"/>
              </a:lnSpc>
              <a:spcBef>
                <a:spcPct val="0"/>
              </a:spcBef>
            </a:pPr>
            <a:r>
              <a:rPr lang="en-US" b="true" sz="2615">
                <a:solidFill>
                  <a:srgbClr val="0031D1"/>
                </a:solidFill>
                <a:latin typeface="Gotham Bold"/>
                <a:ea typeface="Gotham Bold"/>
                <a:cs typeface="Gotham Bold"/>
                <a:sym typeface="Gotham Bold"/>
              </a:rPr>
              <a:t>QUALITY AND SUSTAINABILITY</a:t>
            </a:r>
          </a:p>
          <a:p>
            <a:pPr algn="l" marL="0" indent="0" lvl="0">
              <a:lnSpc>
                <a:spcPts val="3728"/>
              </a:lnSpc>
              <a:spcBef>
                <a:spcPct val="0"/>
              </a:spcBef>
            </a:pPr>
            <a:r>
              <a:rPr lang="en-US" sz="2315">
                <a:solidFill>
                  <a:srgbClr val="0031D1"/>
                </a:solidFill>
                <a:latin typeface="Gotham"/>
                <a:ea typeface="Gotham"/>
                <a:cs typeface="Gotham"/>
                <a:sym typeface="Gotham"/>
              </a:rPr>
              <a:t>Sustainability represents a collection of values that we have cultivated and maintain collectively.</a:t>
            </a:r>
          </a:p>
          <a:p>
            <a:pPr algn="l" marL="0" indent="0" lvl="0">
              <a:lnSpc>
                <a:spcPts val="3728"/>
              </a:lnSpc>
              <a:spcBef>
                <a:spcPct val="0"/>
              </a:spcBef>
            </a:pPr>
            <a:r>
              <a:rPr lang="en-US" sz="2315">
                <a:solidFill>
                  <a:srgbClr val="0031D1"/>
                </a:solidFill>
                <a:latin typeface="Gotham"/>
                <a:ea typeface="Gotham"/>
                <a:cs typeface="Gotham"/>
                <a:sym typeface="Gotham"/>
              </a:rPr>
              <a:t>We are embedding sustainability into the core of our corporate culture across all processes, underpinned by data, training, and robust operational discipline.</a:t>
            </a:r>
          </a:p>
        </p:txBody>
      </p:sp>
      <p:sp>
        <p:nvSpPr>
          <p:cNvPr name="TextBox 31" id="31"/>
          <p:cNvSpPr txBox="true"/>
          <p:nvPr/>
        </p:nvSpPr>
        <p:spPr>
          <a:xfrm rot="0">
            <a:off x="1461534" y="4117659"/>
            <a:ext cx="14751178" cy="4910339"/>
          </a:xfrm>
          <a:prstGeom prst="rect">
            <a:avLst/>
          </a:prstGeom>
        </p:spPr>
        <p:txBody>
          <a:bodyPr anchor="t" rtlCol="false" tIns="0" lIns="0" bIns="0" rIns="0">
            <a:spAutoFit/>
          </a:bodyPr>
          <a:lstStyle/>
          <a:p>
            <a:pPr algn="l" marL="0" indent="0" lvl="0">
              <a:lnSpc>
                <a:spcPts val="4211"/>
              </a:lnSpc>
              <a:spcBef>
                <a:spcPct val="0"/>
              </a:spcBef>
            </a:pPr>
            <a:r>
              <a:rPr lang="en-US" b="true" sz="2615">
                <a:solidFill>
                  <a:srgbClr val="0031D1"/>
                </a:solidFill>
                <a:latin typeface="Gotham Bold"/>
                <a:ea typeface="Gotham Bold"/>
                <a:cs typeface="Gotham Bold"/>
                <a:sym typeface="Gotham Bold"/>
              </a:rPr>
              <a:t>OUR VISION</a:t>
            </a:r>
          </a:p>
          <a:p>
            <a:pPr algn="l" marL="0" indent="0" lvl="0">
              <a:lnSpc>
                <a:spcPts val="3728"/>
              </a:lnSpc>
              <a:spcBef>
                <a:spcPct val="0"/>
              </a:spcBef>
            </a:pPr>
            <a:r>
              <a:rPr lang="en-US" sz="2315">
                <a:solidFill>
                  <a:srgbClr val="0031D1"/>
                </a:solidFill>
                <a:latin typeface="Gotham"/>
                <a:ea typeface="Gotham"/>
                <a:cs typeface="Gotham"/>
                <a:sym typeface="Gotham"/>
              </a:rPr>
              <a:t>To become a model resort by incorporating sustainability into all operations, thereby establishing it as a fundamental aspect of business practice.</a:t>
            </a:r>
          </a:p>
          <a:p>
            <a:pPr algn="l" marL="0" indent="0" lvl="0">
              <a:lnSpc>
                <a:spcPts val="4211"/>
              </a:lnSpc>
              <a:spcBef>
                <a:spcPct val="0"/>
              </a:spcBef>
            </a:pPr>
          </a:p>
          <a:p>
            <a:pPr algn="l" marL="0" indent="0" lvl="0">
              <a:lnSpc>
                <a:spcPts val="3728"/>
              </a:lnSpc>
              <a:spcBef>
                <a:spcPct val="0"/>
              </a:spcBef>
            </a:pPr>
            <a:r>
              <a:rPr lang="en-US" b="true" sz="2315">
                <a:solidFill>
                  <a:srgbClr val="0031D1"/>
                </a:solidFill>
                <a:latin typeface="Gotham Bold"/>
                <a:ea typeface="Gotham Bold"/>
                <a:cs typeface="Gotham Bold"/>
                <a:sym typeface="Gotham Bold"/>
              </a:rPr>
              <a:t>OUR MISSION</a:t>
            </a:r>
          </a:p>
          <a:p>
            <a:pPr algn="l" marL="0" indent="0" lvl="0">
              <a:lnSpc>
                <a:spcPts val="3728"/>
              </a:lnSpc>
              <a:spcBef>
                <a:spcPct val="0"/>
              </a:spcBef>
            </a:pPr>
            <a:r>
              <a:rPr lang="en-US" sz="2315">
                <a:solidFill>
                  <a:srgbClr val="0031D1"/>
                </a:solidFill>
                <a:latin typeface="Gotham"/>
                <a:ea typeface="Gotham"/>
                <a:cs typeface="Gotham"/>
                <a:sym typeface="Gotham"/>
              </a:rPr>
              <a:t>To deliver a business model that safeguards natural resources, upholds local values, and engages both employees and guests in this endeavor.</a:t>
            </a:r>
          </a:p>
          <a:p>
            <a:pPr algn="l" marL="0" indent="0" lvl="0">
              <a:lnSpc>
                <a:spcPts val="4211"/>
              </a:lnSpc>
              <a:spcBef>
                <a:spcPct val="0"/>
              </a:spcBef>
            </a:pPr>
          </a:p>
          <a:p>
            <a:pPr algn="l" marL="0" indent="0" lvl="0">
              <a:lnSpc>
                <a:spcPts val="4211"/>
              </a:lnSpc>
              <a:spcBef>
                <a:spcPct val="0"/>
              </a:spcBef>
            </a:pPr>
          </a:p>
          <a:p>
            <a:pPr algn="l" marL="0" indent="0" lvl="0">
              <a:lnSpc>
                <a:spcPts val="3728"/>
              </a:lnSpc>
              <a:spcBef>
                <a:spcPct val="0"/>
              </a:spcBef>
            </a:pPr>
            <a:r>
              <a:rPr lang="en-US" b="true" sz="2315">
                <a:solidFill>
                  <a:srgbClr val="0031D1"/>
                </a:solidFill>
                <a:latin typeface="Gotham Bold"/>
                <a:ea typeface="Gotham Bold"/>
                <a:cs typeface="Gotham Bold"/>
                <a:sym typeface="Gotham Bold"/>
              </a:rPr>
              <a:t>Respect for nature, appreciation of culture, and accountability for the future.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Freeform 29" id="29"/>
          <p:cNvSpPr/>
          <p:nvPr/>
        </p:nvSpPr>
        <p:spPr>
          <a:xfrm flipH="false" flipV="false" rot="0">
            <a:off x="13040862" y="3575131"/>
            <a:ext cx="3837286" cy="3876047"/>
          </a:xfrm>
          <a:custGeom>
            <a:avLst/>
            <a:gdLst/>
            <a:ahLst/>
            <a:cxnLst/>
            <a:rect r="r" b="b" t="t" l="l"/>
            <a:pathLst>
              <a:path h="3876047" w="3837286">
                <a:moveTo>
                  <a:pt x="0" y="0"/>
                </a:moveTo>
                <a:lnTo>
                  <a:pt x="3837287" y="0"/>
                </a:lnTo>
                <a:lnTo>
                  <a:pt x="3837287" y="3876046"/>
                </a:lnTo>
                <a:lnTo>
                  <a:pt x="0" y="3876046"/>
                </a:lnTo>
                <a:lnTo>
                  <a:pt x="0" y="0"/>
                </a:lnTo>
                <a:close/>
              </a:path>
            </a:pathLst>
          </a:custGeom>
          <a:blipFill>
            <a:blip r:embed="rId3"/>
            <a:stretch>
              <a:fillRect l="0" t="0" r="0" b="0"/>
            </a:stretch>
          </a:blipFill>
        </p:spPr>
      </p:sp>
      <p:sp>
        <p:nvSpPr>
          <p:cNvPr name="TextBox 30" id="30"/>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policies</a:t>
            </a:r>
          </a:p>
        </p:txBody>
      </p:sp>
      <p:sp>
        <p:nvSpPr>
          <p:cNvPr name="TextBox 31" id="31"/>
          <p:cNvSpPr txBox="true"/>
          <p:nvPr/>
        </p:nvSpPr>
        <p:spPr>
          <a:xfrm rot="0">
            <a:off x="1028700" y="5417904"/>
            <a:ext cx="8216089" cy="3241523"/>
          </a:xfrm>
          <a:prstGeom prst="rect">
            <a:avLst/>
          </a:prstGeom>
        </p:spPr>
        <p:txBody>
          <a:bodyPr anchor="t" rtlCol="false" tIns="0" lIns="0" bIns="0" rIns="0">
            <a:spAutoFit/>
          </a:bodyPr>
          <a:lstStyle/>
          <a:p>
            <a:pPr algn="l" marL="0" indent="0" lvl="0">
              <a:lnSpc>
                <a:spcPts val="3735"/>
              </a:lnSpc>
              <a:spcBef>
                <a:spcPct val="0"/>
              </a:spcBef>
            </a:pPr>
            <a:r>
              <a:rPr lang="en-US" b="true" sz="2319">
                <a:solidFill>
                  <a:srgbClr val="0031D1"/>
                </a:solidFill>
                <a:latin typeface="Gotham Bold"/>
                <a:ea typeface="Gotham Bold"/>
                <a:cs typeface="Gotham Bold"/>
                <a:sym typeface="Gotham Bold"/>
              </a:rPr>
              <a:t>WASTE MANAGEMENT AND WASTE REDUCTION</a:t>
            </a:r>
          </a:p>
          <a:p>
            <a:pPr algn="l" marL="0" indent="0" lvl="0">
              <a:lnSpc>
                <a:spcPts val="3735"/>
              </a:lnSpc>
              <a:spcBef>
                <a:spcPct val="0"/>
              </a:spcBef>
            </a:pPr>
          </a:p>
          <a:p>
            <a:pPr algn="l" marL="0" indent="0" lvl="0">
              <a:lnSpc>
                <a:spcPts val="3735"/>
              </a:lnSpc>
              <a:spcBef>
                <a:spcPct val="0"/>
              </a:spcBef>
            </a:pPr>
            <a:r>
              <a:rPr lang="en-US" sz="2319">
                <a:solidFill>
                  <a:srgbClr val="0031D1"/>
                </a:solidFill>
                <a:latin typeface="Gotham"/>
                <a:ea typeface="Gotham"/>
                <a:cs typeface="Gotham"/>
                <a:sym typeface="Gotham"/>
              </a:rPr>
              <a:t>Waste generation is minimized, and waste is segregated at the source.</a:t>
            </a:r>
          </a:p>
          <a:p>
            <a:pPr algn="l" marL="0" indent="0" lvl="0">
              <a:lnSpc>
                <a:spcPts val="3735"/>
              </a:lnSpc>
              <a:spcBef>
                <a:spcPct val="0"/>
              </a:spcBef>
            </a:pPr>
            <a:r>
              <a:rPr lang="en-US" sz="2319">
                <a:solidFill>
                  <a:srgbClr val="0031D1"/>
                </a:solidFill>
                <a:latin typeface="Gotham"/>
                <a:ea typeface="Gotham"/>
                <a:cs typeface="Gotham"/>
                <a:sym typeface="Gotham"/>
              </a:rPr>
              <a:t>Food waste is effectively managed and reduced.</a:t>
            </a:r>
          </a:p>
          <a:p>
            <a:pPr algn="l" marL="0" indent="0" lvl="0">
              <a:lnSpc>
                <a:spcPts val="3735"/>
              </a:lnSpc>
              <a:spcBef>
                <a:spcPct val="0"/>
              </a:spcBef>
            </a:pPr>
            <a:r>
              <a:rPr lang="en-US" sz="2319">
                <a:solidFill>
                  <a:srgbClr val="0031D1"/>
                </a:solidFill>
                <a:latin typeface="Gotham"/>
                <a:ea typeface="Gotham"/>
                <a:cs typeface="Gotham"/>
                <a:sym typeface="Gotham"/>
              </a:rPr>
              <a:t>Preventing waste represents the initial step toward conservation.</a:t>
            </a:r>
          </a:p>
        </p:txBody>
      </p:sp>
      <p:sp>
        <p:nvSpPr>
          <p:cNvPr name="TextBox 32" id="32"/>
          <p:cNvSpPr txBox="true"/>
          <p:nvPr/>
        </p:nvSpPr>
        <p:spPr>
          <a:xfrm rot="0">
            <a:off x="1028700" y="1942313"/>
            <a:ext cx="12388469" cy="3039735"/>
          </a:xfrm>
          <a:prstGeom prst="rect">
            <a:avLst/>
          </a:prstGeom>
        </p:spPr>
        <p:txBody>
          <a:bodyPr anchor="t" rtlCol="false" tIns="0" lIns="0" bIns="0" rIns="0">
            <a:spAutoFit/>
          </a:bodyPr>
          <a:lstStyle/>
          <a:p>
            <a:pPr algn="l" marL="0" indent="0" lvl="0">
              <a:lnSpc>
                <a:spcPts val="3495"/>
              </a:lnSpc>
              <a:spcBef>
                <a:spcPct val="0"/>
              </a:spcBef>
            </a:pPr>
            <a:r>
              <a:rPr lang="en-US" b="true" sz="2170">
                <a:solidFill>
                  <a:srgbClr val="0031D1"/>
                </a:solidFill>
                <a:latin typeface="Gotham Bold"/>
                <a:ea typeface="Gotham Bold"/>
                <a:cs typeface="Gotham Bold"/>
                <a:sym typeface="Gotham Bold"/>
              </a:rPr>
              <a:t>PROTECTION OF THE ENVIRONMENT AND NATURAL RESOURCES</a:t>
            </a:r>
          </a:p>
          <a:p>
            <a:pPr algn="l" marL="0" indent="0" lvl="0">
              <a:lnSpc>
                <a:spcPts val="3495"/>
              </a:lnSpc>
              <a:spcBef>
                <a:spcPct val="0"/>
              </a:spcBef>
            </a:pPr>
          </a:p>
          <a:p>
            <a:pPr algn="l" marL="0" indent="0" lvl="0">
              <a:lnSpc>
                <a:spcPts val="3495"/>
              </a:lnSpc>
              <a:spcBef>
                <a:spcPct val="0"/>
              </a:spcBef>
            </a:pPr>
            <a:r>
              <a:rPr lang="en-US" sz="2170">
                <a:solidFill>
                  <a:srgbClr val="0031D1"/>
                </a:solidFill>
                <a:latin typeface="Gotham"/>
                <a:ea typeface="Gotham"/>
                <a:cs typeface="Gotham"/>
                <a:sym typeface="Gotham"/>
              </a:rPr>
              <a:t>Energy and water consumption are monitored, analyzed, and managed according to principles of efficiency.</a:t>
            </a:r>
          </a:p>
          <a:p>
            <a:pPr algn="l" marL="0" indent="0" lvl="0">
              <a:lnSpc>
                <a:spcPts val="3495"/>
              </a:lnSpc>
              <a:spcBef>
                <a:spcPct val="0"/>
              </a:spcBef>
            </a:pPr>
            <a:r>
              <a:rPr lang="en-US" sz="2170">
                <a:solidFill>
                  <a:srgbClr val="0031D1"/>
                </a:solidFill>
                <a:latin typeface="Gotham"/>
                <a:ea typeface="Gotham"/>
                <a:cs typeface="Gotham"/>
                <a:sym typeface="Gotham"/>
              </a:rPr>
              <a:t>In landscaping, plant species that are well-suited to the region and necessitate minimal water consumption are favored.</a:t>
            </a:r>
          </a:p>
          <a:p>
            <a:pPr algn="l" marL="0" indent="0" lvl="0">
              <a:lnSpc>
                <a:spcPts val="3495"/>
              </a:lnSpc>
              <a:spcBef>
                <a:spcPct val="0"/>
              </a:spcBef>
            </a:pPr>
            <a:r>
              <a:rPr lang="en-US" sz="2170">
                <a:solidFill>
                  <a:srgbClr val="0031D1"/>
                </a:solidFill>
                <a:latin typeface="Gotham"/>
                <a:ea typeface="Gotham"/>
                <a:cs typeface="Gotham"/>
                <a:sym typeface="Gotham"/>
              </a:rPr>
              <a:t>Harmony with nature is essential to sustainability.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Freeform 29" id="29"/>
          <p:cNvSpPr/>
          <p:nvPr/>
        </p:nvSpPr>
        <p:spPr>
          <a:xfrm flipH="false" flipV="false" rot="0">
            <a:off x="11175752" y="2404374"/>
            <a:ext cx="7112248" cy="4738535"/>
          </a:xfrm>
          <a:custGeom>
            <a:avLst/>
            <a:gdLst/>
            <a:ahLst/>
            <a:cxnLst/>
            <a:rect r="r" b="b" t="t" l="l"/>
            <a:pathLst>
              <a:path h="4738535" w="7112248">
                <a:moveTo>
                  <a:pt x="0" y="0"/>
                </a:moveTo>
                <a:lnTo>
                  <a:pt x="7112248" y="0"/>
                </a:lnTo>
                <a:lnTo>
                  <a:pt x="7112248" y="4738535"/>
                </a:lnTo>
                <a:lnTo>
                  <a:pt x="0" y="4738535"/>
                </a:lnTo>
                <a:lnTo>
                  <a:pt x="0" y="0"/>
                </a:lnTo>
                <a:close/>
              </a:path>
            </a:pathLst>
          </a:custGeom>
          <a:blipFill>
            <a:blip r:embed="rId3"/>
            <a:stretch>
              <a:fillRect l="0" t="0" r="0" b="0"/>
            </a:stretch>
          </a:blipFill>
        </p:spPr>
      </p:sp>
      <p:sp>
        <p:nvSpPr>
          <p:cNvPr name="TextBox 30" id="30"/>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policies</a:t>
            </a:r>
          </a:p>
        </p:txBody>
      </p:sp>
      <p:sp>
        <p:nvSpPr>
          <p:cNvPr name="TextBox 31" id="31"/>
          <p:cNvSpPr txBox="true"/>
          <p:nvPr/>
        </p:nvSpPr>
        <p:spPr>
          <a:xfrm rot="0">
            <a:off x="1394558" y="3941839"/>
            <a:ext cx="8973934" cy="2308073"/>
          </a:xfrm>
          <a:prstGeom prst="rect">
            <a:avLst/>
          </a:prstGeom>
        </p:spPr>
        <p:txBody>
          <a:bodyPr anchor="t" rtlCol="false" tIns="0" lIns="0" bIns="0" rIns="0">
            <a:spAutoFit/>
          </a:bodyPr>
          <a:lstStyle/>
          <a:p>
            <a:pPr algn="l" marL="0" indent="0" lvl="0">
              <a:lnSpc>
                <a:spcPts val="3735"/>
              </a:lnSpc>
              <a:spcBef>
                <a:spcPct val="0"/>
              </a:spcBef>
            </a:pPr>
            <a:r>
              <a:rPr lang="en-US" b="true" sz="2319">
                <a:solidFill>
                  <a:srgbClr val="0031D1"/>
                </a:solidFill>
                <a:latin typeface="Gotham Bold"/>
                <a:ea typeface="Gotham Bold"/>
                <a:cs typeface="Gotham Bold"/>
                <a:sym typeface="Gotham Bold"/>
              </a:rPr>
              <a:t>SOCIAL RESPONSIBILITY AND COMMUNITY VALUES</a:t>
            </a:r>
          </a:p>
          <a:p>
            <a:pPr algn="l" marL="0" indent="0" lvl="0">
              <a:lnSpc>
                <a:spcPts val="3735"/>
              </a:lnSpc>
              <a:spcBef>
                <a:spcPct val="0"/>
              </a:spcBef>
            </a:pPr>
            <a:r>
              <a:rPr lang="en-US" sz="2319">
                <a:solidFill>
                  <a:srgbClr val="0031D1"/>
                </a:solidFill>
                <a:latin typeface="Gotham"/>
                <a:ea typeface="Gotham"/>
                <a:cs typeface="Gotham"/>
                <a:sym typeface="Gotham"/>
              </a:rPr>
              <a:t>Local producers receive support, local employment is prioritized, and regional culture is safeguarded.</a:t>
            </a:r>
          </a:p>
          <a:p>
            <a:pPr algn="l" marL="0" indent="0" lvl="0">
              <a:lnSpc>
                <a:spcPts val="3735"/>
              </a:lnSpc>
              <a:spcBef>
                <a:spcPct val="0"/>
              </a:spcBef>
            </a:pPr>
            <a:r>
              <a:rPr lang="en-US" sz="2319">
                <a:solidFill>
                  <a:srgbClr val="0031D1"/>
                </a:solidFill>
                <a:latin typeface="Gotham"/>
                <a:ea typeface="Gotham"/>
                <a:cs typeface="Gotham"/>
                <a:sym typeface="Gotham"/>
              </a:rPr>
              <a:t>The guest experience is intertwined with local values.</a:t>
            </a:r>
          </a:p>
          <a:p>
            <a:pPr algn="l" marL="0" indent="0" lvl="0">
              <a:lnSpc>
                <a:spcPts val="3735"/>
              </a:lnSpc>
              <a:spcBef>
                <a:spcPct val="0"/>
              </a:spcBef>
            </a:pPr>
            <a:r>
              <a:rPr lang="en-US" sz="2319">
                <a:solidFill>
                  <a:srgbClr val="0031D1"/>
                </a:solidFill>
                <a:latin typeface="Gotham"/>
                <a:ea typeface="Gotham"/>
                <a:cs typeface="Gotham"/>
                <a:sym typeface="Gotham"/>
              </a:rPr>
              <a:t>We are not visitors in this land, but stewards.</a:t>
            </a:r>
          </a:p>
        </p:txBody>
      </p:sp>
      <p:sp>
        <p:nvSpPr>
          <p:cNvPr name="TextBox 32" id="32"/>
          <p:cNvSpPr txBox="true"/>
          <p:nvPr/>
        </p:nvSpPr>
        <p:spPr>
          <a:xfrm rot="0">
            <a:off x="1394558" y="1435961"/>
            <a:ext cx="13337318" cy="1841574"/>
          </a:xfrm>
          <a:prstGeom prst="rect">
            <a:avLst/>
          </a:prstGeom>
        </p:spPr>
        <p:txBody>
          <a:bodyPr anchor="t" rtlCol="false" tIns="0" lIns="0" bIns="0" rIns="0">
            <a:spAutoFit/>
          </a:bodyPr>
          <a:lstStyle/>
          <a:p>
            <a:pPr algn="l" marL="0" indent="0" lvl="0">
              <a:lnSpc>
                <a:spcPts val="3728"/>
              </a:lnSpc>
              <a:spcBef>
                <a:spcPct val="0"/>
              </a:spcBef>
            </a:pPr>
            <a:r>
              <a:rPr lang="en-US" b="true" sz="2315">
                <a:solidFill>
                  <a:srgbClr val="0031D1"/>
                </a:solidFill>
                <a:latin typeface="Gotham Bold"/>
                <a:ea typeface="Gotham Bold"/>
                <a:cs typeface="Gotham Bold"/>
                <a:sym typeface="Gotham Bold"/>
              </a:rPr>
              <a:t>SUSTAINABLE PROCUREMENT</a:t>
            </a:r>
          </a:p>
          <a:p>
            <a:pPr algn="l" marL="0" indent="0" lvl="0">
              <a:lnSpc>
                <a:spcPts val="3728"/>
              </a:lnSpc>
              <a:spcBef>
                <a:spcPct val="0"/>
              </a:spcBef>
            </a:pPr>
            <a:r>
              <a:rPr lang="en-US" sz="2315">
                <a:solidFill>
                  <a:srgbClr val="0031D1"/>
                </a:solidFill>
                <a:latin typeface="Gotham"/>
                <a:ea typeface="Gotham"/>
                <a:cs typeface="Gotham"/>
                <a:sym typeface="Gotham"/>
              </a:rPr>
              <a:t>Local producers and sustainable products are favored.</a:t>
            </a:r>
          </a:p>
          <a:p>
            <a:pPr algn="l" marL="0" indent="0" lvl="0">
              <a:lnSpc>
                <a:spcPts val="3728"/>
              </a:lnSpc>
              <a:spcBef>
                <a:spcPct val="0"/>
              </a:spcBef>
            </a:pPr>
            <a:r>
              <a:rPr lang="en-US" sz="2315">
                <a:solidFill>
                  <a:srgbClr val="0031D1"/>
                </a:solidFill>
                <a:latin typeface="Gotham"/>
                <a:ea typeface="Gotham"/>
                <a:cs typeface="Gotham"/>
                <a:sym typeface="Gotham"/>
              </a:rPr>
              <a:t>Procurement processes are conducted with consideration for environmental and operational impacts.</a:t>
            </a:r>
          </a:p>
        </p:txBody>
      </p:sp>
      <p:sp>
        <p:nvSpPr>
          <p:cNvPr name="TextBox 33" id="33"/>
          <p:cNvSpPr txBox="true"/>
          <p:nvPr/>
        </p:nvSpPr>
        <p:spPr>
          <a:xfrm rot="0">
            <a:off x="1394558" y="6990546"/>
            <a:ext cx="8973934" cy="1841348"/>
          </a:xfrm>
          <a:prstGeom prst="rect">
            <a:avLst/>
          </a:prstGeom>
        </p:spPr>
        <p:txBody>
          <a:bodyPr anchor="t" rtlCol="false" tIns="0" lIns="0" bIns="0" rIns="0">
            <a:spAutoFit/>
          </a:bodyPr>
          <a:lstStyle/>
          <a:p>
            <a:pPr algn="l" marL="0" indent="0" lvl="0">
              <a:lnSpc>
                <a:spcPts val="3735"/>
              </a:lnSpc>
              <a:spcBef>
                <a:spcPct val="0"/>
              </a:spcBef>
            </a:pPr>
            <a:r>
              <a:rPr lang="en-US" b="true" sz="2319">
                <a:solidFill>
                  <a:srgbClr val="0031D1"/>
                </a:solidFill>
                <a:latin typeface="Gotham Bold"/>
                <a:ea typeface="Gotham Bold"/>
                <a:cs typeface="Gotham Bold"/>
                <a:sym typeface="Gotham Bold"/>
              </a:rPr>
              <a:t>CHILD SAFEGUARDING AND SECURE TOURISM</a:t>
            </a:r>
          </a:p>
          <a:p>
            <a:pPr algn="l" marL="0" indent="0" lvl="0">
              <a:lnSpc>
                <a:spcPts val="3735"/>
              </a:lnSpc>
              <a:spcBef>
                <a:spcPct val="0"/>
              </a:spcBef>
            </a:pPr>
            <a:r>
              <a:rPr lang="en-US" sz="2319">
                <a:solidFill>
                  <a:srgbClr val="0031D1"/>
                </a:solidFill>
                <a:latin typeface="Gotham"/>
                <a:ea typeface="Gotham"/>
                <a:cs typeface="Gotham"/>
                <a:sym typeface="Gotham"/>
              </a:rPr>
              <a:t>A secure and regulated environment is ensured for children and all guests. Safety is a core component of our sustainability strategy.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TextBox 29" id="29"/>
          <p:cNvSpPr txBox="true"/>
          <p:nvPr/>
        </p:nvSpPr>
        <p:spPr>
          <a:xfrm rot="0">
            <a:off x="1028700" y="1846745"/>
            <a:ext cx="8708441" cy="6508462"/>
          </a:xfrm>
          <a:prstGeom prst="rect">
            <a:avLst/>
          </a:prstGeom>
        </p:spPr>
        <p:txBody>
          <a:bodyPr anchor="t" rtlCol="false" tIns="0" lIns="0" bIns="0" rIns="0">
            <a:spAutoFit/>
          </a:bodyPr>
          <a:lstStyle/>
          <a:p>
            <a:pPr algn="l" marL="0" indent="0" lvl="0">
              <a:lnSpc>
                <a:spcPts val="3739"/>
              </a:lnSpc>
              <a:spcBef>
                <a:spcPct val="0"/>
              </a:spcBef>
            </a:pPr>
            <a:r>
              <a:rPr lang="en-US" b="true" sz="2322">
                <a:solidFill>
                  <a:srgbClr val="0031D1"/>
                </a:solidFill>
                <a:latin typeface="Gotham Bold"/>
                <a:ea typeface="Gotham Bold"/>
                <a:cs typeface="Gotham Bold"/>
                <a:sym typeface="Gotham Bold"/>
              </a:rPr>
              <a:t>EMPLOYEE WELL-BEING AND EDUCATION</a:t>
            </a:r>
          </a:p>
          <a:p>
            <a:pPr algn="l" marL="0" indent="0" lvl="0">
              <a:lnSpc>
                <a:spcPts val="3739"/>
              </a:lnSpc>
              <a:spcBef>
                <a:spcPct val="0"/>
              </a:spcBef>
            </a:pPr>
          </a:p>
          <a:p>
            <a:pPr algn="l" marL="0" indent="0" lvl="0">
              <a:lnSpc>
                <a:spcPts val="3739"/>
              </a:lnSpc>
              <a:spcBef>
                <a:spcPct val="0"/>
              </a:spcBef>
            </a:pPr>
            <a:r>
              <a:rPr lang="en-US" sz="2322">
                <a:solidFill>
                  <a:srgbClr val="0031D1"/>
                </a:solidFill>
                <a:latin typeface="Gotham"/>
                <a:ea typeface="Gotham"/>
                <a:cs typeface="Gotham"/>
                <a:sym typeface="Gotham"/>
              </a:rPr>
              <a:t>Education, equity, and professional development are supported.</a:t>
            </a:r>
          </a:p>
          <a:p>
            <a:pPr algn="l" marL="0" indent="0" lvl="0">
              <a:lnSpc>
                <a:spcPts val="3739"/>
              </a:lnSpc>
              <a:spcBef>
                <a:spcPct val="0"/>
              </a:spcBef>
            </a:pPr>
            <a:r>
              <a:rPr lang="en-US" sz="2322">
                <a:solidFill>
                  <a:srgbClr val="0031D1"/>
                </a:solidFill>
                <a:latin typeface="Gotham"/>
                <a:ea typeface="Gotham"/>
                <a:cs typeface="Gotham"/>
                <a:sym typeface="Gotham"/>
              </a:rPr>
              <a:t>Sustainability training is conducted across all departments.</a:t>
            </a:r>
          </a:p>
          <a:p>
            <a:pPr algn="l" marL="0" indent="0" lvl="0">
              <a:lnSpc>
                <a:spcPts val="3739"/>
              </a:lnSpc>
              <a:spcBef>
                <a:spcPct val="0"/>
              </a:spcBef>
            </a:pPr>
            <a:r>
              <a:rPr lang="en-US" sz="2322">
                <a:solidFill>
                  <a:srgbClr val="0031D1"/>
                </a:solidFill>
                <a:latin typeface="Gotham"/>
                <a:ea typeface="Gotham"/>
                <a:cs typeface="Gotham"/>
                <a:sym typeface="Gotham"/>
              </a:rPr>
              <a:t>Sustainability begins with individuals.</a:t>
            </a:r>
          </a:p>
          <a:p>
            <a:pPr algn="l" marL="0" indent="0" lvl="0">
              <a:lnSpc>
                <a:spcPts val="3739"/>
              </a:lnSpc>
              <a:spcBef>
                <a:spcPct val="0"/>
              </a:spcBef>
            </a:pPr>
          </a:p>
          <a:p>
            <a:pPr algn="l" marL="0" indent="0" lvl="0">
              <a:lnSpc>
                <a:spcPts val="3739"/>
              </a:lnSpc>
              <a:spcBef>
                <a:spcPct val="0"/>
              </a:spcBef>
            </a:pPr>
            <a:r>
              <a:rPr lang="en-US" b="true" sz="2322">
                <a:solidFill>
                  <a:srgbClr val="0031D1"/>
                </a:solidFill>
                <a:latin typeface="Gotham Bold"/>
                <a:ea typeface="Gotham Bold"/>
                <a:cs typeface="Gotham Bold"/>
                <a:sym typeface="Gotham Bold"/>
              </a:rPr>
              <a:t>GUEST ENGAGEMENT AND AWARENESS</a:t>
            </a:r>
          </a:p>
          <a:p>
            <a:pPr algn="l" marL="0" indent="0" lvl="0">
              <a:lnSpc>
                <a:spcPts val="3739"/>
              </a:lnSpc>
              <a:spcBef>
                <a:spcPct val="0"/>
              </a:spcBef>
            </a:pPr>
          </a:p>
          <a:p>
            <a:pPr algn="l" marL="0" indent="0" lvl="0">
              <a:lnSpc>
                <a:spcPts val="3739"/>
              </a:lnSpc>
              <a:spcBef>
                <a:spcPct val="0"/>
              </a:spcBef>
            </a:pPr>
            <a:r>
              <a:rPr lang="en-US" sz="2322">
                <a:solidFill>
                  <a:srgbClr val="0031D1"/>
                </a:solidFill>
                <a:latin typeface="Gotham"/>
                <a:ea typeface="Gotham"/>
                <a:cs typeface="Gotham"/>
                <a:sym typeface="Gotham"/>
              </a:rPr>
              <a:t>Guests play an integral role in our sustainability initiatives.</a:t>
            </a:r>
          </a:p>
          <a:p>
            <a:pPr algn="l" marL="0" indent="0" lvl="0">
              <a:lnSpc>
                <a:spcPts val="3739"/>
              </a:lnSpc>
              <a:spcBef>
                <a:spcPct val="0"/>
              </a:spcBef>
            </a:pPr>
            <a:r>
              <a:rPr lang="en-US" sz="2322">
                <a:solidFill>
                  <a:srgbClr val="0031D1"/>
                </a:solidFill>
                <a:latin typeface="Gotham"/>
                <a:ea typeface="Gotham"/>
                <a:cs typeface="Gotham"/>
                <a:sym typeface="Gotham"/>
              </a:rPr>
              <a:t>During the visit, information is offered regarding resource utilization, local culture, and environmental principles.</a:t>
            </a:r>
          </a:p>
          <a:p>
            <a:pPr algn="l" marL="0" indent="0" lvl="0">
              <a:lnSpc>
                <a:spcPts val="3739"/>
              </a:lnSpc>
              <a:spcBef>
                <a:spcPct val="0"/>
              </a:spcBef>
            </a:pPr>
            <a:r>
              <a:rPr lang="en-US" sz="2322">
                <a:solidFill>
                  <a:srgbClr val="0031D1"/>
                </a:solidFill>
                <a:latin typeface="Gotham"/>
                <a:ea typeface="Gotham"/>
                <a:cs typeface="Gotham"/>
                <a:sym typeface="Gotham"/>
              </a:rPr>
              <a:t>Guests are guided, informed, and engaged in the process.</a:t>
            </a:r>
          </a:p>
          <a:p>
            <a:pPr algn="l" marL="0" indent="0" lvl="0">
              <a:lnSpc>
                <a:spcPts val="3739"/>
              </a:lnSpc>
              <a:spcBef>
                <a:spcPct val="0"/>
              </a:spcBef>
            </a:pPr>
            <a:r>
              <a:rPr lang="en-US" sz="2322">
                <a:solidFill>
                  <a:srgbClr val="0031D1"/>
                </a:solidFill>
                <a:latin typeface="Gotham"/>
                <a:ea typeface="Gotham"/>
                <a:cs typeface="Gotham"/>
                <a:sym typeface="Gotham"/>
              </a:rPr>
              <a:t>Your decisions impact the environment.</a:t>
            </a:r>
          </a:p>
        </p:txBody>
      </p:sp>
      <p:sp>
        <p:nvSpPr>
          <p:cNvPr name="Freeform 30" id="30"/>
          <p:cNvSpPr/>
          <p:nvPr/>
        </p:nvSpPr>
        <p:spPr>
          <a:xfrm flipH="false" flipV="false" rot="0">
            <a:off x="10232871" y="2455101"/>
            <a:ext cx="8055129" cy="5376798"/>
          </a:xfrm>
          <a:custGeom>
            <a:avLst/>
            <a:gdLst/>
            <a:ahLst/>
            <a:cxnLst/>
            <a:rect r="r" b="b" t="t" l="l"/>
            <a:pathLst>
              <a:path h="5376798" w="8055129">
                <a:moveTo>
                  <a:pt x="0" y="0"/>
                </a:moveTo>
                <a:lnTo>
                  <a:pt x="8055129" y="0"/>
                </a:lnTo>
                <a:lnTo>
                  <a:pt x="8055129" y="5376798"/>
                </a:lnTo>
                <a:lnTo>
                  <a:pt x="0" y="5376798"/>
                </a:lnTo>
                <a:lnTo>
                  <a:pt x="0" y="0"/>
                </a:lnTo>
                <a:close/>
              </a:path>
            </a:pathLst>
          </a:custGeom>
          <a:blipFill>
            <a:blip r:embed="rId3"/>
            <a:stretch>
              <a:fillRect l="0" t="0" r="0" b="0"/>
            </a:stretch>
          </a:blipFill>
        </p:spPr>
      </p:sp>
      <p:sp>
        <p:nvSpPr>
          <p:cNvPr name="TextBox 31" id="31"/>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policies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Freeform 29" id="29"/>
          <p:cNvSpPr/>
          <p:nvPr/>
        </p:nvSpPr>
        <p:spPr>
          <a:xfrm flipH="false" flipV="false" rot="0">
            <a:off x="11667726" y="1653286"/>
            <a:ext cx="5705171" cy="6980428"/>
          </a:xfrm>
          <a:custGeom>
            <a:avLst/>
            <a:gdLst/>
            <a:ahLst/>
            <a:cxnLst/>
            <a:rect r="r" b="b" t="t" l="l"/>
            <a:pathLst>
              <a:path h="6980428" w="5705171">
                <a:moveTo>
                  <a:pt x="0" y="0"/>
                </a:moveTo>
                <a:lnTo>
                  <a:pt x="5705172" y="0"/>
                </a:lnTo>
                <a:lnTo>
                  <a:pt x="5705172" y="6980428"/>
                </a:lnTo>
                <a:lnTo>
                  <a:pt x="0" y="6980428"/>
                </a:lnTo>
                <a:lnTo>
                  <a:pt x="0" y="0"/>
                </a:lnTo>
                <a:close/>
              </a:path>
            </a:pathLst>
          </a:custGeom>
          <a:blipFill>
            <a:blip r:embed="rId3"/>
            <a:stretch>
              <a:fillRect l="0" t="-1678" r="0" b="-20995"/>
            </a:stretch>
          </a:blipFill>
        </p:spPr>
      </p:sp>
      <p:sp>
        <p:nvSpPr>
          <p:cNvPr name="TextBox 30" id="30"/>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Practices</a:t>
            </a:r>
          </a:p>
        </p:txBody>
      </p:sp>
      <p:sp>
        <p:nvSpPr>
          <p:cNvPr name="TextBox 31" id="31"/>
          <p:cNvSpPr txBox="true"/>
          <p:nvPr/>
        </p:nvSpPr>
        <p:spPr>
          <a:xfrm rot="0">
            <a:off x="1243910" y="1201339"/>
            <a:ext cx="12654167" cy="2398475"/>
          </a:xfrm>
          <a:prstGeom prst="rect">
            <a:avLst/>
          </a:prstGeom>
        </p:spPr>
        <p:txBody>
          <a:bodyPr anchor="t" rtlCol="false" tIns="0" lIns="0" bIns="0" rIns="0">
            <a:spAutoFit/>
          </a:bodyPr>
          <a:lstStyle/>
          <a:p>
            <a:pPr algn="l" marL="0" indent="0" lvl="0">
              <a:lnSpc>
                <a:spcPts val="3885"/>
              </a:lnSpc>
              <a:spcBef>
                <a:spcPct val="0"/>
              </a:spcBef>
            </a:pPr>
            <a:r>
              <a:rPr lang="en-US" b="true" sz="2413">
                <a:solidFill>
                  <a:srgbClr val="0031D1"/>
                </a:solidFill>
                <a:latin typeface="Gotham Bold"/>
                <a:ea typeface="Gotham Bold"/>
                <a:cs typeface="Gotham Bold"/>
                <a:sym typeface="Gotham Bold"/>
              </a:rPr>
              <a:t>TECHNICAL SERVICE</a:t>
            </a:r>
          </a:p>
          <a:p>
            <a:pPr algn="l" marL="0" indent="0" lvl="0">
              <a:lnSpc>
                <a:spcPts val="3885"/>
              </a:lnSpc>
              <a:spcBef>
                <a:spcPct val="0"/>
              </a:spcBef>
            </a:pPr>
            <a:r>
              <a:rPr lang="en-US" sz="2413">
                <a:solidFill>
                  <a:srgbClr val="0031D1"/>
                </a:solidFill>
                <a:latin typeface="Gotham"/>
                <a:ea typeface="Gotham"/>
                <a:cs typeface="Gotham"/>
                <a:sym typeface="Gotham"/>
              </a:rPr>
              <a:t>LED conversion initiatives are underway.</a:t>
            </a:r>
          </a:p>
          <a:p>
            <a:pPr algn="l" marL="0" indent="0" lvl="0">
              <a:lnSpc>
                <a:spcPts val="3885"/>
              </a:lnSpc>
              <a:spcBef>
                <a:spcPct val="0"/>
              </a:spcBef>
            </a:pPr>
            <a:r>
              <a:rPr lang="en-US" sz="2413">
                <a:solidFill>
                  <a:srgbClr val="0031D1"/>
                </a:solidFill>
                <a:latin typeface="Gotham"/>
                <a:ea typeface="Gotham"/>
                <a:cs typeface="Gotham"/>
                <a:sym typeface="Gotham"/>
              </a:rPr>
              <a:t>Aerator installations are underway.</a:t>
            </a:r>
          </a:p>
          <a:p>
            <a:pPr algn="l" marL="0" indent="0" lvl="0">
              <a:lnSpc>
                <a:spcPts val="3885"/>
              </a:lnSpc>
              <a:spcBef>
                <a:spcPct val="0"/>
              </a:spcBef>
            </a:pPr>
            <a:r>
              <a:rPr lang="en-US" sz="2413">
                <a:solidFill>
                  <a:srgbClr val="0031D1"/>
                </a:solidFill>
                <a:latin typeface="Gotham"/>
                <a:ea typeface="Gotham"/>
                <a:cs typeface="Gotham"/>
                <a:sym typeface="Gotham"/>
              </a:rPr>
              <a:t>Regular maintenance mitigates energy and water losses. </a:t>
            </a:r>
          </a:p>
          <a:p>
            <a:pPr algn="l" marL="0" indent="0" lvl="0">
              <a:lnSpc>
                <a:spcPts val="3885"/>
              </a:lnSpc>
              <a:spcBef>
                <a:spcPct val="0"/>
              </a:spcBef>
            </a:pPr>
            <a:r>
              <a:rPr lang="en-US" sz="2413">
                <a:solidFill>
                  <a:srgbClr val="0031D1"/>
                </a:solidFill>
                <a:latin typeface="Gotham"/>
                <a:ea typeface="Gotham"/>
                <a:cs typeface="Gotham"/>
                <a:sym typeface="Gotham"/>
              </a:rPr>
              <a:t>Faults and leaks are resolved promptly. </a:t>
            </a:r>
          </a:p>
        </p:txBody>
      </p:sp>
      <p:sp>
        <p:nvSpPr>
          <p:cNvPr name="TextBox 32" id="32"/>
          <p:cNvSpPr txBox="true"/>
          <p:nvPr/>
        </p:nvSpPr>
        <p:spPr>
          <a:xfrm rot="0">
            <a:off x="1243910" y="4135781"/>
            <a:ext cx="10423816" cy="1912700"/>
          </a:xfrm>
          <a:prstGeom prst="rect">
            <a:avLst/>
          </a:prstGeom>
        </p:spPr>
        <p:txBody>
          <a:bodyPr anchor="t" rtlCol="false" tIns="0" lIns="0" bIns="0" rIns="0">
            <a:spAutoFit/>
          </a:bodyPr>
          <a:lstStyle/>
          <a:p>
            <a:pPr algn="l" marL="0" indent="0" lvl="0">
              <a:lnSpc>
                <a:spcPts val="3885"/>
              </a:lnSpc>
              <a:spcBef>
                <a:spcPct val="0"/>
              </a:spcBef>
            </a:pPr>
            <a:r>
              <a:rPr lang="en-US" b="true" sz="2413">
                <a:solidFill>
                  <a:srgbClr val="0031D1"/>
                </a:solidFill>
                <a:latin typeface="Gotham Bold"/>
                <a:ea typeface="Gotham Bold"/>
                <a:cs typeface="Gotham Bold"/>
                <a:sym typeface="Gotham Bold"/>
              </a:rPr>
              <a:t>HOUSEKEEPING</a:t>
            </a:r>
          </a:p>
          <a:p>
            <a:pPr algn="l" marL="0" indent="0" lvl="0">
              <a:lnSpc>
                <a:spcPts val="3885"/>
              </a:lnSpc>
              <a:spcBef>
                <a:spcPct val="0"/>
              </a:spcBef>
            </a:pPr>
            <a:r>
              <a:rPr lang="en-US" sz="2413">
                <a:solidFill>
                  <a:srgbClr val="0031D1"/>
                </a:solidFill>
                <a:latin typeface="Gotham"/>
                <a:ea typeface="Gotham"/>
                <a:cs typeface="Gotham"/>
                <a:sym typeface="Gotham"/>
              </a:rPr>
              <a:t>Cleaning processes are conducted using adequate amounts of water and detergent.</a:t>
            </a:r>
          </a:p>
          <a:p>
            <a:pPr algn="l" marL="520989" indent="-260494" lvl="1">
              <a:lnSpc>
                <a:spcPts val="3885"/>
              </a:lnSpc>
              <a:spcBef>
                <a:spcPct val="0"/>
              </a:spcBef>
              <a:buFont typeface="Arial"/>
              <a:buChar char="•"/>
            </a:pPr>
            <a:r>
              <a:rPr lang="en-US" sz="2413">
                <a:solidFill>
                  <a:srgbClr val="0031D1"/>
                </a:solidFill>
                <a:latin typeface="Gotham"/>
                <a:ea typeface="Gotham"/>
                <a:cs typeface="Gotham"/>
                <a:sym typeface="Gotham"/>
              </a:rPr>
              <a:t>Controlled cleaning protocols are being instituted.</a:t>
            </a:r>
          </a:p>
        </p:txBody>
      </p:sp>
      <p:sp>
        <p:nvSpPr>
          <p:cNvPr name="TextBox 33" id="33"/>
          <p:cNvSpPr txBox="true"/>
          <p:nvPr/>
        </p:nvSpPr>
        <p:spPr>
          <a:xfrm rot="0">
            <a:off x="1243910" y="6836180"/>
            <a:ext cx="9490573" cy="2398475"/>
          </a:xfrm>
          <a:prstGeom prst="rect">
            <a:avLst/>
          </a:prstGeom>
        </p:spPr>
        <p:txBody>
          <a:bodyPr anchor="t" rtlCol="false" tIns="0" lIns="0" bIns="0" rIns="0">
            <a:spAutoFit/>
          </a:bodyPr>
          <a:lstStyle/>
          <a:p>
            <a:pPr algn="l" marL="0" indent="0" lvl="0">
              <a:lnSpc>
                <a:spcPts val="3885"/>
              </a:lnSpc>
              <a:spcBef>
                <a:spcPct val="0"/>
              </a:spcBef>
            </a:pPr>
            <a:r>
              <a:rPr lang="en-US" b="true" sz="2413">
                <a:solidFill>
                  <a:srgbClr val="0031D1"/>
                </a:solidFill>
                <a:latin typeface="Gotham Bold"/>
                <a:ea typeface="Gotham Bold"/>
                <a:cs typeface="Gotham Bold"/>
                <a:sym typeface="Gotham Bold"/>
              </a:rPr>
              <a:t>Food and Beverage</a:t>
            </a:r>
          </a:p>
          <a:p>
            <a:pPr algn="l" marL="0" indent="0" lvl="0">
              <a:lnSpc>
                <a:spcPts val="3885"/>
              </a:lnSpc>
              <a:spcBef>
                <a:spcPct val="0"/>
              </a:spcBef>
            </a:pPr>
            <a:r>
              <a:rPr lang="en-US" sz="2413">
                <a:solidFill>
                  <a:srgbClr val="0031D1"/>
                </a:solidFill>
                <a:latin typeface="Gotham"/>
                <a:ea typeface="Gotham"/>
                <a:cs typeface="Gotham"/>
                <a:sym typeface="Gotham"/>
              </a:rPr>
              <a:t>The use of single-use plastics is being curtailed, and the consumption of plastic straws is being diminished.</a:t>
            </a:r>
          </a:p>
          <a:p>
            <a:pPr algn="l" marL="520989" indent="-260494" lvl="1">
              <a:lnSpc>
                <a:spcPts val="3885"/>
              </a:lnSpc>
              <a:spcBef>
                <a:spcPct val="0"/>
              </a:spcBef>
              <a:buFont typeface="Arial"/>
              <a:buChar char="•"/>
            </a:pPr>
            <a:r>
              <a:rPr lang="en-US" sz="2413">
                <a:solidFill>
                  <a:srgbClr val="0031D1"/>
                </a:solidFill>
                <a:latin typeface="Gotham"/>
                <a:ea typeface="Gotham"/>
                <a:cs typeface="Gotham"/>
                <a:sym typeface="Gotham"/>
              </a:rPr>
              <a:t>The consumption of products and consumables is monitored.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TextBox 29" id="29"/>
          <p:cNvSpPr txBox="true"/>
          <p:nvPr/>
        </p:nvSpPr>
        <p:spPr>
          <a:xfrm rot="0">
            <a:off x="1243910" y="1423105"/>
            <a:ext cx="15183395" cy="7256225"/>
          </a:xfrm>
          <a:prstGeom prst="rect">
            <a:avLst/>
          </a:prstGeom>
        </p:spPr>
        <p:txBody>
          <a:bodyPr anchor="t" rtlCol="false" tIns="0" lIns="0" bIns="0" rIns="0">
            <a:spAutoFit/>
          </a:bodyPr>
          <a:lstStyle/>
          <a:p>
            <a:pPr algn="l" marL="0" indent="0" lvl="0">
              <a:lnSpc>
                <a:spcPts val="3885"/>
              </a:lnSpc>
              <a:spcBef>
                <a:spcPct val="0"/>
              </a:spcBef>
            </a:pPr>
            <a:r>
              <a:rPr lang="en-US" b="true" sz="2413">
                <a:solidFill>
                  <a:srgbClr val="0031D1"/>
                </a:solidFill>
                <a:latin typeface="Gotham Bold"/>
                <a:ea typeface="Gotham Bold"/>
                <a:cs typeface="Gotham Bold"/>
                <a:sym typeface="Gotham Bold"/>
              </a:rPr>
              <a:t>KITCHEN</a:t>
            </a:r>
          </a:p>
          <a:p>
            <a:pPr algn="l" marL="0" indent="0" lvl="0">
              <a:lnSpc>
                <a:spcPts val="3885"/>
              </a:lnSpc>
              <a:spcBef>
                <a:spcPct val="0"/>
              </a:spcBef>
            </a:pPr>
            <a:r>
              <a:rPr lang="en-US" sz="2413">
                <a:solidFill>
                  <a:srgbClr val="0031D1"/>
                </a:solidFill>
                <a:latin typeface="Gotham"/>
                <a:ea typeface="Gotham"/>
                <a:cs typeface="Gotham"/>
                <a:sym typeface="Gotham"/>
              </a:rPr>
              <a:t>Local and seasonal products are utilized. </a:t>
            </a:r>
          </a:p>
          <a:p>
            <a:pPr algn="l" marL="0" indent="0" lvl="0">
              <a:lnSpc>
                <a:spcPts val="3885"/>
              </a:lnSpc>
              <a:spcBef>
                <a:spcPct val="0"/>
              </a:spcBef>
            </a:pPr>
            <a:r>
              <a:rPr lang="en-US" sz="2413">
                <a:solidFill>
                  <a:srgbClr val="0031D1"/>
                </a:solidFill>
                <a:latin typeface="Gotham"/>
                <a:ea typeface="Gotham"/>
                <a:cs typeface="Gotham"/>
                <a:sym typeface="Gotham"/>
              </a:rPr>
              <a:t>Practices for reducing food waste are being implemented.</a:t>
            </a:r>
          </a:p>
          <a:p>
            <a:pPr algn="l" marL="520989" indent="-260494" lvl="1">
              <a:lnSpc>
                <a:spcPts val="3885"/>
              </a:lnSpc>
              <a:spcBef>
                <a:spcPct val="0"/>
              </a:spcBef>
              <a:buFont typeface="Arial"/>
              <a:buChar char="•"/>
            </a:pPr>
            <a:r>
              <a:rPr lang="en-US" sz="2413">
                <a:solidFill>
                  <a:srgbClr val="0031D1"/>
                </a:solidFill>
                <a:latin typeface="Gotham"/>
                <a:ea typeface="Gotham"/>
                <a:cs typeface="Gotham"/>
                <a:sym typeface="Gotham"/>
              </a:rPr>
              <a:t>P</a:t>
            </a:r>
            <a:r>
              <a:rPr lang="en-US" sz="2413">
                <a:solidFill>
                  <a:srgbClr val="0031D1"/>
                </a:solidFill>
                <a:latin typeface="Gotham"/>
                <a:ea typeface="Gotham"/>
                <a:cs typeface="Gotham"/>
                <a:sym typeface="Gotham"/>
              </a:rPr>
              <a:t>roducts are utilized to their fullest value.</a:t>
            </a:r>
          </a:p>
          <a:p>
            <a:pPr algn="l" marL="0" indent="0" lvl="0">
              <a:lnSpc>
                <a:spcPts val="3885"/>
              </a:lnSpc>
              <a:spcBef>
                <a:spcPct val="0"/>
              </a:spcBef>
            </a:pPr>
          </a:p>
          <a:p>
            <a:pPr algn="l" marL="0" indent="0" lvl="0">
              <a:lnSpc>
                <a:spcPts val="3885"/>
              </a:lnSpc>
              <a:spcBef>
                <a:spcPct val="0"/>
              </a:spcBef>
            </a:pPr>
            <a:r>
              <a:rPr lang="en-US" b="true" sz="2413">
                <a:solidFill>
                  <a:srgbClr val="0031D1"/>
                </a:solidFill>
                <a:latin typeface="Gotham Bold"/>
                <a:ea typeface="Gotham Bold"/>
                <a:cs typeface="Gotham Bold"/>
                <a:sym typeface="Gotham Bold"/>
              </a:rPr>
              <a:t>In this context:</a:t>
            </a:r>
          </a:p>
          <a:p>
            <a:pPr algn="l" marL="0" indent="0" lvl="0">
              <a:lnSpc>
                <a:spcPts val="3885"/>
              </a:lnSpc>
              <a:spcBef>
                <a:spcPct val="0"/>
              </a:spcBef>
            </a:pPr>
          </a:p>
          <a:p>
            <a:pPr algn="l" marL="520989" indent="-260494" lvl="1">
              <a:lnSpc>
                <a:spcPts val="3885"/>
              </a:lnSpc>
              <a:spcBef>
                <a:spcPct val="0"/>
              </a:spcBef>
              <a:buFont typeface="Arial"/>
              <a:buChar char="•"/>
            </a:pPr>
            <a:r>
              <a:rPr lang="en-US" sz="2413">
                <a:solidFill>
                  <a:srgbClr val="0031D1"/>
                </a:solidFill>
                <a:latin typeface="Gotham"/>
                <a:ea typeface="Gotham"/>
                <a:cs typeface="Gotham"/>
                <a:sym typeface="Gotham"/>
              </a:rPr>
              <a:t>Fruits and their by-products are utilized in a variety of recipes. </a:t>
            </a:r>
          </a:p>
          <a:p>
            <a:pPr algn="l" marL="0" indent="0" lvl="0">
              <a:lnSpc>
                <a:spcPts val="3885"/>
              </a:lnSpc>
              <a:spcBef>
                <a:spcPct val="0"/>
              </a:spcBef>
            </a:pPr>
            <a:r>
              <a:rPr lang="en-US" sz="2413">
                <a:solidFill>
                  <a:srgbClr val="0031D1"/>
                </a:solidFill>
                <a:latin typeface="Gotham"/>
                <a:ea typeface="Gotham"/>
                <a:cs typeface="Gotham"/>
                <a:sym typeface="Gotham"/>
              </a:rPr>
              <a:t>Food waste is regarded as a valuable reusable resource. </a:t>
            </a:r>
          </a:p>
          <a:p>
            <a:pPr algn="l" marL="520989" indent="-260494" lvl="1">
              <a:lnSpc>
                <a:spcPts val="3885"/>
              </a:lnSpc>
              <a:spcBef>
                <a:spcPct val="0"/>
              </a:spcBef>
              <a:buFont typeface="Arial"/>
              <a:buChar char="•"/>
            </a:pPr>
            <a:r>
              <a:rPr lang="en-US" sz="2413">
                <a:solidFill>
                  <a:srgbClr val="0031D1"/>
                </a:solidFill>
                <a:latin typeface="Gotham"/>
                <a:ea typeface="Gotham"/>
                <a:cs typeface="Gotham"/>
                <a:sym typeface="Gotham"/>
              </a:rPr>
              <a:t>Lionfish is set to be incorporated into the menu as part of initiatives to address invasive species. </a:t>
            </a:r>
          </a:p>
          <a:p>
            <a:pPr algn="l" marL="0" indent="0" lvl="0">
              <a:lnSpc>
                <a:spcPts val="3885"/>
              </a:lnSpc>
              <a:spcBef>
                <a:spcPct val="0"/>
              </a:spcBef>
            </a:pPr>
          </a:p>
          <a:p>
            <a:pPr algn="l" marL="520989" indent="-260494" lvl="1">
              <a:lnSpc>
                <a:spcPts val="3885"/>
              </a:lnSpc>
              <a:spcBef>
                <a:spcPct val="0"/>
              </a:spcBef>
              <a:buFont typeface="Arial"/>
              <a:buChar char="•"/>
            </a:pPr>
            <a:r>
              <a:rPr lang="en-US" b="true" sz="2413">
                <a:solidFill>
                  <a:srgbClr val="0031D1"/>
                </a:solidFill>
                <a:latin typeface="Gotham Bold"/>
                <a:ea typeface="Gotham Bold"/>
                <a:cs typeface="Gotham Bold"/>
                <a:sym typeface="Gotham Bold"/>
              </a:rPr>
              <a:t>STEWARDING</a:t>
            </a:r>
          </a:p>
          <a:p>
            <a:pPr algn="l" marL="520989" indent="-260494" lvl="1">
              <a:lnSpc>
                <a:spcPts val="3885"/>
              </a:lnSpc>
              <a:spcBef>
                <a:spcPct val="0"/>
              </a:spcBef>
              <a:buFont typeface="Arial"/>
              <a:buChar char="•"/>
            </a:pPr>
            <a:r>
              <a:rPr lang="en-US" sz="2413">
                <a:solidFill>
                  <a:srgbClr val="0031D1"/>
                </a:solidFill>
                <a:latin typeface="Gotham"/>
                <a:ea typeface="Gotham"/>
                <a:cs typeface="Gotham"/>
                <a:sym typeface="Gotham"/>
              </a:rPr>
              <a:t>Waste sorting has been implemented.</a:t>
            </a:r>
          </a:p>
          <a:p>
            <a:pPr algn="l" marL="520989" indent="-260494" lvl="1">
              <a:lnSpc>
                <a:spcPts val="3885"/>
              </a:lnSpc>
              <a:spcBef>
                <a:spcPct val="0"/>
              </a:spcBef>
              <a:buFont typeface="Arial"/>
              <a:buChar char="•"/>
            </a:pPr>
            <a:r>
              <a:rPr lang="en-US" sz="2413">
                <a:solidFill>
                  <a:srgbClr val="0031D1"/>
                </a:solidFill>
                <a:latin typeface="Gotham"/>
                <a:ea typeface="Gotham"/>
                <a:cs typeface="Gotham"/>
                <a:sym typeface="Gotham"/>
              </a:rPr>
              <a:t>By selecting appropriate chemicals and employing effective dosing systems,environmental impacts are minimized… and efficiency in water and chemical usage is attained</a:t>
            </a:r>
            <a:r>
              <a:rPr lang="en-US" b="true" sz="2413">
                <a:solidFill>
                  <a:srgbClr val="0031D1"/>
                </a:solidFill>
                <a:latin typeface="Gotham Bold"/>
                <a:ea typeface="Gotham Bold"/>
                <a:cs typeface="Gotham Bold"/>
                <a:sym typeface="Gotham Bold"/>
              </a:rPr>
              <a:t>.</a:t>
            </a:r>
          </a:p>
        </p:txBody>
      </p:sp>
      <p:sp>
        <p:nvSpPr>
          <p:cNvPr name="TextBox 30" id="30"/>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Practices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TextBox 29" id="29"/>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Practices</a:t>
            </a:r>
          </a:p>
        </p:txBody>
      </p:sp>
      <p:sp>
        <p:nvSpPr>
          <p:cNvPr name="TextBox 30" id="30"/>
          <p:cNvSpPr txBox="true"/>
          <p:nvPr/>
        </p:nvSpPr>
        <p:spPr>
          <a:xfrm rot="0">
            <a:off x="1286953" y="1516300"/>
            <a:ext cx="14784751" cy="6770450"/>
          </a:xfrm>
          <a:prstGeom prst="rect">
            <a:avLst/>
          </a:prstGeom>
        </p:spPr>
        <p:txBody>
          <a:bodyPr anchor="t" rtlCol="false" tIns="0" lIns="0" bIns="0" rIns="0">
            <a:spAutoFit/>
          </a:bodyPr>
          <a:lstStyle/>
          <a:p>
            <a:pPr algn="l">
              <a:lnSpc>
                <a:spcPts val="3885"/>
              </a:lnSpc>
            </a:pPr>
            <a:r>
              <a:rPr lang="en-US" sz="2413" b="true">
                <a:solidFill>
                  <a:srgbClr val="0031D1"/>
                </a:solidFill>
                <a:latin typeface="Gotham Bold"/>
                <a:ea typeface="Gotham Bold"/>
                <a:cs typeface="Gotham Bold"/>
                <a:sym typeface="Gotham Bold"/>
              </a:rPr>
              <a:t>PURCHASING</a:t>
            </a:r>
          </a:p>
          <a:p>
            <a:pPr algn="l" marL="0" indent="0" lvl="0">
              <a:lnSpc>
                <a:spcPts val="3885"/>
              </a:lnSpc>
              <a:spcBef>
                <a:spcPct val="0"/>
              </a:spcBef>
            </a:pPr>
          </a:p>
          <a:p>
            <a:pPr algn="l" marL="0" indent="0" lvl="0">
              <a:lnSpc>
                <a:spcPts val="3885"/>
              </a:lnSpc>
              <a:spcBef>
                <a:spcPct val="0"/>
              </a:spcBef>
            </a:pPr>
            <a:r>
              <a:rPr lang="en-US" sz="2413">
                <a:solidFill>
                  <a:srgbClr val="0031D1"/>
                </a:solidFill>
                <a:latin typeface="Gotham"/>
                <a:ea typeface="Gotham"/>
                <a:cs typeface="Gotham"/>
                <a:sym typeface="Gotham"/>
              </a:rPr>
              <a:t>Local suppliers are favored. </a:t>
            </a:r>
          </a:p>
          <a:p>
            <a:pPr algn="l" marL="520989" indent="-260494" lvl="1">
              <a:lnSpc>
                <a:spcPts val="3885"/>
              </a:lnSpc>
              <a:spcBef>
                <a:spcPct val="0"/>
              </a:spcBef>
              <a:buFont typeface="Arial"/>
              <a:buChar char="•"/>
            </a:pPr>
            <a:r>
              <a:rPr lang="en-US" sz="2413">
                <a:solidFill>
                  <a:srgbClr val="0031D1"/>
                </a:solidFill>
                <a:latin typeface="Gotham"/>
                <a:ea typeface="Gotham"/>
                <a:cs typeface="Gotham"/>
                <a:sym typeface="Gotham"/>
              </a:rPr>
              <a:t>Sustainable product selection is prioritized; bulk-packaged products are favored to minimize waste; local sourcing and the procurement of goods from women entrepreneurs seek to bolster local communities.</a:t>
            </a:r>
          </a:p>
          <a:p>
            <a:pPr algn="l" marL="0" indent="0" lvl="0">
              <a:lnSpc>
                <a:spcPts val="3885"/>
              </a:lnSpc>
              <a:spcBef>
                <a:spcPct val="0"/>
              </a:spcBef>
            </a:pPr>
          </a:p>
          <a:p>
            <a:pPr algn="l">
              <a:lnSpc>
                <a:spcPts val="3885"/>
              </a:lnSpc>
              <a:spcBef>
                <a:spcPct val="0"/>
              </a:spcBef>
            </a:pPr>
            <a:r>
              <a:rPr lang="en-US" b="true" sz="2413">
                <a:solidFill>
                  <a:srgbClr val="0031D1"/>
                </a:solidFill>
                <a:latin typeface="Gotham Bold"/>
                <a:ea typeface="Gotham Bold"/>
                <a:cs typeface="Gotham Bold"/>
                <a:sym typeface="Gotham Bold"/>
              </a:rPr>
              <a:t>DEPOT</a:t>
            </a:r>
          </a:p>
          <a:p>
            <a:pPr algn="l">
              <a:lnSpc>
                <a:spcPts val="3885"/>
              </a:lnSpc>
              <a:spcBef>
                <a:spcPct val="0"/>
              </a:spcBef>
            </a:pPr>
          </a:p>
          <a:p>
            <a:pPr algn="l" marL="520989" indent="-260494" lvl="1">
              <a:lnSpc>
                <a:spcPts val="3885"/>
              </a:lnSpc>
              <a:spcBef>
                <a:spcPct val="0"/>
              </a:spcBef>
              <a:buFont typeface="Arial"/>
              <a:buChar char="•"/>
            </a:pPr>
            <a:r>
              <a:rPr lang="en-US" sz="2413">
                <a:solidFill>
                  <a:srgbClr val="0031D1"/>
                </a:solidFill>
                <a:latin typeface="Gotham"/>
                <a:ea typeface="Gotham"/>
                <a:cs typeface="Gotham"/>
                <a:sym typeface="Gotham"/>
              </a:rPr>
              <a:t>The FIFO system, or "First In, First Out," is implemented to ensure effective expiration date management and to mitigate product loss and waste.</a:t>
            </a:r>
          </a:p>
          <a:p>
            <a:pPr algn="l" marL="520989" indent="-260494" lvl="1">
              <a:lnSpc>
                <a:spcPts val="3885"/>
              </a:lnSpc>
              <a:spcBef>
                <a:spcPct val="0"/>
              </a:spcBef>
              <a:buFont typeface="Arial"/>
              <a:buChar char="•"/>
            </a:pPr>
            <a:r>
              <a:rPr lang="en-US" sz="2413">
                <a:solidFill>
                  <a:srgbClr val="0031D1"/>
                </a:solidFill>
                <a:latin typeface="Gotham"/>
                <a:ea typeface="Gotham"/>
                <a:cs typeface="Gotham"/>
                <a:sym typeface="Gotham"/>
              </a:rPr>
              <a:t>All products are stored under conditions that adhere to established temperature standards, thereby minimizing product losses attributable to heat.</a:t>
            </a:r>
          </a:p>
          <a:p>
            <a:pPr algn="l" marL="520989" indent="-260494" lvl="1">
              <a:lnSpc>
                <a:spcPts val="3885"/>
              </a:lnSpc>
              <a:spcBef>
                <a:spcPct val="0"/>
              </a:spcBef>
              <a:buFont typeface="Arial"/>
              <a:buChar char="•"/>
            </a:pPr>
            <a:r>
              <a:rPr lang="en-US" sz="2413">
                <a:solidFill>
                  <a:srgbClr val="0031D1"/>
                </a:solidFill>
                <a:latin typeface="Gotham"/>
                <a:ea typeface="Gotham"/>
                <a:cs typeface="Gotham"/>
                <a:sym typeface="Gotham"/>
              </a:rPr>
              <a:t>The appropriate stock, minimal waste.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TextBox 29" id="29"/>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Practices</a:t>
            </a:r>
          </a:p>
        </p:txBody>
      </p:sp>
      <p:sp>
        <p:nvSpPr>
          <p:cNvPr name="TextBox 30" id="30"/>
          <p:cNvSpPr txBox="true"/>
          <p:nvPr/>
        </p:nvSpPr>
        <p:spPr>
          <a:xfrm rot="0">
            <a:off x="1351516" y="1310710"/>
            <a:ext cx="14651466" cy="7579855"/>
          </a:xfrm>
          <a:prstGeom prst="rect">
            <a:avLst/>
          </a:prstGeom>
        </p:spPr>
        <p:txBody>
          <a:bodyPr anchor="t" rtlCol="false" tIns="0" lIns="0" bIns="0" rIns="0">
            <a:spAutoFit/>
          </a:bodyPr>
          <a:lstStyle/>
          <a:p>
            <a:pPr algn="l" marL="0" indent="0" lvl="0">
              <a:lnSpc>
                <a:spcPts val="3597"/>
              </a:lnSpc>
            </a:pPr>
            <a:r>
              <a:rPr lang="en-US" b="true" sz="2234">
                <a:solidFill>
                  <a:srgbClr val="0031D1"/>
                </a:solidFill>
                <a:latin typeface="Gotham Bold"/>
                <a:ea typeface="Gotham Bold"/>
                <a:cs typeface="Gotham Bold"/>
                <a:sym typeface="Gotham Bold"/>
              </a:rPr>
              <a:t>HUMAN CAPITAL</a:t>
            </a:r>
          </a:p>
          <a:p>
            <a:pPr algn="l" marL="0" indent="0" lvl="0">
              <a:lnSpc>
                <a:spcPts val="3597"/>
              </a:lnSpc>
              <a:spcBef>
                <a:spcPct val="0"/>
              </a:spcBef>
            </a:pPr>
          </a:p>
          <a:p>
            <a:pPr algn="l" marL="0" indent="0" lvl="0">
              <a:lnSpc>
                <a:spcPts val="3597"/>
              </a:lnSpc>
              <a:spcBef>
                <a:spcPct val="0"/>
              </a:spcBef>
            </a:pPr>
            <a:r>
              <a:rPr lang="en-US" sz="2234">
                <a:solidFill>
                  <a:srgbClr val="0031D1"/>
                </a:solidFill>
                <a:latin typeface="Gotham"/>
                <a:ea typeface="Gotham"/>
                <a:cs typeface="Gotham"/>
                <a:sym typeface="Gotham"/>
              </a:rPr>
              <a:t>Local employment is encouraged. </a:t>
            </a:r>
          </a:p>
          <a:p>
            <a:pPr algn="l" marL="482405" indent="-241203" lvl="1">
              <a:lnSpc>
                <a:spcPts val="3597"/>
              </a:lnSpc>
              <a:spcBef>
                <a:spcPct val="0"/>
              </a:spcBef>
              <a:buFont typeface="Arial"/>
              <a:buChar char="•"/>
            </a:pPr>
            <a:r>
              <a:rPr lang="en-US" sz="2234">
                <a:solidFill>
                  <a:srgbClr val="0031D1"/>
                </a:solidFill>
                <a:latin typeface="Gotham"/>
                <a:ea typeface="Gotham"/>
                <a:cs typeface="Gotham"/>
                <a:sym typeface="Gotham"/>
              </a:rPr>
              <a:t>Training sessions are currently underway. </a:t>
            </a:r>
          </a:p>
          <a:p>
            <a:pPr algn="l" marL="0" indent="0" lvl="0">
              <a:lnSpc>
                <a:spcPts val="3597"/>
              </a:lnSpc>
              <a:spcBef>
                <a:spcPct val="0"/>
              </a:spcBef>
            </a:pPr>
            <a:r>
              <a:rPr lang="en-US" sz="2234">
                <a:solidFill>
                  <a:srgbClr val="0031D1"/>
                </a:solidFill>
                <a:latin typeface="Gotham"/>
                <a:ea typeface="Gotham"/>
                <a:cs typeface="Gotham"/>
                <a:sym typeface="Gotham"/>
              </a:rPr>
              <a:t>The employment of women is being promoted.</a:t>
            </a:r>
          </a:p>
          <a:p>
            <a:pPr algn="l" marL="0" indent="0" lvl="0">
              <a:lnSpc>
                <a:spcPts val="3597"/>
              </a:lnSpc>
              <a:spcBef>
                <a:spcPct val="0"/>
              </a:spcBef>
            </a:pPr>
            <a:r>
              <a:rPr lang="en-US" sz="2234">
                <a:solidFill>
                  <a:srgbClr val="0031D1"/>
                </a:solidFill>
                <a:latin typeface="Gotham"/>
                <a:ea typeface="Gotham"/>
                <a:cs typeface="Gotham"/>
                <a:sym typeface="Gotham"/>
              </a:rPr>
              <a:t>Training and employment opportunities are offered to vulnerable groups, including the elderly, individuals with disabilities, women, and pregnant employees. </a:t>
            </a:r>
          </a:p>
          <a:p>
            <a:pPr algn="l" marL="0" indent="0" lvl="0">
              <a:lnSpc>
                <a:spcPts val="3597"/>
              </a:lnSpc>
              <a:spcBef>
                <a:spcPct val="0"/>
              </a:spcBef>
            </a:pPr>
          </a:p>
          <a:p>
            <a:pPr algn="l" marL="0" indent="0" lvl="0">
              <a:lnSpc>
                <a:spcPts val="3597"/>
              </a:lnSpc>
              <a:spcBef>
                <a:spcPct val="0"/>
              </a:spcBef>
            </a:pPr>
            <a:r>
              <a:rPr lang="en-US" b="true" sz="2234">
                <a:solidFill>
                  <a:srgbClr val="0031D1"/>
                </a:solidFill>
                <a:latin typeface="Gotham Bold"/>
                <a:ea typeface="Gotham Bold"/>
                <a:cs typeface="Gotham Bold"/>
                <a:sym typeface="Gotham Bold"/>
              </a:rPr>
              <a:t>GUEST RELATIONS AND CRM</a:t>
            </a:r>
          </a:p>
          <a:p>
            <a:pPr algn="l" marL="0" indent="0" lvl="0">
              <a:lnSpc>
                <a:spcPts val="3597"/>
              </a:lnSpc>
              <a:spcBef>
                <a:spcPct val="0"/>
              </a:spcBef>
            </a:pPr>
          </a:p>
          <a:p>
            <a:pPr algn="l" marL="0" indent="0" lvl="0">
              <a:lnSpc>
                <a:spcPts val="3597"/>
              </a:lnSpc>
              <a:spcBef>
                <a:spcPct val="0"/>
              </a:spcBef>
            </a:pPr>
            <a:r>
              <a:rPr lang="en-US" sz="2234">
                <a:solidFill>
                  <a:srgbClr val="0031D1"/>
                </a:solidFill>
                <a:latin typeface="Gotham"/>
                <a:ea typeface="Gotham"/>
                <a:cs typeface="Gotham"/>
                <a:sym typeface="Gotham"/>
              </a:rPr>
              <a:t>By enhancing guest engagement, active support is fostered for sustainability initiatives.</a:t>
            </a:r>
          </a:p>
          <a:p>
            <a:pPr algn="l" marL="0" indent="0" lvl="0">
              <a:lnSpc>
                <a:spcPts val="3597"/>
              </a:lnSpc>
              <a:spcBef>
                <a:spcPct val="0"/>
              </a:spcBef>
            </a:pPr>
            <a:r>
              <a:rPr lang="en-US" sz="2234">
                <a:solidFill>
                  <a:srgbClr val="0031D1"/>
                </a:solidFill>
                <a:latin typeface="Gotham"/>
                <a:ea typeface="Gotham"/>
                <a:cs typeface="Gotham"/>
                <a:sym typeface="Gotham"/>
              </a:rPr>
              <a:t>Feedback is assessed through a quantifiable system.</a:t>
            </a:r>
          </a:p>
          <a:p>
            <a:pPr algn="l" marL="0" indent="0" lvl="0">
              <a:lnSpc>
                <a:spcPts val="3597"/>
              </a:lnSpc>
              <a:spcBef>
                <a:spcPct val="0"/>
              </a:spcBef>
            </a:pPr>
          </a:p>
          <a:p>
            <a:pPr algn="l" marL="482405" indent="-241203" lvl="1">
              <a:lnSpc>
                <a:spcPts val="3597"/>
              </a:lnSpc>
              <a:spcBef>
                <a:spcPct val="0"/>
              </a:spcBef>
              <a:buFont typeface="Arial"/>
              <a:buChar char="•"/>
            </a:pPr>
            <a:r>
              <a:rPr lang="en-US" b="true" sz="2234">
                <a:solidFill>
                  <a:srgbClr val="0031D1"/>
                </a:solidFill>
                <a:latin typeface="Gotham Bold"/>
                <a:ea typeface="Gotham Bold"/>
                <a:cs typeface="Gotham Bold"/>
                <a:sym typeface="Gotham Bold"/>
              </a:rPr>
              <a:t>FRONT OFFICE</a:t>
            </a:r>
          </a:p>
          <a:p>
            <a:pPr algn="l" marL="0" indent="0" lvl="0">
              <a:lnSpc>
                <a:spcPts val="3597"/>
              </a:lnSpc>
              <a:spcBef>
                <a:spcPct val="0"/>
              </a:spcBef>
            </a:pPr>
          </a:p>
          <a:p>
            <a:pPr algn="l" marL="482405" indent="-241203" lvl="1">
              <a:lnSpc>
                <a:spcPts val="3597"/>
              </a:lnSpc>
              <a:spcBef>
                <a:spcPct val="0"/>
              </a:spcBef>
              <a:buFont typeface="Arial"/>
              <a:buChar char="•"/>
            </a:pPr>
            <a:r>
              <a:rPr lang="en-US" sz="2234">
                <a:solidFill>
                  <a:srgbClr val="0031D1"/>
                </a:solidFill>
                <a:latin typeface="Gotham"/>
                <a:ea typeface="Gotham"/>
                <a:cs typeface="Gotham"/>
                <a:sym typeface="Gotham"/>
              </a:rPr>
              <a:t>Digital transactions are increasingly prevalent, with QR codes replacing traditional paper printouts.</a:t>
            </a:r>
          </a:p>
          <a:p>
            <a:pPr algn="l" marL="482405" indent="-241203" lvl="1">
              <a:lnSpc>
                <a:spcPts val="3597"/>
              </a:lnSpc>
              <a:spcBef>
                <a:spcPct val="0"/>
              </a:spcBef>
              <a:buFont typeface="Arial"/>
              <a:buChar char="•"/>
            </a:pPr>
            <a:r>
              <a:rPr lang="en-US" sz="2234">
                <a:solidFill>
                  <a:srgbClr val="0031D1"/>
                </a:solidFill>
                <a:latin typeface="Gotham"/>
                <a:ea typeface="Gotham"/>
                <a:cs typeface="Gotham"/>
                <a:sym typeface="Gotham"/>
              </a:rPr>
              <a:t>All guest information is accessible through a QR code.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TextBox 29" id="29"/>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Practices</a:t>
            </a:r>
          </a:p>
        </p:txBody>
      </p:sp>
      <p:sp>
        <p:nvSpPr>
          <p:cNvPr name="TextBox 30" id="30"/>
          <p:cNvSpPr txBox="true"/>
          <p:nvPr/>
        </p:nvSpPr>
        <p:spPr>
          <a:xfrm rot="0">
            <a:off x="2066765" y="2400834"/>
            <a:ext cx="16221235" cy="4838306"/>
          </a:xfrm>
          <a:prstGeom prst="rect">
            <a:avLst/>
          </a:prstGeom>
        </p:spPr>
        <p:txBody>
          <a:bodyPr anchor="t" rtlCol="false" tIns="0" lIns="0" bIns="0" rIns="0">
            <a:spAutoFit/>
          </a:bodyPr>
          <a:lstStyle/>
          <a:p>
            <a:pPr algn="l" marL="0" indent="0" lvl="0">
              <a:lnSpc>
                <a:spcPts val="3840"/>
              </a:lnSpc>
            </a:pPr>
            <a:r>
              <a:rPr lang="en-US" b="true" sz="2385">
                <a:solidFill>
                  <a:srgbClr val="0031D1"/>
                </a:solidFill>
                <a:latin typeface="Gotham Bold"/>
                <a:ea typeface="Gotham Bold"/>
                <a:cs typeface="Gotham Bold"/>
                <a:sym typeface="Gotham Bold"/>
              </a:rPr>
              <a:t>SALES AND MARKETING</a:t>
            </a:r>
          </a:p>
          <a:p>
            <a:pPr algn="l" marL="0" indent="0" lvl="0">
              <a:lnSpc>
                <a:spcPts val="3840"/>
              </a:lnSpc>
              <a:spcBef>
                <a:spcPct val="0"/>
              </a:spcBef>
            </a:pPr>
          </a:p>
          <a:p>
            <a:pPr algn="l" marL="515056" indent="-257528" lvl="1">
              <a:lnSpc>
                <a:spcPts val="3840"/>
              </a:lnSpc>
              <a:spcBef>
                <a:spcPct val="0"/>
              </a:spcBef>
              <a:buFont typeface="Arial"/>
              <a:buChar char="•"/>
            </a:pPr>
            <a:r>
              <a:rPr lang="en-US" sz="2385">
                <a:solidFill>
                  <a:srgbClr val="0031D1"/>
                </a:solidFill>
                <a:latin typeface="Gotham"/>
                <a:ea typeface="Gotham"/>
                <a:cs typeface="Gotham"/>
                <a:sym typeface="Gotham"/>
              </a:rPr>
              <a:t>We emphasize the importance of digital communication.</a:t>
            </a:r>
          </a:p>
          <a:p>
            <a:pPr algn="l" marL="515056" indent="-257528" lvl="1">
              <a:lnSpc>
                <a:spcPts val="3840"/>
              </a:lnSpc>
              <a:spcBef>
                <a:spcPct val="0"/>
              </a:spcBef>
              <a:buFont typeface="Arial"/>
              <a:buChar char="•"/>
            </a:pPr>
            <a:r>
              <a:rPr lang="en-US" sz="2385">
                <a:solidFill>
                  <a:srgbClr val="0031D1"/>
                </a:solidFill>
                <a:latin typeface="Gotham"/>
                <a:ea typeface="Gotham"/>
                <a:cs typeface="Gotham"/>
                <a:sym typeface="Gotham"/>
              </a:rPr>
              <a:t>Sustainability communication is being enhanced. </a:t>
            </a:r>
          </a:p>
          <a:p>
            <a:pPr algn="l" marL="515056" indent="-257528" lvl="1">
              <a:lnSpc>
                <a:spcPts val="3840"/>
              </a:lnSpc>
              <a:spcBef>
                <a:spcPct val="0"/>
              </a:spcBef>
              <a:buFont typeface="Arial"/>
              <a:buChar char="•"/>
            </a:pPr>
            <a:r>
              <a:rPr lang="en-US" sz="2385">
                <a:solidFill>
                  <a:srgbClr val="0031D1"/>
                </a:solidFill>
                <a:latin typeface="Gotham"/>
                <a:ea typeface="Gotham"/>
                <a:cs typeface="Gotham"/>
                <a:sym typeface="Gotham"/>
              </a:rPr>
              <a:t>Local landscapes and historical landmarks are being unveiled.</a:t>
            </a:r>
          </a:p>
          <a:p>
            <a:pPr algn="l" marL="0" indent="0" lvl="0">
              <a:lnSpc>
                <a:spcPts val="3840"/>
              </a:lnSpc>
              <a:spcBef>
                <a:spcPct val="0"/>
              </a:spcBef>
            </a:pPr>
          </a:p>
          <a:p>
            <a:pPr algn="l" marL="0" indent="0" lvl="0">
              <a:lnSpc>
                <a:spcPts val="3840"/>
              </a:lnSpc>
              <a:spcBef>
                <a:spcPct val="0"/>
              </a:spcBef>
            </a:pPr>
            <a:r>
              <a:rPr lang="en-US" b="true" sz="2385">
                <a:solidFill>
                  <a:srgbClr val="0031D1"/>
                </a:solidFill>
                <a:latin typeface="Gotham Bold"/>
                <a:ea typeface="Gotham Bold"/>
                <a:cs typeface="Gotham Bold"/>
                <a:sym typeface="Gotham Bold"/>
              </a:rPr>
              <a:t>LANDSCAPE</a:t>
            </a:r>
          </a:p>
          <a:p>
            <a:pPr algn="l" marL="0" indent="0" lvl="0">
              <a:lnSpc>
                <a:spcPts val="3840"/>
              </a:lnSpc>
              <a:spcBef>
                <a:spcPct val="0"/>
              </a:spcBef>
            </a:pPr>
          </a:p>
          <a:p>
            <a:pPr algn="l" marL="0" indent="0" lvl="0">
              <a:lnSpc>
                <a:spcPts val="3840"/>
              </a:lnSpc>
              <a:spcBef>
                <a:spcPct val="0"/>
              </a:spcBef>
            </a:pPr>
            <a:r>
              <a:rPr lang="en-US" sz="2385">
                <a:solidFill>
                  <a:srgbClr val="0031D1"/>
                </a:solidFill>
                <a:latin typeface="Gotham"/>
                <a:ea typeface="Gotham"/>
                <a:cs typeface="Gotham"/>
                <a:sym typeface="Gotham"/>
              </a:rPr>
              <a:t>Drought-tolerant plants are favored.</a:t>
            </a:r>
          </a:p>
          <a:p>
            <a:pPr algn="l" marL="515056" indent="-257528" lvl="1">
              <a:lnSpc>
                <a:spcPts val="3840"/>
              </a:lnSpc>
              <a:spcBef>
                <a:spcPct val="0"/>
              </a:spcBef>
              <a:buFont typeface="Arial"/>
              <a:buChar char="•"/>
            </a:pPr>
            <a:r>
              <a:rPr lang="en-US" sz="2385">
                <a:solidFill>
                  <a:srgbClr val="0031D1"/>
                </a:solidFill>
                <a:latin typeface="Gotham"/>
                <a:ea typeface="Gotham"/>
                <a:cs typeface="Gotham"/>
                <a:sym typeface="Gotham"/>
              </a:rPr>
              <a:t>Endemic and rare species are safeguarded and presented to visitors.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TextBox 29" id="29"/>
          <p:cNvSpPr txBox="true"/>
          <p:nvPr/>
        </p:nvSpPr>
        <p:spPr>
          <a:xfrm rot="0">
            <a:off x="1301090" y="1076747"/>
            <a:ext cx="14733507" cy="7949650"/>
          </a:xfrm>
          <a:prstGeom prst="rect">
            <a:avLst/>
          </a:prstGeom>
        </p:spPr>
        <p:txBody>
          <a:bodyPr anchor="t" rtlCol="false" tIns="0" lIns="0" bIns="0" rIns="0">
            <a:spAutoFit/>
          </a:bodyPr>
          <a:lstStyle/>
          <a:p>
            <a:pPr algn="l" marL="0" indent="0" lvl="0">
              <a:lnSpc>
                <a:spcPts val="3354"/>
              </a:lnSpc>
            </a:pPr>
            <a:r>
              <a:rPr lang="en-US" b="true" sz="2083">
                <a:solidFill>
                  <a:srgbClr val="0031D1"/>
                </a:solidFill>
                <a:latin typeface="Gotham Bold"/>
                <a:ea typeface="Gotham Bold"/>
                <a:cs typeface="Gotham Bold"/>
                <a:sym typeface="Gotham Bold"/>
              </a:rPr>
              <a:t>SECURITY</a:t>
            </a:r>
          </a:p>
          <a:p>
            <a:pPr algn="l" marL="0" indent="0" lvl="0">
              <a:lnSpc>
                <a:spcPts val="3354"/>
              </a:lnSpc>
            </a:pPr>
          </a:p>
          <a:p>
            <a:pPr algn="l" marL="0" indent="0" lvl="0">
              <a:lnSpc>
                <a:spcPts val="3354"/>
              </a:lnSpc>
              <a:spcBef>
                <a:spcPct val="0"/>
              </a:spcBef>
            </a:pPr>
            <a:r>
              <a:rPr lang="en-US" sz="2083">
                <a:solidFill>
                  <a:srgbClr val="0031D1"/>
                </a:solidFill>
                <a:latin typeface="Gotham"/>
                <a:ea typeface="Gotham"/>
                <a:cs typeface="Gotham"/>
                <a:sym typeface="Gotham"/>
              </a:rPr>
              <a:t>Security within the facility is maintained in compliance with relevant legal regulations and data protection principles, bolstered by technological infrastructure. </a:t>
            </a:r>
          </a:p>
          <a:p>
            <a:pPr algn="l" marL="0" indent="0" lvl="0">
              <a:lnSpc>
                <a:spcPts val="3354"/>
              </a:lnSpc>
              <a:spcBef>
                <a:spcPct val="0"/>
              </a:spcBef>
            </a:pPr>
          </a:p>
          <a:p>
            <a:pPr algn="l" marL="449876" indent="-224938" lvl="1">
              <a:lnSpc>
                <a:spcPts val="3354"/>
              </a:lnSpc>
              <a:spcBef>
                <a:spcPct val="0"/>
              </a:spcBef>
              <a:buFont typeface="Arial"/>
              <a:buChar char="•"/>
            </a:pPr>
            <a:r>
              <a:rPr lang="en-US" sz="2083">
                <a:solidFill>
                  <a:srgbClr val="0031D1"/>
                </a:solidFill>
                <a:latin typeface="Gotham"/>
                <a:ea typeface="Gotham"/>
                <a:cs typeface="Gotham"/>
                <a:sym typeface="Gotham"/>
              </a:rPr>
              <a:t>Special security measures are implemented for children and guests needing assistance, with the safeguarding of these groups regarded as a priority. Guests needing assistance include:</a:t>
            </a:r>
          </a:p>
          <a:p>
            <a:pPr algn="l" marL="0" indent="0" lvl="0">
              <a:lnSpc>
                <a:spcPts val="3354"/>
              </a:lnSpc>
              <a:spcBef>
                <a:spcPct val="0"/>
              </a:spcBef>
            </a:pPr>
            <a:r>
              <a:rPr lang="en-US" sz="2083">
                <a:solidFill>
                  <a:srgbClr val="0031D1"/>
                </a:solidFill>
                <a:latin typeface="Gotham"/>
                <a:ea typeface="Gotham"/>
                <a:cs typeface="Gotham"/>
                <a:sym typeface="Gotham"/>
              </a:rPr>
              <a:t>Children, particularly those who are unaccompanied or lacking parental supervision</a:t>
            </a:r>
          </a:p>
          <a:p>
            <a:pPr algn="l" marL="0" indent="0" lvl="0">
              <a:lnSpc>
                <a:spcPts val="3354"/>
              </a:lnSpc>
              <a:spcBef>
                <a:spcPct val="0"/>
              </a:spcBef>
            </a:pPr>
          </a:p>
          <a:p>
            <a:pPr algn="l" marL="449876" indent="-224938" lvl="1">
              <a:lnSpc>
                <a:spcPts val="3354"/>
              </a:lnSpc>
              <a:spcBef>
                <a:spcPct val="0"/>
              </a:spcBef>
              <a:buFont typeface="Arial"/>
              <a:buChar char="•"/>
            </a:pPr>
            <a:r>
              <a:rPr lang="en-US" sz="2083">
                <a:solidFill>
                  <a:srgbClr val="0031D1"/>
                </a:solidFill>
                <a:latin typeface="Gotham"/>
                <a:ea typeface="Gotham"/>
                <a:cs typeface="Gotham"/>
                <a:sym typeface="Gotham"/>
              </a:rPr>
              <a:t>S</a:t>
            </a:r>
            <a:r>
              <a:rPr lang="en-US" sz="2083">
                <a:solidFill>
                  <a:srgbClr val="0031D1"/>
                </a:solidFill>
                <a:latin typeface="Gotham"/>
                <a:ea typeface="Gotham"/>
                <a:cs typeface="Gotham"/>
                <a:sym typeface="Gotham"/>
              </a:rPr>
              <a:t>enior guests</a:t>
            </a:r>
          </a:p>
          <a:p>
            <a:pPr algn="l" marL="449876" indent="-224938" lvl="1">
              <a:lnSpc>
                <a:spcPts val="3354"/>
              </a:lnSpc>
              <a:spcBef>
                <a:spcPct val="0"/>
              </a:spcBef>
              <a:buFont typeface="Arial"/>
              <a:buChar char="•"/>
            </a:pPr>
            <a:r>
              <a:rPr lang="en-US" sz="2083">
                <a:solidFill>
                  <a:srgbClr val="0031D1"/>
                </a:solidFill>
                <a:latin typeface="Gotham"/>
                <a:ea typeface="Gotham"/>
                <a:cs typeface="Gotham"/>
                <a:sym typeface="Gotham"/>
              </a:rPr>
              <a:t>Individuals with disabilities (physical, mental, or sensory)</a:t>
            </a:r>
          </a:p>
          <a:p>
            <a:pPr algn="l" marL="449876" indent="-224938" lvl="1">
              <a:lnSpc>
                <a:spcPts val="3354"/>
              </a:lnSpc>
              <a:spcBef>
                <a:spcPct val="0"/>
              </a:spcBef>
              <a:buFont typeface="Arial"/>
              <a:buChar char="•"/>
            </a:pPr>
            <a:r>
              <a:rPr lang="en-US" sz="2083">
                <a:solidFill>
                  <a:srgbClr val="0031D1"/>
                </a:solidFill>
                <a:latin typeface="Gotham"/>
                <a:ea typeface="Gotham"/>
                <a:cs typeface="Gotham"/>
                <a:sym typeface="Gotham"/>
              </a:rPr>
              <a:t>Expectant guests</a:t>
            </a:r>
          </a:p>
          <a:p>
            <a:pPr algn="l" marL="449876" indent="-224938" lvl="1">
              <a:lnSpc>
                <a:spcPts val="3354"/>
              </a:lnSpc>
              <a:spcBef>
                <a:spcPct val="0"/>
              </a:spcBef>
              <a:buFont typeface="Arial"/>
              <a:buChar char="•"/>
            </a:pPr>
            <a:r>
              <a:rPr lang="en-US" sz="2083">
                <a:solidFill>
                  <a:srgbClr val="0031D1"/>
                </a:solidFill>
                <a:latin typeface="Gotham"/>
                <a:ea typeface="Gotham"/>
                <a:cs typeface="Gotham"/>
                <a:sym typeface="Gotham"/>
              </a:rPr>
              <a:t>Individuals facing transient health issues (injury, illness, etc.)</a:t>
            </a:r>
          </a:p>
          <a:p>
            <a:pPr algn="l" marL="449876" indent="-224938" lvl="1">
              <a:lnSpc>
                <a:spcPts val="3354"/>
              </a:lnSpc>
              <a:spcBef>
                <a:spcPct val="0"/>
              </a:spcBef>
              <a:buFont typeface="Arial"/>
              <a:buChar char="•"/>
            </a:pPr>
            <a:r>
              <a:rPr lang="en-US" sz="2083">
                <a:solidFill>
                  <a:srgbClr val="0031D1"/>
                </a:solidFill>
                <a:latin typeface="Gotham"/>
                <a:ea typeface="Gotham"/>
                <a:cs typeface="Gotham"/>
                <a:sym typeface="Gotham"/>
              </a:rPr>
              <a:t>This also includes foreign guests who may face communication barriers. who encounter challenges in communication due to language barriers, and protective, guiding, and supportive measures are implemented for these groups.</a:t>
            </a:r>
          </a:p>
          <a:p>
            <a:pPr algn="l" marL="0" indent="0" lvl="0">
              <a:lnSpc>
                <a:spcPts val="3354"/>
              </a:lnSpc>
              <a:spcBef>
                <a:spcPct val="0"/>
              </a:spcBef>
            </a:pPr>
          </a:p>
          <a:p>
            <a:pPr algn="l" marL="0" indent="0" lvl="0">
              <a:lnSpc>
                <a:spcPts val="3354"/>
              </a:lnSpc>
              <a:spcBef>
                <a:spcPct val="0"/>
              </a:spcBef>
            </a:pPr>
            <a:r>
              <a:rPr lang="en-US" sz="2083">
                <a:solidFill>
                  <a:srgbClr val="0031D1"/>
                </a:solidFill>
                <a:latin typeface="Gotham"/>
                <a:ea typeface="Gotham"/>
                <a:cs typeface="Gotham"/>
                <a:sym typeface="Gotham"/>
              </a:rPr>
              <a:t>Security camera systems are employed to safeguard the well-being of guests and employees, while security protocols are consistently enhanced through ongoing training and operational assessments.</a:t>
            </a:r>
          </a:p>
        </p:txBody>
      </p:sp>
      <p:sp>
        <p:nvSpPr>
          <p:cNvPr name="TextBox 30" id="30"/>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Practices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Freeform 29" id="29"/>
          <p:cNvSpPr/>
          <p:nvPr/>
        </p:nvSpPr>
        <p:spPr>
          <a:xfrm flipH="false" flipV="false" rot="0">
            <a:off x="9418153" y="2188732"/>
            <a:ext cx="8869847" cy="5909536"/>
          </a:xfrm>
          <a:custGeom>
            <a:avLst/>
            <a:gdLst/>
            <a:ahLst/>
            <a:cxnLst/>
            <a:rect r="r" b="b" t="t" l="l"/>
            <a:pathLst>
              <a:path h="5909536" w="8869847">
                <a:moveTo>
                  <a:pt x="0" y="0"/>
                </a:moveTo>
                <a:lnTo>
                  <a:pt x="8869847" y="0"/>
                </a:lnTo>
                <a:lnTo>
                  <a:pt x="8869847" y="5909536"/>
                </a:lnTo>
                <a:lnTo>
                  <a:pt x="0" y="5909536"/>
                </a:lnTo>
                <a:lnTo>
                  <a:pt x="0" y="0"/>
                </a:lnTo>
                <a:close/>
              </a:path>
            </a:pathLst>
          </a:custGeom>
          <a:blipFill>
            <a:blip r:embed="rId3"/>
            <a:stretch>
              <a:fillRect l="0" t="0" r="0" b="0"/>
            </a:stretch>
          </a:blipFill>
        </p:spPr>
      </p:sp>
      <p:sp>
        <p:nvSpPr>
          <p:cNvPr name="TextBox 30" id="30"/>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Practices</a:t>
            </a:r>
          </a:p>
        </p:txBody>
      </p:sp>
      <p:sp>
        <p:nvSpPr>
          <p:cNvPr name="TextBox 31" id="31"/>
          <p:cNvSpPr txBox="true"/>
          <p:nvPr/>
        </p:nvSpPr>
        <p:spPr>
          <a:xfrm rot="0">
            <a:off x="1341327" y="1591111"/>
            <a:ext cx="7527716" cy="7267024"/>
          </a:xfrm>
          <a:prstGeom prst="rect">
            <a:avLst/>
          </a:prstGeom>
        </p:spPr>
        <p:txBody>
          <a:bodyPr anchor="t" rtlCol="false" tIns="0" lIns="0" bIns="0" rIns="0">
            <a:spAutoFit/>
          </a:bodyPr>
          <a:lstStyle/>
          <a:p>
            <a:pPr algn="l" marL="0" indent="0" lvl="0">
              <a:lnSpc>
                <a:spcPts val="3845"/>
              </a:lnSpc>
            </a:pPr>
            <a:r>
              <a:rPr lang="en-US" b="true" sz="2388">
                <a:solidFill>
                  <a:srgbClr val="0031D1"/>
                </a:solidFill>
                <a:latin typeface="Gotham Bold"/>
                <a:ea typeface="Gotham Bold"/>
                <a:cs typeface="Gotham Bold"/>
                <a:sym typeface="Gotham Bold"/>
              </a:rPr>
              <a:t>SPA AND WELLNESS</a:t>
            </a:r>
          </a:p>
          <a:p>
            <a:pPr algn="l" marL="0" indent="0" lvl="0">
              <a:lnSpc>
                <a:spcPts val="3845"/>
              </a:lnSpc>
              <a:spcBef>
                <a:spcPct val="0"/>
              </a:spcBef>
            </a:pPr>
            <a:r>
              <a:rPr lang="en-US" sz="2388">
                <a:solidFill>
                  <a:srgbClr val="0031D1"/>
                </a:solidFill>
                <a:latin typeface="Gotham"/>
                <a:ea typeface="Gotham"/>
                <a:cs typeface="Gotham"/>
                <a:sym typeface="Gotham"/>
              </a:rPr>
              <a:t>Natural and eco-friendly products are favored.</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Our Turkish bath provides an opportunity to immerse our guests in the richness of our local culture.</a:t>
            </a:r>
          </a:p>
          <a:p>
            <a:pPr algn="l" marL="0" indent="0" lvl="0">
              <a:lnSpc>
                <a:spcPts val="3845"/>
              </a:lnSpc>
              <a:spcBef>
                <a:spcPct val="0"/>
              </a:spcBef>
            </a:pPr>
          </a:p>
          <a:p>
            <a:pPr algn="l" marL="0" indent="0" lvl="0">
              <a:lnSpc>
                <a:spcPts val="3845"/>
              </a:lnSpc>
              <a:spcBef>
                <a:spcPct val="0"/>
              </a:spcBef>
            </a:pPr>
            <a:r>
              <a:rPr lang="en-US" b="true" sz="2388">
                <a:solidFill>
                  <a:srgbClr val="0031D1"/>
                </a:solidFill>
                <a:latin typeface="Gotham Bold"/>
                <a:ea typeface="Gotham Bold"/>
                <a:cs typeface="Gotham Bold"/>
                <a:sym typeface="Gotham Bold"/>
              </a:rPr>
              <a:t>ANIMATION</a:t>
            </a:r>
          </a:p>
          <a:p>
            <a:pPr algn="l" marL="0" indent="0" lvl="0">
              <a:lnSpc>
                <a:spcPts val="3845"/>
              </a:lnSpc>
              <a:spcBef>
                <a:spcPct val="0"/>
              </a:spcBef>
            </a:pPr>
            <a:r>
              <a:rPr lang="en-US" sz="2388">
                <a:solidFill>
                  <a:srgbClr val="0031D1"/>
                </a:solidFill>
                <a:latin typeface="Gotham"/>
                <a:ea typeface="Gotham"/>
                <a:cs typeface="Gotham"/>
                <a:sym typeface="Gotham"/>
              </a:rPr>
              <a:t>Events centered around sustainability are being organized. </a:t>
            </a:r>
          </a:p>
          <a:p>
            <a:pPr algn="l" marL="0" indent="0" lvl="0">
              <a:lnSpc>
                <a:spcPts val="3845"/>
              </a:lnSpc>
              <a:spcBef>
                <a:spcPct val="0"/>
              </a:spcBef>
            </a:pPr>
          </a:p>
          <a:p>
            <a:pPr algn="l" marL="0" indent="0" lvl="0">
              <a:lnSpc>
                <a:spcPts val="3845"/>
              </a:lnSpc>
              <a:spcBef>
                <a:spcPct val="0"/>
              </a:spcBef>
            </a:pPr>
            <a:r>
              <a:rPr lang="en-US" b="true" sz="2388">
                <a:solidFill>
                  <a:srgbClr val="0031D1"/>
                </a:solidFill>
                <a:latin typeface="Gotham Bold"/>
                <a:ea typeface="Gotham Bold"/>
                <a:cs typeface="Gotham Bold"/>
                <a:sym typeface="Gotham Bold"/>
              </a:rPr>
              <a:t>QUALITY AND SUSTAINABILITY</a:t>
            </a:r>
          </a:p>
          <a:p>
            <a:pPr algn="l" marL="0" indent="0" lvl="0">
              <a:lnSpc>
                <a:spcPts val="3845"/>
              </a:lnSpc>
              <a:spcBef>
                <a:spcPct val="0"/>
              </a:spcBef>
            </a:pPr>
            <a:r>
              <a:rPr lang="en-US" sz="2388">
                <a:solidFill>
                  <a:srgbClr val="0031D1"/>
                </a:solidFill>
                <a:latin typeface="Gotham"/>
                <a:ea typeface="Gotham"/>
                <a:cs typeface="Gotham"/>
                <a:sym typeface="Gotham"/>
              </a:rPr>
              <a:t>All processes are observed within a quantifiable framework. </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Performance is under evaluation and enhancement.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TextBox 29" id="29"/>
          <p:cNvSpPr txBox="true"/>
          <p:nvPr/>
        </p:nvSpPr>
        <p:spPr>
          <a:xfrm rot="0">
            <a:off x="853879" y="1168854"/>
            <a:ext cx="16255728" cy="8238574"/>
          </a:xfrm>
          <a:prstGeom prst="rect">
            <a:avLst/>
          </a:prstGeom>
        </p:spPr>
        <p:txBody>
          <a:bodyPr anchor="t" rtlCol="false" tIns="0" lIns="0" bIns="0" rIns="0">
            <a:spAutoFit/>
          </a:bodyPr>
          <a:lstStyle/>
          <a:p>
            <a:pPr algn="l" marL="0" indent="0" lvl="0">
              <a:lnSpc>
                <a:spcPts val="3845"/>
              </a:lnSpc>
            </a:pPr>
            <a:r>
              <a:rPr lang="en-US" b="true" sz="2388">
                <a:solidFill>
                  <a:srgbClr val="0031D1"/>
                </a:solidFill>
                <a:latin typeface="Gotham Bold"/>
                <a:ea typeface="Gotham Bold"/>
                <a:cs typeface="Gotham Bold"/>
                <a:sym typeface="Gotham Bold"/>
              </a:rPr>
              <a:t>OUR 2026 SUSTAINABILITY GOALS</a:t>
            </a:r>
          </a:p>
          <a:p>
            <a:pPr algn="l" marL="0" indent="0" lvl="0">
              <a:lnSpc>
                <a:spcPts val="3845"/>
              </a:lnSpc>
            </a:pPr>
          </a:p>
          <a:p>
            <a:pPr algn="l" marL="0" indent="0" lvl="0">
              <a:lnSpc>
                <a:spcPts val="3845"/>
              </a:lnSpc>
              <a:spcBef>
                <a:spcPct val="0"/>
              </a:spcBef>
            </a:pPr>
            <a:r>
              <a:rPr lang="en-US" sz="2388">
                <a:solidFill>
                  <a:srgbClr val="0031D1"/>
                </a:solidFill>
                <a:latin typeface="Gotham"/>
                <a:ea typeface="Gotham"/>
                <a:cs typeface="Gotham"/>
                <a:sym typeface="Gotham"/>
              </a:rPr>
              <a:t>Sustainability</a:t>
            </a:r>
            <a:r>
              <a:rPr lang="en-US" sz="2388">
                <a:solidFill>
                  <a:srgbClr val="0031D1"/>
                </a:solidFill>
                <a:latin typeface="Gotham"/>
                <a:ea typeface="Gotham"/>
                <a:cs typeface="Gotham"/>
                <a:sym typeface="Gotham"/>
              </a:rPr>
              <a:t> is an integral part of our daily operations at Başka Resort Bodrum.</a:t>
            </a:r>
          </a:p>
          <a:p>
            <a:pPr algn="l" marL="0" indent="0" lvl="0">
              <a:lnSpc>
                <a:spcPts val="3845"/>
              </a:lnSpc>
              <a:spcBef>
                <a:spcPct val="0"/>
              </a:spcBef>
            </a:pPr>
            <a:r>
              <a:rPr lang="en-US" sz="2388">
                <a:solidFill>
                  <a:srgbClr val="0031D1"/>
                </a:solidFill>
                <a:latin typeface="Gotham"/>
                <a:ea typeface="Gotham"/>
                <a:cs typeface="Gotham"/>
                <a:sym typeface="Gotham"/>
              </a:rPr>
              <a:t> </a:t>
            </a:r>
          </a:p>
          <a:p>
            <a:pPr algn="l" marL="0" indent="0" lvl="0">
              <a:lnSpc>
                <a:spcPts val="3845"/>
              </a:lnSpc>
              <a:spcBef>
                <a:spcPct val="0"/>
              </a:spcBef>
            </a:pPr>
            <a:r>
              <a:rPr lang="en-US" sz="2388">
                <a:solidFill>
                  <a:srgbClr val="0031D1"/>
                </a:solidFill>
                <a:latin typeface="Gotham"/>
                <a:ea typeface="Gotham"/>
                <a:cs typeface="Gotham"/>
                <a:sym typeface="Gotham"/>
              </a:rPr>
              <a:t>Our goal for 2026 is to strengthen our current practices and ensure their effective implementation across all departments.</a:t>
            </a:r>
          </a:p>
          <a:p>
            <a:pPr algn="l" marL="0" indent="0" lvl="0">
              <a:lnSpc>
                <a:spcPts val="3845"/>
              </a:lnSpc>
              <a:spcBef>
                <a:spcPct val="0"/>
              </a:spcBef>
            </a:pP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monitor water, energy, and waste in a regular and comparable manner</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track and evaluate sustainability performance across all departments</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expand practices aimed at reducing food waste and unnecessary consumption</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inc</a:t>
            </a:r>
            <a:r>
              <a:rPr lang="en-US" sz="2388">
                <a:solidFill>
                  <a:srgbClr val="0031D1"/>
                </a:solidFill>
                <a:latin typeface="Gotham"/>
                <a:ea typeface="Gotham"/>
                <a:cs typeface="Gotham"/>
                <a:sym typeface="Gotham"/>
              </a:rPr>
              <a:t>rease the use of local and sustainable products</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reduce single-use items</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ensu</a:t>
            </a:r>
            <a:r>
              <a:rPr lang="en-US" sz="2388">
                <a:solidFill>
                  <a:srgbClr val="0031D1"/>
                </a:solidFill>
                <a:latin typeface="Gotham"/>
                <a:ea typeface="Gotham"/>
                <a:cs typeface="Gotham"/>
                <a:sym typeface="Gotham"/>
              </a:rPr>
              <a:t>re proper waste separation</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provide sustainability training to employees and increase their engagement</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inform guests about sustainability and involve them in the process</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regularly review and improve all practices</a:t>
            </a:r>
          </a:p>
          <a:p>
            <a:pPr algn="l">
              <a:lnSpc>
                <a:spcPts val="3845"/>
              </a:lnSpc>
              <a:spcBef>
                <a:spcPct val="0"/>
              </a:spcBef>
            </a:pPr>
          </a:p>
        </p:txBody>
      </p:sp>
      <p:sp>
        <p:nvSpPr>
          <p:cNvPr name="TextBox 30" id="30"/>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Practices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TextBox 29" id="29"/>
          <p:cNvSpPr txBox="true"/>
          <p:nvPr/>
        </p:nvSpPr>
        <p:spPr>
          <a:xfrm rot="0">
            <a:off x="853879" y="1323824"/>
            <a:ext cx="16255728" cy="8238574"/>
          </a:xfrm>
          <a:prstGeom prst="rect">
            <a:avLst/>
          </a:prstGeom>
        </p:spPr>
        <p:txBody>
          <a:bodyPr anchor="t" rtlCol="false" tIns="0" lIns="0" bIns="0" rIns="0">
            <a:spAutoFit/>
          </a:bodyPr>
          <a:lstStyle/>
          <a:p>
            <a:pPr algn="l" marL="0" indent="0" lvl="0">
              <a:lnSpc>
                <a:spcPts val="3845"/>
              </a:lnSpc>
            </a:pPr>
            <a:r>
              <a:rPr lang="en-US" b="true" sz="2388">
                <a:solidFill>
                  <a:srgbClr val="0031D1"/>
                </a:solidFill>
                <a:latin typeface="Gotham Bold"/>
                <a:ea typeface="Gotham Bold"/>
                <a:cs typeface="Gotham Bold"/>
                <a:sym typeface="Gotham Bold"/>
              </a:rPr>
              <a:t>OUR 2030 SUSTAINABILITY GOALS</a:t>
            </a:r>
          </a:p>
          <a:p>
            <a:pPr algn="l" marL="0" indent="0" lvl="0">
              <a:lnSpc>
                <a:spcPts val="3845"/>
              </a:lnSpc>
            </a:pPr>
          </a:p>
          <a:p>
            <a:pPr algn="l" marL="0" indent="0" lvl="0">
              <a:lnSpc>
                <a:spcPts val="3845"/>
              </a:lnSpc>
              <a:spcBef>
                <a:spcPct val="0"/>
              </a:spcBef>
            </a:pPr>
            <a:r>
              <a:rPr lang="en-US" sz="2388">
                <a:solidFill>
                  <a:srgbClr val="0031D1"/>
                </a:solidFill>
                <a:latin typeface="Gotham"/>
                <a:ea typeface="Gotham"/>
                <a:cs typeface="Gotham"/>
                <a:sym typeface="Gotham"/>
              </a:rPr>
              <a:t>Başka Resort Bodrum aims to improve its sustainability performance based on the year 2026.</a:t>
            </a:r>
          </a:p>
          <a:p>
            <a:pPr algn="l" marL="0" indent="0" lvl="0">
              <a:lnSpc>
                <a:spcPts val="3845"/>
              </a:lnSpc>
              <a:spcBef>
                <a:spcPct val="0"/>
              </a:spcBef>
            </a:pPr>
            <a:r>
              <a:rPr lang="en-US" sz="2388">
                <a:solidFill>
                  <a:srgbClr val="0031D1"/>
                </a:solidFill>
                <a:latin typeface="Gotham"/>
                <a:ea typeface="Gotham"/>
                <a:cs typeface="Gotham"/>
                <a:sym typeface="Gotham"/>
              </a:rPr>
              <a:t>In this context:</a:t>
            </a:r>
          </a:p>
          <a:p>
            <a:pPr algn="l" marL="0" indent="0" lvl="0">
              <a:lnSpc>
                <a:spcPts val="3845"/>
              </a:lnSpc>
              <a:spcBef>
                <a:spcPct val="0"/>
              </a:spcBef>
            </a:pP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reduce water consumption by 10%</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increase energy efficiency by 10%</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reduce food waste by 10%</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increase the waste recycling rate by 10%</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inc</a:t>
            </a:r>
            <a:r>
              <a:rPr lang="en-US" sz="2388">
                <a:solidFill>
                  <a:srgbClr val="0031D1"/>
                </a:solidFill>
                <a:latin typeface="Gotham"/>
                <a:ea typeface="Gotham"/>
                <a:cs typeface="Gotham"/>
                <a:sym typeface="Gotham"/>
              </a:rPr>
              <a:t>rease the use of local and sustainable products by 10%</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reduce single-use items by 10%</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inc</a:t>
            </a:r>
            <a:r>
              <a:rPr lang="en-US" sz="2388">
                <a:solidFill>
                  <a:srgbClr val="0031D1"/>
                </a:solidFill>
                <a:latin typeface="Gotham"/>
                <a:ea typeface="Gotham"/>
                <a:cs typeface="Gotham"/>
                <a:sym typeface="Gotham"/>
              </a:rPr>
              <a:t>rease annual</a:t>
            </a:r>
            <a:r>
              <a:rPr lang="en-US" sz="2388">
                <a:solidFill>
                  <a:srgbClr val="0031D1"/>
                </a:solidFill>
                <a:latin typeface="Gotham"/>
                <a:ea typeface="Gotham"/>
                <a:cs typeface="Gotham"/>
                <a:sym typeface="Gotham"/>
              </a:rPr>
              <a:t> sustainability training hours per employee (e.g., from 8 hours to 12 hours)</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enhance female employment and promote equal opportunities</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increase employee participation in sustainability processes</a:t>
            </a: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To improve guest awareness</a:t>
            </a:r>
          </a:p>
          <a:p>
            <a:pPr algn="l">
              <a:lnSpc>
                <a:spcPts val="3845"/>
              </a:lnSpc>
              <a:spcBef>
                <a:spcPct val="0"/>
              </a:spcBef>
            </a:pPr>
          </a:p>
          <a:p>
            <a:pPr algn="l">
              <a:lnSpc>
                <a:spcPts val="3845"/>
              </a:lnSpc>
              <a:spcBef>
                <a:spcPct val="0"/>
              </a:spcBef>
            </a:pPr>
          </a:p>
        </p:txBody>
      </p:sp>
      <p:sp>
        <p:nvSpPr>
          <p:cNvPr name="TextBox 30" id="30"/>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Practices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6433" y="9650879"/>
            <a:ext cx="15750873" cy="0"/>
          </a:xfrm>
          <a:prstGeom prst="line">
            <a:avLst/>
          </a:prstGeom>
          <a:ln cap="flat" w="38100">
            <a:solidFill>
              <a:srgbClr val="0031D1"/>
            </a:solidFill>
            <a:prstDash val="solid"/>
            <a:headEnd type="none" len="sm" w="sm"/>
            <a:tailEnd type="none" len="sm" w="sm"/>
          </a:ln>
        </p:spPr>
      </p:sp>
      <p:grpSp>
        <p:nvGrpSpPr>
          <p:cNvPr name="Group 3" id="3"/>
          <p:cNvGrpSpPr/>
          <p:nvPr/>
        </p:nvGrpSpPr>
        <p:grpSpPr>
          <a:xfrm rot="0">
            <a:off x="16878149" y="9079377"/>
            <a:ext cx="868631" cy="966043"/>
            <a:chOff x="0" y="0"/>
            <a:chExt cx="1965401" cy="2185810"/>
          </a:xfrm>
        </p:grpSpPr>
        <p:sp>
          <p:nvSpPr>
            <p:cNvPr name="Freeform 4" id="4"/>
            <p:cNvSpPr/>
            <p:nvPr/>
          </p:nvSpPr>
          <p:spPr>
            <a:xfrm flipH="false" flipV="false" rot="0">
              <a:off x="919988" y="408559"/>
              <a:ext cx="981964" cy="744982"/>
            </a:xfrm>
            <a:custGeom>
              <a:avLst/>
              <a:gdLst/>
              <a:ahLst/>
              <a:cxnLst/>
              <a:rect r="r" b="b" t="t" l="l"/>
              <a:pathLst>
                <a:path h="744982" w="981964">
                  <a:moveTo>
                    <a:pt x="125476" y="744983"/>
                  </a:moveTo>
                  <a:lnTo>
                    <a:pt x="0" y="744983"/>
                  </a:lnTo>
                  <a:cubicBezTo>
                    <a:pt x="0" y="278512"/>
                    <a:pt x="367030" y="0"/>
                    <a:pt x="981964" y="0"/>
                  </a:cubicBezTo>
                  <a:lnTo>
                    <a:pt x="981964" y="125476"/>
                  </a:lnTo>
                  <a:cubicBezTo>
                    <a:pt x="208915" y="125476"/>
                    <a:pt x="125476" y="558674"/>
                    <a:pt x="125476" y="744983"/>
                  </a:cubicBezTo>
                </a:path>
              </a:pathLst>
            </a:custGeom>
            <a:solidFill>
              <a:srgbClr val="0031D1"/>
            </a:solidFill>
          </p:spPr>
        </p:sp>
        <p:sp>
          <p:nvSpPr>
            <p:cNvPr name="Freeform 5" id="5"/>
            <p:cNvSpPr/>
            <p:nvPr/>
          </p:nvSpPr>
          <p:spPr>
            <a:xfrm flipH="false" flipV="false" rot="0">
              <a:off x="1251331" y="63373"/>
              <a:ext cx="370713" cy="599694"/>
            </a:xfrm>
            <a:custGeom>
              <a:avLst/>
              <a:gdLst/>
              <a:ahLst/>
              <a:cxnLst/>
              <a:rect r="r" b="b" t="t" l="l"/>
              <a:pathLst>
                <a:path h="599694" w="370713">
                  <a:moveTo>
                    <a:pt x="68961" y="599694"/>
                  </a:moveTo>
                  <a:lnTo>
                    <a:pt x="127" y="494792"/>
                  </a:lnTo>
                  <a:lnTo>
                    <a:pt x="34544" y="547243"/>
                  </a:lnTo>
                  <a:lnTo>
                    <a:pt x="0" y="494919"/>
                  </a:lnTo>
                  <a:cubicBezTo>
                    <a:pt x="10033" y="488188"/>
                    <a:pt x="245237" y="327660"/>
                    <a:pt x="245237" y="0"/>
                  </a:cubicBezTo>
                  <a:lnTo>
                    <a:pt x="370713" y="0"/>
                  </a:lnTo>
                  <a:cubicBezTo>
                    <a:pt x="370713" y="397129"/>
                    <a:pt x="81407" y="591566"/>
                    <a:pt x="69088" y="599567"/>
                  </a:cubicBezTo>
                </a:path>
              </a:pathLst>
            </a:custGeom>
            <a:solidFill>
              <a:srgbClr val="0031D1"/>
            </a:solidFill>
          </p:spPr>
        </p:sp>
        <p:sp>
          <p:nvSpPr>
            <p:cNvPr name="Freeform 6" id="6"/>
            <p:cNvSpPr/>
            <p:nvPr/>
          </p:nvSpPr>
          <p:spPr>
            <a:xfrm flipH="false" flipV="false" rot="0">
              <a:off x="919988" y="885699"/>
              <a:ext cx="981710" cy="806070"/>
            </a:xfrm>
            <a:custGeom>
              <a:avLst/>
              <a:gdLst/>
              <a:ahLst/>
              <a:cxnLst/>
              <a:rect r="r" b="b" t="t" l="l"/>
              <a:pathLst>
                <a:path h="806070" w="981710">
                  <a:moveTo>
                    <a:pt x="125476" y="806069"/>
                  </a:moveTo>
                  <a:lnTo>
                    <a:pt x="0" y="806069"/>
                  </a:lnTo>
                  <a:cubicBezTo>
                    <a:pt x="0" y="606552"/>
                    <a:pt x="53340" y="438531"/>
                    <a:pt x="158750" y="306705"/>
                  </a:cubicBezTo>
                  <a:cubicBezTo>
                    <a:pt x="321437" y="103124"/>
                    <a:pt x="598297" y="0"/>
                    <a:pt x="981710" y="0"/>
                  </a:cubicBezTo>
                  <a:lnTo>
                    <a:pt x="981710" y="125476"/>
                  </a:lnTo>
                  <a:cubicBezTo>
                    <a:pt x="273939" y="125476"/>
                    <a:pt x="125349" y="495554"/>
                    <a:pt x="125349" y="806069"/>
                  </a:cubicBezTo>
                </a:path>
              </a:pathLst>
            </a:custGeom>
            <a:solidFill>
              <a:srgbClr val="0031D1"/>
            </a:solidFill>
          </p:spPr>
        </p:sp>
        <p:sp>
          <p:nvSpPr>
            <p:cNvPr name="Freeform 7" id="7"/>
            <p:cNvSpPr/>
            <p:nvPr/>
          </p:nvSpPr>
          <p:spPr>
            <a:xfrm flipH="false" flipV="false" rot="0">
              <a:off x="63500" y="408559"/>
              <a:ext cx="981964" cy="744983"/>
            </a:xfrm>
            <a:custGeom>
              <a:avLst/>
              <a:gdLst/>
              <a:ahLst/>
              <a:cxnLst/>
              <a:rect r="r" b="b" t="t" l="l"/>
              <a:pathLst>
                <a:path h="744983" w="981964">
                  <a:moveTo>
                    <a:pt x="981964" y="744983"/>
                  </a:moveTo>
                  <a:lnTo>
                    <a:pt x="856488" y="744983"/>
                  </a:lnTo>
                  <a:cubicBezTo>
                    <a:pt x="856488" y="558674"/>
                    <a:pt x="773049" y="125476"/>
                    <a:pt x="0" y="125476"/>
                  </a:cubicBezTo>
                  <a:lnTo>
                    <a:pt x="0" y="0"/>
                  </a:lnTo>
                  <a:cubicBezTo>
                    <a:pt x="614807" y="0"/>
                    <a:pt x="981964" y="278511"/>
                    <a:pt x="981964" y="744983"/>
                  </a:cubicBezTo>
                </a:path>
              </a:pathLst>
            </a:custGeom>
            <a:solidFill>
              <a:srgbClr val="0031D1"/>
            </a:solidFill>
          </p:spPr>
        </p:sp>
        <p:sp>
          <p:nvSpPr>
            <p:cNvPr name="Freeform 8" id="8"/>
            <p:cNvSpPr/>
            <p:nvPr/>
          </p:nvSpPr>
          <p:spPr>
            <a:xfrm flipH="false" flipV="false" rot="0">
              <a:off x="343535" y="63500"/>
              <a:ext cx="370713" cy="599567"/>
            </a:xfrm>
            <a:custGeom>
              <a:avLst/>
              <a:gdLst/>
              <a:ahLst/>
              <a:cxnLst/>
              <a:rect r="r" b="b" t="t" l="l"/>
              <a:pathLst>
                <a:path h="599567" w="370713">
                  <a:moveTo>
                    <a:pt x="301625" y="599567"/>
                  </a:moveTo>
                  <a:cubicBezTo>
                    <a:pt x="289306" y="591566"/>
                    <a:pt x="0" y="397129"/>
                    <a:pt x="0" y="0"/>
                  </a:cubicBezTo>
                  <a:lnTo>
                    <a:pt x="125476" y="0"/>
                  </a:lnTo>
                  <a:cubicBezTo>
                    <a:pt x="125476" y="327533"/>
                    <a:pt x="360680" y="488188"/>
                    <a:pt x="370713" y="494919"/>
                  </a:cubicBezTo>
                  <a:close/>
                </a:path>
              </a:pathLst>
            </a:custGeom>
            <a:solidFill>
              <a:srgbClr val="0031D1"/>
            </a:solidFill>
          </p:spPr>
        </p:sp>
        <p:sp>
          <p:nvSpPr>
            <p:cNvPr name="Freeform 9" id="9"/>
            <p:cNvSpPr/>
            <p:nvPr/>
          </p:nvSpPr>
          <p:spPr>
            <a:xfrm flipH="false" flipV="false" rot="0">
              <a:off x="63754" y="885699"/>
              <a:ext cx="981710" cy="806070"/>
            </a:xfrm>
            <a:custGeom>
              <a:avLst/>
              <a:gdLst/>
              <a:ahLst/>
              <a:cxnLst/>
              <a:rect r="r" b="b" t="t" l="l"/>
              <a:pathLst>
                <a:path h="806070" w="981710">
                  <a:moveTo>
                    <a:pt x="981710" y="806069"/>
                  </a:moveTo>
                  <a:lnTo>
                    <a:pt x="856234" y="806069"/>
                  </a:lnTo>
                  <a:cubicBezTo>
                    <a:pt x="856234" y="495554"/>
                    <a:pt x="707644" y="125476"/>
                    <a:pt x="0" y="125476"/>
                  </a:cubicBezTo>
                  <a:lnTo>
                    <a:pt x="0" y="0"/>
                  </a:lnTo>
                  <a:cubicBezTo>
                    <a:pt x="383540" y="0"/>
                    <a:pt x="660400" y="103124"/>
                    <a:pt x="822960" y="306705"/>
                  </a:cubicBezTo>
                  <a:cubicBezTo>
                    <a:pt x="928243" y="438531"/>
                    <a:pt x="981710" y="606552"/>
                    <a:pt x="981710" y="806069"/>
                  </a:cubicBezTo>
                </a:path>
              </a:pathLst>
            </a:custGeom>
            <a:solidFill>
              <a:srgbClr val="0031D1"/>
            </a:solidFill>
          </p:spPr>
        </p:sp>
        <p:sp>
          <p:nvSpPr>
            <p:cNvPr name="Freeform 10" id="10"/>
            <p:cNvSpPr/>
            <p:nvPr/>
          </p:nvSpPr>
          <p:spPr>
            <a:xfrm flipH="false" flipV="false" rot="0">
              <a:off x="919988" y="63500"/>
              <a:ext cx="125476" cy="1976121"/>
            </a:xfrm>
            <a:custGeom>
              <a:avLst/>
              <a:gdLst/>
              <a:ahLst/>
              <a:cxnLst/>
              <a:rect r="r" b="b" t="t" l="l"/>
              <a:pathLst>
                <a:path h="1976121" w="125476">
                  <a:moveTo>
                    <a:pt x="125476" y="1976121"/>
                  </a:moveTo>
                  <a:lnTo>
                    <a:pt x="0" y="1976121"/>
                  </a:lnTo>
                  <a:lnTo>
                    <a:pt x="0" y="0"/>
                  </a:lnTo>
                  <a:lnTo>
                    <a:pt x="125476" y="0"/>
                  </a:lnTo>
                  <a:close/>
                </a:path>
              </a:pathLst>
            </a:custGeom>
            <a:solidFill>
              <a:srgbClr val="0031D1"/>
            </a:solidFill>
          </p:spPr>
        </p:sp>
        <p:sp>
          <p:nvSpPr>
            <p:cNvPr name="Freeform 11" id="11"/>
            <p:cNvSpPr/>
            <p:nvPr/>
          </p:nvSpPr>
          <p:spPr>
            <a:xfrm flipH="false" flipV="false" rot="0">
              <a:off x="596900" y="1957833"/>
              <a:ext cx="771525" cy="164465"/>
            </a:xfrm>
            <a:custGeom>
              <a:avLst/>
              <a:gdLst/>
              <a:ahLst/>
              <a:cxnLst/>
              <a:rect r="r" b="b" t="t" l="l"/>
              <a:pathLst>
                <a:path h="164465" w="771525">
                  <a:moveTo>
                    <a:pt x="0" y="136017"/>
                  </a:moveTo>
                  <a:lnTo>
                    <a:pt x="0" y="28448"/>
                  </a:lnTo>
                  <a:cubicBezTo>
                    <a:pt x="0" y="12700"/>
                    <a:pt x="12700" y="0"/>
                    <a:pt x="28448" y="0"/>
                  </a:cubicBezTo>
                  <a:lnTo>
                    <a:pt x="743077" y="0"/>
                  </a:lnTo>
                  <a:cubicBezTo>
                    <a:pt x="758825" y="0"/>
                    <a:pt x="771525" y="12700"/>
                    <a:pt x="771525" y="28448"/>
                  </a:cubicBezTo>
                  <a:lnTo>
                    <a:pt x="771525" y="136017"/>
                  </a:lnTo>
                  <a:cubicBezTo>
                    <a:pt x="771525" y="151765"/>
                    <a:pt x="758825" y="164466"/>
                    <a:pt x="743077" y="164466"/>
                  </a:cubicBezTo>
                  <a:lnTo>
                    <a:pt x="28448" y="164466"/>
                  </a:lnTo>
                  <a:cubicBezTo>
                    <a:pt x="12700" y="164466"/>
                    <a:pt x="0" y="151765"/>
                    <a:pt x="0" y="136017"/>
                  </a:cubicBezTo>
                </a:path>
              </a:pathLst>
            </a:custGeom>
            <a:solidFill>
              <a:srgbClr val="0031D1"/>
            </a:solidFill>
          </p:spPr>
        </p:sp>
        <p:sp>
          <p:nvSpPr>
            <p:cNvPr name="Freeform 12" id="12"/>
            <p:cNvSpPr/>
            <p:nvPr/>
          </p:nvSpPr>
          <p:spPr>
            <a:xfrm flipH="false" flipV="false" rot="0">
              <a:off x="1163828" y="1195579"/>
              <a:ext cx="320294" cy="320294"/>
            </a:xfrm>
            <a:custGeom>
              <a:avLst/>
              <a:gdLst/>
              <a:ahLst/>
              <a:cxnLst/>
              <a:rect r="r" b="b" t="t" l="l"/>
              <a:pathLst>
                <a:path h="320294" w="320294">
                  <a:moveTo>
                    <a:pt x="116459" y="203835"/>
                  </a:moveTo>
                  <a:cubicBezTo>
                    <a:pt x="182245" y="269621"/>
                    <a:pt x="257683" y="310642"/>
                    <a:pt x="320294" y="320294"/>
                  </a:cubicBezTo>
                  <a:cubicBezTo>
                    <a:pt x="310642" y="257683"/>
                    <a:pt x="269494" y="182118"/>
                    <a:pt x="203835" y="116459"/>
                  </a:cubicBezTo>
                  <a:cubicBezTo>
                    <a:pt x="138176" y="50800"/>
                    <a:pt x="62611" y="9652"/>
                    <a:pt x="0" y="0"/>
                  </a:cubicBezTo>
                  <a:cubicBezTo>
                    <a:pt x="9652" y="62611"/>
                    <a:pt x="50800" y="138176"/>
                    <a:pt x="116586" y="203835"/>
                  </a:cubicBezTo>
                </a:path>
              </a:pathLst>
            </a:custGeom>
            <a:solidFill>
              <a:srgbClr val="0031D1"/>
            </a:solidFill>
          </p:spPr>
        </p:sp>
        <p:sp>
          <p:nvSpPr>
            <p:cNvPr name="Freeform 13" id="13"/>
            <p:cNvSpPr/>
            <p:nvPr/>
          </p:nvSpPr>
          <p:spPr>
            <a:xfrm flipH="false" flipV="false" rot="0">
              <a:off x="63500" y="601091"/>
              <a:ext cx="320421" cy="320294"/>
            </a:xfrm>
            <a:custGeom>
              <a:avLst/>
              <a:gdLst/>
              <a:ahLst/>
              <a:cxnLst/>
              <a:rect r="r" b="b" t="t" l="l"/>
              <a:pathLst>
                <a:path h="320294" w="320421">
                  <a:moveTo>
                    <a:pt x="116586" y="203836"/>
                  </a:moveTo>
                  <a:cubicBezTo>
                    <a:pt x="182372" y="269622"/>
                    <a:pt x="257810" y="310643"/>
                    <a:pt x="320421" y="320295"/>
                  </a:cubicBezTo>
                  <a:cubicBezTo>
                    <a:pt x="310769" y="257684"/>
                    <a:pt x="269621" y="182119"/>
                    <a:pt x="203962" y="116460"/>
                  </a:cubicBezTo>
                  <a:cubicBezTo>
                    <a:pt x="138303" y="50800"/>
                    <a:pt x="62611" y="9652"/>
                    <a:pt x="0" y="0"/>
                  </a:cubicBezTo>
                  <a:cubicBezTo>
                    <a:pt x="9652" y="62611"/>
                    <a:pt x="50800" y="138177"/>
                    <a:pt x="116586" y="203836"/>
                  </a:cubicBezTo>
                </a:path>
              </a:pathLst>
            </a:custGeom>
            <a:solidFill>
              <a:srgbClr val="0031D1"/>
            </a:solidFill>
          </p:spPr>
        </p:sp>
        <p:sp>
          <p:nvSpPr>
            <p:cNvPr name="Freeform 14" id="14"/>
            <p:cNvSpPr/>
            <p:nvPr/>
          </p:nvSpPr>
          <p:spPr>
            <a:xfrm flipH="false" flipV="false" rot="0">
              <a:off x="1154938" y="63500"/>
              <a:ext cx="320421" cy="320294"/>
            </a:xfrm>
            <a:custGeom>
              <a:avLst/>
              <a:gdLst/>
              <a:ahLst/>
              <a:cxnLst/>
              <a:rect r="r" b="b" t="t" l="l"/>
              <a:pathLst>
                <a:path h="320294" w="320421">
                  <a:moveTo>
                    <a:pt x="116586" y="203835"/>
                  </a:moveTo>
                  <a:cubicBezTo>
                    <a:pt x="182372" y="269621"/>
                    <a:pt x="257810" y="310642"/>
                    <a:pt x="320421" y="320294"/>
                  </a:cubicBezTo>
                  <a:cubicBezTo>
                    <a:pt x="310769" y="257683"/>
                    <a:pt x="269621" y="182118"/>
                    <a:pt x="203962" y="116459"/>
                  </a:cubicBezTo>
                  <a:cubicBezTo>
                    <a:pt x="138303" y="50800"/>
                    <a:pt x="62611" y="9652"/>
                    <a:pt x="0" y="0"/>
                  </a:cubicBezTo>
                  <a:cubicBezTo>
                    <a:pt x="9652" y="62611"/>
                    <a:pt x="50800" y="138176"/>
                    <a:pt x="116586" y="203835"/>
                  </a:cubicBezTo>
                </a:path>
              </a:pathLst>
            </a:custGeom>
            <a:solidFill>
              <a:srgbClr val="0031D1"/>
            </a:solidFill>
          </p:spPr>
        </p:sp>
        <p:sp>
          <p:nvSpPr>
            <p:cNvPr name="Freeform 15" id="15"/>
            <p:cNvSpPr/>
            <p:nvPr/>
          </p:nvSpPr>
          <p:spPr>
            <a:xfrm flipH="false" flipV="false" rot="0">
              <a:off x="358140" y="109258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6" id="16"/>
            <p:cNvSpPr/>
            <p:nvPr/>
          </p:nvSpPr>
          <p:spPr>
            <a:xfrm flipH="false" flipV="false" rot="0">
              <a:off x="1323340" y="683768"/>
              <a:ext cx="320294" cy="320294"/>
            </a:xfrm>
            <a:custGeom>
              <a:avLst/>
              <a:gdLst/>
              <a:ahLst/>
              <a:cxnLst/>
              <a:rect r="r" b="b" t="t" l="l"/>
              <a:pathLst>
                <a:path h="320294" w="320294">
                  <a:moveTo>
                    <a:pt x="116586" y="116460"/>
                  </a:moveTo>
                  <a:cubicBezTo>
                    <a:pt x="50800" y="182246"/>
                    <a:pt x="9779" y="257684"/>
                    <a:pt x="0" y="320295"/>
                  </a:cubicBezTo>
                  <a:cubicBezTo>
                    <a:pt x="62611" y="310643"/>
                    <a:pt x="138176" y="269495"/>
                    <a:pt x="203835" y="203836"/>
                  </a:cubicBezTo>
                  <a:cubicBezTo>
                    <a:pt x="269494" y="138177"/>
                    <a:pt x="310642" y="62611"/>
                    <a:pt x="320294" y="0"/>
                  </a:cubicBezTo>
                  <a:cubicBezTo>
                    <a:pt x="257683" y="9652"/>
                    <a:pt x="182118" y="50800"/>
                    <a:pt x="116459" y="116460"/>
                  </a:cubicBezTo>
                </a:path>
              </a:pathLst>
            </a:custGeom>
            <a:solidFill>
              <a:srgbClr val="0031D1"/>
            </a:solidFill>
          </p:spPr>
        </p:sp>
        <p:sp>
          <p:nvSpPr>
            <p:cNvPr name="Freeform 17" id="17"/>
            <p:cNvSpPr/>
            <p:nvPr/>
          </p:nvSpPr>
          <p:spPr>
            <a:xfrm flipH="false" flipV="false" rot="0">
              <a:off x="576072" y="23190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8" id="18"/>
            <p:cNvSpPr/>
            <p:nvPr/>
          </p:nvSpPr>
          <p:spPr>
            <a:xfrm flipH="false" flipV="false" rot="0">
              <a:off x="1581404" y="141732"/>
              <a:ext cx="320294" cy="320294"/>
            </a:xfrm>
            <a:custGeom>
              <a:avLst/>
              <a:gdLst/>
              <a:ahLst/>
              <a:cxnLst/>
              <a:rect r="r" b="b" t="t" l="l"/>
              <a:pathLst>
                <a:path h="320294" w="320294">
                  <a:moveTo>
                    <a:pt x="116586" y="116459"/>
                  </a:moveTo>
                  <a:cubicBezTo>
                    <a:pt x="50800" y="182245"/>
                    <a:pt x="9779" y="257683"/>
                    <a:pt x="0" y="320294"/>
                  </a:cubicBezTo>
                  <a:cubicBezTo>
                    <a:pt x="62611" y="310642"/>
                    <a:pt x="138176" y="269494"/>
                    <a:pt x="203835" y="203835"/>
                  </a:cubicBezTo>
                  <a:cubicBezTo>
                    <a:pt x="269494" y="138176"/>
                    <a:pt x="310642" y="62611"/>
                    <a:pt x="320294" y="0"/>
                  </a:cubicBezTo>
                  <a:cubicBezTo>
                    <a:pt x="257683" y="9652"/>
                    <a:pt x="182118" y="50800"/>
                    <a:pt x="116459" y="116459"/>
                  </a:cubicBezTo>
                </a:path>
              </a:pathLst>
            </a:custGeom>
            <a:solidFill>
              <a:srgbClr val="0031D1"/>
            </a:solidFill>
          </p:spPr>
        </p:sp>
        <p:sp>
          <p:nvSpPr>
            <p:cNvPr name="Freeform 19" id="19"/>
            <p:cNvSpPr/>
            <p:nvPr/>
          </p:nvSpPr>
          <p:spPr>
            <a:xfrm flipH="false" flipV="false" rot="0">
              <a:off x="106031" y="124304"/>
              <a:ext cx="172963" cy="172979"/>
            </a:xfrm>
            <a:custGeom>
              <a:avLst/>
              <a:gdLst/>
              <a:ahLst/>
              <a:cxnLst/>
              <a:rect r="r" b="b" t="t" l="l"/>
              <a:pathLst>
                <a:path h="172979" w="172963">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sp>
          <p:nvSpPr>
            <p:cNvPr name="Freeform 20" id="20"/>
            <p:cNvSpPr/>
            <p:nvPr/>
          </p:nvSpPr>
          <p:spPr>
            <a:xfrm flipH="false" flipV="false" rot="0">
              <a:off x="492404" y="733196"/>
              <a:ext cx="172964" cy="172979"/>
            </a:xfrm>
            <a:custGeom>
              <a:avLst/>
              <a:gdLst/>
              <a:ahLst/>
              <a:cxnLst/>
              <a:rect r="r" b="b" t="t" l="l"/>
              <a:pathLst>
                <a:path h="172979" w="172964">
                  <a:moveTo>
                    <a:pt x="33249" y="139549"/>
                  </a:moveTo>
                  <a:cubicBezTo>
                    <a:pt x="-4343" y="101830"/>
                    <a:pt x="-11074" y="47601"/>
                    <a:pt x="18263" y="18264"/>
                  </a:cubicBezTo>
                  <a:cubicBezTo>
                    <a:pt x="47600" y="-11074"/>
                    <a:pt x="101956" y="-4343"/>
                    <a:pt x="139675" y="33250"/>
                  </a:cubicBezTo>
                  <a:cubicBezTo>
                    <a:pt x="177394" y="70842"/>
                    <a:pt x="183998" y="125198"/>
                    <a:pt x="154661" y="154662"/>
                  </a:cubicBezTo>
                  <a:cubicBezTo>
                    <a:pt x="125324" y="184126"/>
                    <a:pt x="70968" y="177268"/>
                    <a:pt x="33249" y="139676"/>
                  </a:cubicBezTo>
                </a:path>
              </a:pathLst>
            </a:custGeom>
            <a:solidFill>
              <a:srgbClr val="0031D1"/>
            </a:solidFill>
          </p:spPr>
        </p:sp>
        <p:sp>
          <p:nvSpPr>
            <p:cNvPr name="Freeform 21" id="21"/>
            <p:cNvSpPr/>
            <p:nvPr/>
          </p:nvSpPr>
          <p:spPr>
            <a:xfrm flipH="false" flipV="false" rot="0">
              <a:off x="1608172" y="1153401"/>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2" id="22"/>
            <p:cNvSpPr/>
            <p:nvPr/>
          </p:nvSpPr>
          <p:spPr>
            <a:xfrm flipH="false" flipV="false" rot="0">
              <a:off x="608047" y="63486"/>
              <a:ext cx="173032" cy="173003"/>
            </a:xfrm>
            <a:custGeom>
              <a:avLst/>
              <a:gdLst/>
              <a:ahLst/>
              <a:cxnLst/>
              <a:rect r="r" b="b" t="t" l="l"/>
              <a:pathLst>
                <a:path h="173003"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3" id="23"/>
            <p:cNvSpPr/>
            <p:nvPr/>
          </p:nvSpPr>
          <p:spPr>
            <a:xfrm flipH="false" flipV="false" rot="0">
              <a:off x="159864" y="1105522"/>
              <a:ext cx="173032" cy="173002"/>
            </a:xfrm>
            <a:custGeom>
              <a:avLst/>
              <a:gdLst/>
              <a:ahLst/>
              <a:cxnLst/>
              <a:rect r="r" b="b" t="t" l="l"/>
              <a:pathLst>
                <a:path h="173002" w="173032">
                  <a:moveTo>
                    <a:pt x="139729" y="139714"/>
                  </a:moveTo>
                  <a:cubicBezTo>
                    <a:pt x="102137" y="177433"/>
                    <a:pt x="47781" y="184037"/>
                    <a:pt x="18317" y="154700"/>
                  </a:cubicBezTo>
                  <a:cubicBezTo>
                    <a:pt x="-11147" y="125363"/>
                    <a:pt x="-4289" y="71007"/>
                    <a:pt x="33303" y="33288"/>
                  </a:cubicBezTo>
                  <a:cubicBezTo>
                    <a:pt x="70895" y="-4431"/>
                    <a:pt x="125251" y="-11035"/>
                    <a:pt x="154715" y="18302"/>
                  </a:cubicBezTo>
                  <a:cubicBezTo>
                    <a:pt x="184179" y="47639"/>
                    <a:pt x="177321" y="101995"/>
                    <a:pt x="139729" y="139587"/>
                  </a:cubicBezTo>
                </a:path>
              </a:pathLst>
            </a:custGeom>
            <a:solidFill>
              <a:srgbClr val="0031D1"/>
            </a:solidFill>
          </p:spPr>
        </p:sp>
        <p:sp>
          <p:nvSpPr>
            <p:cNvPr name="Freeform 24" id="24"/>
            <p:cNvSpPr/>
            <p:nvPr/>
          </p:nvSpPr>
          <p:spPr>
            <a:xfrm flipH="false" flipV="false" rot="0">
              <a:off x="1709152" y="606269"/>
              <a:ext cx="172963" cy="172979"/>
            </a:xfrm>
            <a:custGeom>
              <a:avLst/>
              <a:gdLst/>
              <a:ahLst/>
              <a:cxnLst/>
              <a:rect r="r" b="b" t="t" l="l"/>
              <a:pathLst>
                <a:path h="172979" w="172963">
                  <a:moveTo>
                    <a:pt x="139714" y="33430"/>
                  </a:moveTo>
                  <a:cubicBezTo>
                    <a:pt x="177306" y="71149"/>
                    <a:pt x="184037" y="125378"/>
                    <a:pt x="154700" y="154716"/>
                  </a:cubicBezTo>
                  <a:cubicBezTo>
                    <a:pt x="125363" y="184053"/>
                    <a:pt x="71007" y="177322"/>
                    <a:pt x="33288" y="139730"/>
                  </a:cubicBezTo>
                  <a:cubicBezTo>
                    <a:pt x="-4431" y="102137"/>
                    <a:pt x="-11035" y="47781"/>
                    <a:pt x="18302" y="18317"/>
                  </a:cubicBezTo>
                  <a:cubicBezTo>
                    <a:pt x="47639" y="-11147"/>
                    <a:pt x="101995" y="-4289"/>
                    <a:pt x="139714" y="33303"/>
                  </a:cubicBezTo>
                </a:path>
              </a:pathLst>
            </a:custGeom>
            <a:solidFill>
              <a:srgbClr val="0031D1"/>
            </a:solidFill>
          </p:spPr>
        </p:sp>
        <p:sp>
          <p:nvSpPr>
            <p:cNvPr name="Freeform 25" id="25"/>
            <p:cNvSpPr/>
            <p:nvPr/>
          </p:nvSpPr>
          <p:spPr>
            <a:xfrm flipH="false" flipV="false" rot="0">
              <a:off x="1103489" y="316836"/>
              <a:ext cx="172964" cy="172978"/>
            </a:xfrm>
            <a:custGeom>
              <a:avLst/>
              <a:gdLst/>
              <a:ahLst/>
              <a:cxnLst/>
              <a:rect r="r" b="b" t="t" l="l"/>
              <a:pathLst>
                <a:path h="172978" w="172964">
                  <a:moveTo>
                    <a:pt x="139714" y="33430"/>
                  </a:moveTo>
                  <a:cubicBezTo>
                    <a:pt x="177306" y="71149"/>
                    <a:pt x="184037" y="125378"/>
                    <a:pt x="154700" y="154715"/>
                  </a:cubicBezTo>
                  <a:cubicBezTo>
                    <a:pt x="125363" y="184052"/>
                    <a:pt x="71007" y="177321"/>
                    <a:pt x="33288" y="139729"/>
                  </a:cubicBezTo>
                  <a:cubicBezTo>
                    <a:pt x="-4431" y="102137"/>
                    <a:pt x="-11035" y="47781"/>
                    <a:pt x="18302" y="18317"/>
                  </a:cubicBezTo>
                  <a:cubicBezTo>
                    <a:pt x="47639" y="-11147"/>
                    <a:pt x="101995" y="-4289"/>
                    <a:pt x="139714" y="33303"/>
                  </a:cubicBezTo>
                </a:path>
              </a:pathLst>
            </a:custGeom>
            <a:solidFill>
              <a:srgbClr val="0031D1"/>
            </a:solidFill>
          </p:spPr>
        </p:sp>
      </p:grpSp>
      <p:grpSp>
        <p:nvGrpSpPr>
          <p:cNvPr name="Group 26" id="26"/>
          <p:cNvGrpSpPr/>
          <p:nvPr/>
        </p:nvGrpSpPr>
        <p:grpSpPr>
          <a:xfrm rot="0">
            <a:off x="0" y="0"/>
            <a:ext cx="4771074" cy="665372"/>
            <a:chOff x="0" y="0"/>
            <a:chExt cx="9217043" cy="1285405"/>
          </a:xfrm>
        </p:grpSpPr>
        <p:sp>
          <p:nvSpPr>
            <p:cNvPr name="Freeform 27" id="27"/>
            <p:cNvSpPr/>
            <p:nvPr/>
          </p:nvSpPr>
          <p:spPr>
            <a:xfrm flipH="false" flipV="false" rot="0">
              <a:off x="0" y="0"/>
              <a:ext cx="9217082" cy="1285367"/>
            </a:xfrm>
            <a:custGeom>
              <a:avLst/>
              <a:gdLst/>
              <a:ahLst/>
              <a:cxnLst/>
              <a:rect r="r" b="b" t="t" l="l"/>
              <a:pathLst>
                <a:path h="1285367" w="9217082">
                  <a:moveTo>
                    <a:pt x="0" y="0"/>
                  </a:moveTo>
                  <a:lnTo>
                    <a:pt x="9217082" y="0"/>
                  </a:lnTo>
                  <a:lnTo>
                    <a:pt x="9217082" y="1285367"/>
                  </a:lnTo>
                  <a:lnTo>
                    <a:pt x="0" y="1285367"/>
                  </a:lnTo>
                  <a:lnTo>
                    <a:pt x="0" y="0"/>
                  </a:lnTo>
                  <a:close/>
                </a:path>
              </a:pathLst>
            </a:custGeom>
            <a:solidFill>
              <a:srgbClr val="5CB250"/>
            </a:solidFill>
            <a:ln cap="sq">
              <a:noFill/>
              <a:prstDash val="lgDash"/>
              <a:miter/>
            </a:ln>
          </p:spPr>
        </p:sp>
      </p:grpSp>
      <p:sp>
        <p:nvSpPr>
          <p:cNvPr name="Freeform 28" id="28"/>
          <p:cNvSpPr/>
          <p:nvPr/>
        </p:nvSpPr>
        <p:spPr>
          <a:xfrm flipH="false" flipV="false" rot="0">
            <a:off x="4539619" y="0"/>
            <a:ext cx="565566" cy="665372"/>
          </a:xfrm>
          <a:custGeom>
            <a:avLst/>
            <a:gdLst/>
            <a:ahLst/>
            <a:cxnLst/>
            <a:rect r="r" b="b" t="t" l="l"/>
            <a:pathLst>
              <a:path h="665372" w="565566">
                <a:moveTo>
                  <a:pt x="0" y="0"/>
                </a:moveTo>
                <a:lnTo>
                  <a:pt x="565567" y="0"/>
                </a:lnTo>
                <a:lnTo>
                  <a:pt x="565567" y="665372"/>
                </a:lnTo>
                <a:lnTo>
                  <a:pt x="0" y="665372"/>
                </a:lnTo>
                <a:lnTo>
                  <a:pt x="0" y="0"/>
                </a:lnTo>
                <a:close/>
              </a:path>
            </a:pathLst>
          </a:custGeom>
          <a:blipFill>
            <a:blip r:embed="rId2"/>
            <a:stretch>
              <a:fillRect l="0" t="0" r="0" b="0"/>
            </a:stretch>
          </a:blipFill>
        </p:spPr>
      </p:sp>
      <p:sp>
        <p:nvSpPr>
          <p:cNvPr name="TextBox 29" id="29"/>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Practices</a:t>
            </a:r>
          </a:p>
        </p:txBody>
      </p:sp>
      <p:sp>
        <p:nvSpPr>
          <p:cNvPr name="TextBox 30" id="30"/>
          <p:cNvSpPr txBox="true"/>
          <p:nvPr/>
        </p:nvSpPr>
        <p:spPr>
          <a:xfrm rot="0">
            <a:off x="1637205" y="2917300"/>
            <a:ext cx="15013590" cy="3866599"/>
          </a:xfrm>
          <a:prstGeom prst="rect">
            <a:avLst/>
          </a:prstGeom>
        </p:spPr>
        <p:txBody>
          <a:bodyPr anchor="t" rtlCol="false" tIns="0" lIns="0" bIns="0" rIns="0">
            <a:spAutoFit/>
          </a:bodyPr>
          <a:lstStyle/>
          <a:p>
            <a:pPr algn="l" marL="0" indent="0" lvl="0">
              <a:lnSpc>
                <a:spcPts val="3845"/>
              </a:lnSpc>
            </a:pPr>
            <a:r>
              <a:rPr lang="en-US" b="true" sz="2388">
                <a:solidFill>
                  <a:srgbClr val="0031D1"/>
                </a:solidFill>
                <a:latin typeface="Gotham Bold"/>
                <a:ea typeface="Gotham Bold"/>
                <a:cs typeface="Gotham Bold"/>
                <a:sym typeface="Gotham Bold"/>
              </a:rPr>
              <a:t>CONCLUSION</a:t>
            </a:r>
          </a:p>
          <a:p>
            <a:pPr algn="l" marL="0" indent="0" lvl="0">
              <a:lnSpc>
                <a:spcPts val="3845"/>
              </a:lnSpc>
            </a:pPr>
          </a:p>
          <a:p>
            <a:pPr algn="l" marL="0" indent="0" lvl="0">
              <a:lnSpc>
                <a:spcPts val="3845"/>
              </a:lnSpc>
              <a:spcBef>
                <a:spcPct val="0"/>
              </a:spcBef>
            </a:pPr>
            <a:r>
              <a:rPr lang="en-US" sz="2388">
                <a:solidFill>
                  <a:srgbClr val="0031D1"/>
                </a:solidFill>
                <a:latin typeface="Gotham"/>
                <a:ea typeface="Gotham"/>
                <a:cs typeface="Gotham"/>
                <a:sym typeface="Gotham"/>
              </a:rPr>
              <a:t>At Başka Resort Bodrum, sustainability is of utmost importance;</a:t>
            </a:r>
          </a:p>
          <a:p>
            <a:pPr algn="l" marL="0" indent="0" lvl="0">
              <a:lnSpc>
                <a:spcPts val="3845"/>
              </a:lnSpc>
              <a:spcBef>
                <a:spcPct val="0"/>
              </a:spcBef>
            </a:pP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It is a management philosophy that we adopt in collaboration with our employees, guests, and business partners.</a:t>
            </a:r>
          </a:p>
          <a:p>
            <a:pPr algn="l" marL="0" indent="0" lvl="0">
              <a:lnSpc>
                <a:spcPts val="3845"/>
              </a:lnSpc>
              <a:spcBef>
                <a:spcPct val="0"/>
              </a:spcBef>
            </a:pPr>
          </a:p>
          <a:p>
            <a:pPr algn="l" marL="515704" indent="-257852" lvl="1">
              <a:lnSpc>
                <a:spcPts val="3845"/>
              </a:lnSpc>
              <a:spcBef>
                <a:spcPct val="0"/>
              </a:spcBef>
              <a:buFont typeface="Arial"/>
              <a:buChar char="•"/>
            </a:pPr>
            <a:r>
              <a:rPr lang="en-US" sz="2388">
                <a:solidFill>
                  <a:srgbClr val="0031D1"/>
                </a:solidFill>
                <a:latin typeface="Gotham"/>
                <a:ea typeface="Gotham"/>
                <a:cs typeface="Gotham"/>
                <a:sym typeface="Gotham"/>
              </a:rPr>
              <a:t>A different model of tourism is possible. It can be realized collectively.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11089" y="87955"/>
            <a:ext cx="4089188" cy="441837"/>
          </a:xfrm>
          <a:prstGeom prst="rect">
            <a:avLst/>
          </a:prstGeom>
        </p:spPr>
        <p:txBody>
          <a:bodyPr anchor="t" rtlCol="false" tIns="0" lIns="0" bIns="0" rIns="0">
            <a:spAutoFit/>
          </a:bodyPr>
          <a:lstStyle/>
          <a:p>
            <a:pPr algn="ctr" marL="0" indent="0" lvl="0">
              <a:lnSpc>
                <a:spcPts val="3697"/>
              </a:lnSpc>
            </a:pPr>
            <a:r>
              <a:rPr lang="en-US" sz="2640">
                <a:solidFill>
                  <a:srgbClr val="FFFFFF"/>
                </a:solidFill>
                <a:latin typeface="Gotham"/>
                <a:ea typeface="Gotham"/>
                <a:cs typeface="Gotham"/>
                <a:sym typeface="Gotham"/>
              </a:rPr>
              <a:t>Our offerings</a:t>
            </a:r>
          </a:p>
        </p:txBody>
      </p:sp>
      <p:sp>
        <p:nvSpPr>
          <p:cNvPr name="Freeform 3" id="3"/>
          <p:cNvSpPr/>
          <p:nvPr/>
        </p:nvSpPr>
        <p:spPr>
          <a:xfrm flipH="false" flipV="false" rot="0">
            <a:off x="0" y="-411480"/>
            <a:ext cx="18288000" cy="10698480"/>
          </a:xfrm>
          <a:custGeom>
            <a:avLst/>
            <a:gdLst/>
            <a:ahLst/>
            <a:cxnLst/>
            <a:rect r="r" b="b" t="t" l="l"/>
            <a:pathLst>
              <a:path h="10698480" w="18288000">
                <a:moveTo>
                  <a:pt x="0" y="0"/>
                </a:moveTo>
                <a:lnTo>
                  <a:pt x="18288000" y="0"/>
                </a:lnTo>
                <a:lnTo>
                  <a:pt x="18288000" y="10698480"/>
                </a:lnTo>
                <a:lnTo>
                  <a:pt x="0" y="10698480"/>
                </a:lnTo>
                <a:lnTo>
                  <a:pt x="0" y="0"/>
                </a:lnTo>
                <a:close/>
              </a:path>
            </a:pathLst>
          </a:custGeom>
          <a:blipFill>
            <a:blip r:embed="rId2"/>
            <a:stretch>
              <a:fillRect l="0" t="0" r="0" b="0"/>
            </a:stretch>
          </a:blipFill>
        </p:spPr>
      </p:sp>
      <p:sp>
        <p:nvSpPr>
          <p:cNvPr name="TextBox 4" id="4"/>
          <p:cNvSpPr txBox="true"/>
          <p:nvPr/>
        </p:nvSpPr>
        <p:spPr>
          <a:xfrm rot="0">
            <a:off x="676433" y="394407"/>
            <a:ext cx="11624953" cy="1478895"/>
          </a:xfrm>
          <a:prstGeom prst="rect">
            <a:avLst/>
          </a:prstGeom>
        </p:spPr>
        <p:txBody>
          <a:bodyPr anchor="t" rtlCol="false" tIns="0" lIns="0" bIns="0" rIns="0">
            <a:spAutoFit/>
          </a:bodyPr>
          <a:lstStyle/>
          <a:p>
            <a:pPr algn="l" marL="0" indent="0" lvl="0">
              <a:lnSpc>
                <a:spcPts val="4045"/>
              </a:lnSpc>
              <a:spcBef>
                <a:spcPct val="0"/>
              </a:spcBef>
            </a:pPr>
            <a:r>
              <a:rPr lang="en-US" b="true" sz="2512">
                <a:solidFill>
                  <a:srgbClr val="0031D1"/>
                </a:solidFill>
                <a:latin typeface="Gotham Bold"/>
                <a:ea typeface="Gotham Bold"/>
                <a:cs typeface="Gotham Bold"/>
                <a:sym typeface="Gotham Bold"/>
              </a:rPr>
              <a:t>Prepared by: </a:t>
            </a:r>
            <a:r>
              <a:rPr lang="en-US" sz="2512">
                <a:solidFill>
                  <a:srgbClr val="0031D1"/>
                </a:solidFill>
                <a:latin typeface="Gotham"/>
                <a:ea typeface="Gotham"/>
                <a:cs typeface="Gotham"/>
                <a:sym typeface="Gotham"/>
              </a:rPr>
              <a:t>Özen Kaya, Quality and Sustainability Manager</a:t>
            </a:r>
          </a:p>
          <a:p>
            <a:pPr algn="l" marL="0" indent="0" lvl="0">
              <a:lnSpc>
                <a:spcPts val="4045"/>
              </a:lnSpc>
              <a:spcBef>
                <a:spcPct val="0"/>
              </a:spcBef>
            </a:pPr>
          </a:p>
          <a:p>
            <a:pPr algn="l">
              <a:lnSpc>
                <a:spcPts val="4045"/>
              </a:lnSpc>
              <a:spcBef>
                <a:spcPct val="0"/>
              </a:spcBef>
            </a:pPr>
            <a:r>
              <a:rPr lang="en-US" b="true" sz="2512">
                <a:solidFill>
                  <a:srgbClr val="0031D1"/>
                </a:solidFill>
                <a:latin typeface="Gotham Bold"/>
                <a:ea typeface="Gotham Bold"/>
                <a:cs typeface="Gotham Bold"/>
                <a:sym typeface="Gotham Bold"/>
              </a:rPr>
              <a:t>Contributor:</a:t>
            </a:r>
            <a:r>
              <a:rPr lang="en-US" sz="2512">
                <a:solidFill>
                  <a:srgbClr val="0031D1"/>
                </a:solidFill>
                <a:latin typeface="Gotham"/>
                <a:ea typeface="Gotham"/>
                <a:cs typeface="Gotham"/>
                <a:sym typeface="Gotham"/>
              </a:rPr>
              <a:t> Başka Resort Bodrum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DAHHZksgKuU</dc:identifier>
  <dcterms:modified xsi:type="dcterms:W3CDTF">2011-08-01T06:04:30Z</dcterms:modified>
  <cp:revision>1</cp:revision>
  <dc:title>Sürdürebilirlik Raporu İngilizce </dc:title>
</cp:coreProperties>
</file>